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10" d="100"/>
          <a:sy n="110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8DB0DBB-DB93-459B-9661-B686E029E9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1DF644-3B26-45D1-9BA2-C96C4B159C4F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64B8238-3F6D-444E-B0BC-72693224EAE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EE1F7F0-4321-4E67-BFD4-4A7C9DFE98EA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80FF644-AE25-464C-973A-07C20483499F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01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D5B2422-FE67-4263-8EC0-DDFCB1A2908B}"/>
              </a:ext>
            </a:extLst>
          </p:cNvPr>
          <p:cNvSpPr>
            <a:spLocks noGrp="1"/>
          </p:cNvSpPr>
          <p:nvPr/>
        </p:nvSpPr>
        <p:spPr>
          <a:xfrm>
            <a:off x="609600" y="819150"/>
            <a:ext cx="10287000" cy="914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A-RAG: Scaling Agentic Retrieval-Augmented Generation via Hierarchical Retrieval Interfaces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84096AB-2A2D-41B9-B454-D4754ACBE4C8}"/>
              </a:ext>
            </a:extLst>
          </p:cNvPr>
          <p:cNvSpPr>
            <a:spLocks noGrp="1"/>
          </p:cNvSpPr>
          <p:nvPr/>
        </p:nvSpPr>
        <p:spPr>
          <a:xfrm>
            <a:off x="647700" y="1828800"/>
            <a:ext cx="7810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Mingxuan Du et al. · arXiv:2602.03442v1 · February 2026</a:t>
            </a:r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C59E26FB-BB2E-4D85-B530-171510DB7898}"/>
              </a:ext>
            </a:extLst>
          </p:cNvPr>
          <p:cNvSpPr>
            <a:spLocks noGrp="1"/>
          </p:cNvSpPr>
          <p:nvPr/>
        </p:nvSpPr>
        <p:spPr>
          <a:xfrm>
            <a:off x="628650" y="2457450"/>
            <a:ext cx="4857750" cy="2190750"/>
          </a:xfrm>
          <a:prstGeom prst="roundRect">
            <a:avLst>
              <a:gd name="adj" fmla="val 3478"/>
            </a:avLst>
          </a:prstGeom>
          <a:solidFill>
            <a:srgbClr val="F4F7FB"/>
          </a:solidFill>
          <a:ln w="9525">
            <a:solidFill>
              <a:srgbClr val="2F9FB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463D671-0294-4AF7-8F1C-602B18909A75}"/>
              </a:ext>
            </a:extLst>
          </p:cNvPr>
          <p:cNvSpPr>
            <a:spLocks noGrp="1"/>
          </p:cNvSpPr>
          <p:nvPr/>
        </p:nvSpPr>
        <p:spPr>
          <a:xfrm>
            <a:off x="876300" y="2724150"/>
            <a:ext cx="43815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rPr>
              <a:t>報告主題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75DB1CC-B213-43CF-B62E-0B9218D2D5C1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4095750" cy="1238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Agentic RAG / LLM</a:t>
            </a:r>
          </a:p>
          <a:p>
            <a:pPr algn="l">
              <a:buNone/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Hierarchical Retrieval Interfaces</a:t>
            </a:r>
          </a:p>
          <a:p>
            <a:pPr algn="l">
              <a:buNone/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Multi-hop Open-domain QA</a:t>
            </a:r>
          </a:p>
          <a:p>
            <a:pPr algn="l">
              <a:buNone/>
              <a:defRPr sz="172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Test-time Scaling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A233B9B3-6537-496E-870E-1F9CA142D1D9}"/>
              </a:ext>
            </a:extLst>
          </p:cNvPr>
          <p:cNvSpPr>
            <a:spLocks noGrp="1"/>
          </p:cNvSpPr>
          <p:nvPr/>
        </p:nvSpPr>
        <p:spPr>
          <a:xfrm>
            <a:off x="6076950" y="2457450"/>
            <a:ext cx="4591050" cy="2190750"/>
          </a:xfrm>
          <a:prstGeom prst="roundRect">
            <a:avLst>
              <a:gd name="adj" fmla="val 3478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DC69114-3EE7-4F1D-8CFF-CDF0162424FB}"/>
              </a:ext>
            </a:extLst>
          </p:cNvPr>
          <p:cNvSpPr>
            <a:spLocks noGrp="1"/>
          </p:cNvSpPr>
          <p:nvPr/>
        </p:nvSpPr>
        <p:spPr>
          <a:xfrm>
            <a:off x="6324600" y="2781300"/>
            <a:ext cx="4095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一句話摘要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15E932C-E681-42E6-BDB9-B1E65947D698}"/>
              </a:ext>
            </a:extLst>
          </p:cNvPr>
          <p:cNvSpPr>
            <a:spLocks noGrp="1"/>
          </p:cNvSpPr>
          <p:nvPr/>
        </p:nvSpPr>
        <p:spPr>
          <a:xfrm>
            <a:off x="6324600" y="3219450"/>
            <a:ext cx="3790950" cy="933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 將 keyword search、semantic search、chunk read 交給 LLM agent，讓模型自己決定如何檢索、何時讀完整證據，以及何時回答。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615FD3B-006B-43F3-BFE9-C5FD9A55FEE0}"/>
              </a:ext>
            </a:extLst>
          </p:cNvPr>
          <p:cNvSpPr>
            <a:spLocks noGrp="1"/>
          </p:cNvSpPr>
          <p:nvPr/>
        </p:nvSpPr>
        <p:spPr>
          <a:xfrm>
            <a:off x="647700" y="5829300"/>
            <a:ext cx="34290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報告人：吳翊銘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F4D9BFF-EA00-4524-8F11-F30CECB0CCED}"/>
              </a:ext>
            </a:extLst>
          </p:cNvPr>
          <p:cNvSpPr>
            <a:spLocks noGrp="1"/>
          </p:cNvSpPr>
          <p:nvPr/>
        </p:nvSpPr>
        <p:spPr>
          <a:xfrm>
            <a:off x="7239000" y="5848350"/>
            <a:ext cx="3429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050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研究所專題討論 · LLM 論文導讀</a:t>
            </a:r>
          </a:p>
        </p:txBody>
      </p:sp>
    </p:spTree>
    <p:extLst>
      <p:ext uri="{BB962C8B-B14F-4D97-AF65-F5344CB8AC3E}">
        <p14:creationId xmlns:p14="http://schemas.microsoft.com/office/powerpoint/2010/main" val="117009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89968AB5-CDF9-4ADD-B0E7-E12388FF4FF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9F8E36-A48A-475A-AFC0-58EFDBF90853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BF11CAA-D5B2-4A7E-81E5-AC2F16A819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D6E18A-EA71-4C51-B0E9-6A754EE5671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4851E1-0482-4473-B845-1746011090D2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02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30B60FF-153F-4BA4-9757-91E213D40EF1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研究背景：RAG 的角色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7E743C-1152-4631-B9D4-697BAA50B0A9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EE097FA-0A2B-496C-A9C0-2690FB2D99CC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RAG 讓 LLM 在回答時能使用外部知識，但檢索策略會決定答案品質。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D232A68-0557-4384-BE8F-6F1DE8C36C44}"/>
              </a:ext>
            </a:extLst>
          </p:cNvPr>
          <p:cNvSpPr>
            <a:spLocks noGrp="1"/>
          </p:cNvSpPr>
          <p:nvPr/>
        </p:nvSpPr>
        <p:spPr>
          <a:xfrm>
            <a:off x="800100" y="2228850"/>
            <a:ext cx="1524000" cy="933450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3335">
            <a:solidFill>
              <a:srgbClr val="3F79D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77F6DB1-B598-4350-A5B9-16FB3BD7B867}"/>
              </a:ext>
            </a:extLst>
          </p:cNvPr>
          <p:cNvSpPr>
            <a:spLocks noGrp="1"/>
          </p:cNvSpPr>
          <p:nvPr/>
        </p:nvSpPr>
        <p:spPr>
          <a:xfrm>
            <a:off x="933450" y="2343150"/>
            <a:ext cx="1257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rPr>
              <a:t>User Query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3A86190-1B31-40E4-AAB9-6F6E18354E4C}"/>
              </a:ext>
            </a:extLst>
          </p:cNvPr>
          <p:cNvSpPr>
            <a:spLocks noGrp="1"/>
          </p:cNvSpPr>
          <p:nvPr/>
        </p:nvSpPr>
        <p:spPr>
          <a:xfrm>
            <a:off x="933450" y="2609850"/>
            <a:ext cx="12573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問題可能需要多跳推理、專有名詞或最新資訊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795E04B0-1110-4910-AE27-6437DD06D898}"/>
              </a:ext>
            </a:extLst>
          </p:cNvPr>
          <p:cNvSpPr>
            <a:spLocks noGrp="1"/>
          </p:cNvSpPr>
          <p:nvPr/>
        </p:nvSpPr>
        <p:spPr>
          <a:xfrm>
            <a:off x="2971800" y="2228850"/>
            <a:ext cx="1619250" cy="933450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3335">
            <a:solidFill>
              <a:srgbClr val="2F9FB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F513A70-2FC3-41C0-ABF4-2AEFBCEEB035}"/>
              </a:ext>
            </a:extLst>
          </p:cNvPr>
          <p:cNvSpPr>
            <a:spLocks noGrp="1"/>
          </p:cNvSpPr>
          <p:nvPr/>
        </p:nvSpPr>
        <p:spPr>
          <a:xfrm>
            <a:off x="3105150" y="2343150"/>
            <a:ext cx="1352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rPr>
              <a:t>Retriever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CE9170C-5EE7-40CF-9C27-DB2671620039}"/>
              </a:ext>
            </a:extLst>
          </p:cNvPr>
          <p:cNvSpPr>
            <a:spLocks noGrp="1"/>
          </p:cNvSpPr>
          <p:nvPr/>
        </p:nvSpPr>
        <p:spPr>
          <a:xfrm>
            <a:off x="3105150" y="2609850"/>
            <a:ext cx="13525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從 corpus 找相關 passage / chunk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3AECFD1-8825-4840-8488-E746FD102498}"/>
              </a:ext>
            </a:extLst>
          </p:cNvPr>
          <p:cNvSpPr>
            <a:spLocks noGrp="1"/>
          </p:cNvSpPr>
          <p:nvPr/>
        </p:nvSpPr>
        <p:spPr>
          <a:xfrm>
            <a:off x="5238750" y="2228850"/>
            <a:ext cx="1809750" cy="933450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3335">
            <a:solidFill>
              <a:srgbClr val="D3A12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F976EE-80A4-4FE5-9D1B-8C597446446A}"/>
              </a:ext>
            </a:extLst>
          </p:cNvPr>
          <p:cNvSpPr>
            <a:spLocks noGrp="1"/>
          </p:cNvSpPr>
          <p:nvPr/>
        </p:nvSpPr>
        <p:spPr>
          <a:xfrm>
            <a:off x="5372100" y="23431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Context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7901059-5BDD-42D7-92C1-D942E83E4834}"/>
              </a:ext>
            </a:extLst>
          </p:cNvPr>
          <p:cNvSpPr>
            <a:spLocks noGrp="1"/>
          </p:cNvSpPr>
          <p:nvPr/>
        </p:nvSpPr>
        <p:spPr>
          <a:xfrm>
            <a:off x="5372100" y="2609850"/>
            <a:ext cx="15430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將檢索內容放進 LLM input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5019C47E-DD5B-4603-A95B-883A820EC2BE}"/>
              </a:ext>
            </a:extLst>
          </p:cNvPr>
          <p:cNvSpPr>
            <a:spLocks noGrp="1"/>
          </p:cNvSpPr>
          <p:nvPr/>
        </p:nvSpPr>
        <p:spPr>
          <a:xfrm>
            <a:off x="7715250" y="2228850"/>
            <a:ext cx="1752600" cy="933450"/>
          </a:xfrm>
          <a:prstGeom prst="roundRect">
            <a:avLst>
              <a:gd name="adj" fmla="val 8163"/>
            </a:avLst>
          </a:prstGeom>
          <a:solidFill>
            <a:srgbClr val="F4F7FB"/>
          </a:solidFill>
          <a:ln w="13335">
            <a:solidFill>
              <a:srgbClr val="2F9D64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EDAC4B0-538F-4B75-8327-8A7FC82F156B}"/>
              </a:ext>
            </a:extLst>
          </p:cNvPr>
          <p:cNvSpPr>
            <a:spLocks noGrp="1"/>
          </p:cNvSpPr>
          <p:nvPr/>
        </p:nvSpPr>
        <p:spPr>
          <a:xfrm>
            <a:off x="7848600" y="2343150"/>
            <a:ext cx="14859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rPr>
              <a:t>LLM Answer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36C045FD-0521-48BA-8B87-6895B7455FF1}"/>
              </a:ext>
            </a:extLst>
          </p:cNvPr>
          <p:cNvSpPr>
            <a:spLocks noGrp="1"/>
          </p:cNvSpPr>
          <p:nvPr/>
        </p:nvSpPr>
        <p:spPr>
          <a:xfrm>
            <a:off x="7848600" y="2609850"/>
            <a:ext cx="1485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根據 context 生成答案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CDEB3FA-2A3C-493B-8DAE-F41FEC2418AA}"/>
              </a:ext>
            </a:extLst>
          </p:cNvPr>
          <p:cNvSpPr>
            <a:spLocks noGrp="1"/>
          </p:cNvSpPr>
          <p:nvPr/>
        </p:nvSpPr>
        <p:spPr>
          <a:xfrm>
            <a:off x="2362200" y="2676525"/>
            <a:ext cx="55245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D05F6259-603B-41E0-A163-4DB8E4C1AE5B}"/>
              </a:ext>
            </a:extLst>
          </p:cNvPr>
          <p:cNvSpPr>
            <a:spLocks noGrp="1"/>
          </p:cNvSpPr>
          <p:nvPr/>
        </p:nvSpPr>
        <p:spPr>
          <a:xfrm>
            <a:off x="2838450" y="2619375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5A9D8C-6EC3-4BEA-96CF-384199165F56}"/>
              </a:ext>
            </a:extLst>
          </p:cNvPr>
          <p:cNvSpPr>
            <a:spLocks noGrp="1"/>
          </p:cNvSpPr>
          <p:nvPr/>
        </p:nvSpPr>
        <p:spPr>
          <a:xfrm>
            <a:off x="4629150" y="2676525"/>
            <a:ext cx="55245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45B9AB9D-BAE4-4C0E-84E8-968CB805DB27}"/>
              </a:ext>
            </a:extLst>
          </p:cNvPr>
          <p:cNvSpPr>
            <a:spLocks noGrp="1"/>
          </p:cNvSpPr>
          <p:nvPr/>
        </p:nvSpPr>
        <p:spPr>
          <a:xfrm>
            <a:off x="5105400" y="2619375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2FB6B931-CA5D-40FF-BBA4-A4BFE1DA4FA8}"/>
              </a:ext>
            </a:extLst>
          </p:cNvPr>
          <p:cNvSpPr>
            <a:spLocks noGrp="1"/>
          </p:cNvSpPr>
          <p:nvPr/>
        </p:nvSpPr>
        <p:spPr>
          <a:xfrm>
            <a:off x="7086600" y="2676525"/>
            <a:ext cx="5715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01B41D8B-575C-4F52-B945-72C796CBFFE4}"/>
              </a:ext>
            </a:extLst>
          </p:cNvPr>
          <p:cNvSpPr>
            <a:spLocks noGrp="1"/>
          </p:cNvSpPr>
          <p:nvPr/>
        </p:nvSpPr>
        <p:spPr>
          <a:xfrm>
            <a:off x="7581900" y="2619375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D7736868-87C4-42DD-9634-5E6D12099826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4762500" cy="161925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9483215-4C9B-450F-A24A-603107FF62B0}"/>
              </a:ext>
            </a:extLst>
          </p:cNvPr>
          <p:cNvSpPr>
            <a:spLocks noGrp="1"/>
          </p:cNvSpPr>
          <p:nvPr/>
        </p:nvSpPr>
        <p:spPr>
          <a:xfrm>
            <a:off x="971550" y="4267200"/>
            <a:ext cx="4095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RAG 解決的問題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4A319AA7-6EAD-4578-8CAC-E0C698DE05CC}"/>
              </a:ext>
            </a:extLst>
          </p:cNvPr>
          <p:cNvSpPr>
            <a:spLocks noGrp="1"/>
          </p:cNvSpPr>
          <p:nvPr/>
        </p:nvSpPr>
        <p:spPr>
          <a:xfrm>
            <a:off x="1009650" y="4676775"/>
            <a:ext cx="85725" cy="85725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6F87432F-83E2-4B25-8EA0-C5CBD35B6CEF}"/>
              </a:ext>
            </a:extLst>
          </p:cNvPr>
          <p:cNvSpPr>
            <a:spLocks noGrp="1"/>
          </p:cNvSpPr>
          <p:nvPr/>
        </p:nvSpPr>
        <p:spPr>
          <a:xfrm>
            <a:off x="1181100" y="462915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降低 hallucination，讓回答有可追溯依據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527F49C-81A4-4D3F-BD3F-410A5A4671D3}"/>
              </a:ext>
            </a:extLst>
          </p:cNvPr>
          <p:cNvSpPr>
            <a:spLocks noGrp="1"/>
          </p:cNvSpPr>
          <p:nvPr/>
        </p:nvSpPr>
        <p:spPr>
          <a:xfrm>
            <a:off x="1009650" y="4981575"/>
            <a:ext cx="85725" cy="85725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07A4DFA7-2502-4CBD-A382-030E08C89CD0}"/>
              </a:ext>
            </a:extLst>
          </p:cNvPr>
          <p:cNvSpPr>
            <a:spLocks noGrp="1"/>
          </p:cNvSpPr>
          <p:nvPr/>
        </p:nvSpPr>
        <p:spPr>
          <a:xfrm>
            <a:off x="1181100" y="493395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補足模型訓練後才出現或未記住的知識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5A9FF4A-9B24-4EEE-8815-26B7390ABA09}"/>
              </a:ext>
            </a:extLst>
          </p:cNvPr>
          <p:cNvSpPr>
            <a:spLocks noGrp="1"/>
          </p:cNvSpPr>
          <p:nvPr/>
        </p:nvSpPr>
        <p:spPr>
          <a:xfrm>
            <a:off x="1009650" y="5286375"/>
            <a:ext cx="85725" cy="85725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398B5C4-930E-4276-B6CD-6BE6CC55E342}"/>
              </a:ext>
            </a:extLst>
          </p:cNvPr>
          <p:cNvSpPr>
            <a:spLocks noGrp="1"/>
          </p:cNvSpPr>
          <p:nvPr/>
        </p:nvSpPr>
        <p:spPr>
          <a:xfrm>
            <a:off x="1181100" y="523875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適合知識密集型任務，如 QA、研究、客服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7266D3F8-9A07-429E-A933-42E414EA31FF}"/>
              </a:ext>
            </a:extLst>
          </p:cNvPr>
          <p:cNvSpPr>
            <a:spLocks noGrp="1"/>
          </p:cNvSpPr>
          <p:nvPr/>
        </p:nvSpPr>
        <p:spPr>
          <a:xfrm>
            <a:off x="5924550" y="4038600"/>
            <a:ext cx="4762500" cy="1619250"/>
          </a:xfrm>
          <a:prstGeom prst="roundRect">
            <a:avLst>
              <a:gd name="adj" fmla="val 4706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976905F3-AF17-4A1A-9D16-1C8F3D4C7C79}"/>
              </a:ext>
            </a:extLst>
          </p:cNvPr>
          <p:cNvSpPr>
            <a:spLocks noGrp="1"/>
          </p:cNvSpPr>
          <p:nvPr/>
        </p:nvSpPr>
        <p:spPr>
          <a:xfrm>
            <a:off x="6172200" y="4267200"/>
            <a:ext cx="4095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但 RAG 的瓶頸在 retrieval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AF452C3-0949-49BA-A510-0D13C550BCA7}"/>
              </a:ext>
            </a:extLst>
          </p:cNvPr>
          <p:cNvSpPr>
            <a:spLocks noGrp="1"/>
          </p:cNvSpPr>
          <p:nvPr/>
        </p:nvSpPr>
        <p:spPr>
          <a:xfrm>
            <a:off x="6210300" y="467677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4BB3334F-E6FD-476E-A2E5-A7326DCB0EDA}"/>
              </a:ext>
            </a:extLst>
          </p:cNvPr>
          <p:cNvSpPr>
            <a:spLocks noGrp="1"/>
          </p:cNvSpPr>
          <p:nvPr/>
        </p:nvSpPr>
        <p:spPr>
          <a:xfrm>
            <a:off x="6381750" y="462915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檢索錯誤會直接污染 LLM context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BB7CE52C-496C-4409-B1C2-B2D83F66C1B7}"/>
              </a:ext>
            </a:extLst>
          </p:cNvPr>
          <p:cNvSpPr>
            <a:spLocks noGrp="1"/>
          </p:cNvSpPr>
          <p:nvPr/>
        </p:nvSpPr>
        <p:spPr>
          <a:xfrm>
            <a:off x="6210300" y="498157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E3586B8-44CC-415E-ADB8-47220439EBB7}"/>
              </a:ext>
            </a:extLst>
          </p:cNvPr>
          <p:cNvSpPr>
            <a:spLocks noGrp="1"/>
          </p:cNvSpPr>
          <p:nvPr/>
        </p:nvSpPr>
        <p:spPr>
          <a:xfrm>
            <a:off x="6381750" y="493395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檢索太多會浪費 token 並引入 noise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E352B98F-1444-4978-8867-2081110E42A8}"/>
              </a:ext>
            </a:extLst>
          </p:cNvPr>
          <p:cNvSpPr>
            <a:spLocks noGrp="1"/>
          </p:cNvSpPr>
          <p:nvPr/>
        </p:nvSpPr>
        <p:spPr>
          <a:xfrm>
            <a:off x="6210300" y="528637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15D319F3-4A83-4F0F-96A3-02103C906922}"/>
              </a:ext>
            </a:extLst>
          </p:cNvPr>
          <p:cNvSpPr>
            <a:spLocks noGrp="1"/>
          </p:cNvSpPr>
          <p:nvPr/>
        </p:nvSpPr>
        <p:spPr>
          <a:xfrm>
            <a:off x="6381750" y="5238750"/>
            <a:ext cx="3829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複雜問題常需要多次搜尋與逐步讀證據</a:t>
            </a:r>
          </a:p>
        </p:txBody>
      </p:sp>
    </p:spTree>
    <p:extLst>
      <p:ext uri="{BB962C8B-B14F-4D97-AF65-F5344CB8AC3E}">
        <p14:creationId xmlns:p14="http://schemas.microsoft.com/office/powerpoint/2010/main" val="1287975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8C4F0FEF-4882-47BE-B1B1-FC4BE79B944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CDC8AC7-527F-4ED2-99B0-8628598C3420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934356-3560-4227-ADD9-D0ACB61D59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EEFC70-5A99-429C-BF73-6E30C825750D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74AA67-330A-492C-BBF6-0A955C57F003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03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993495F-7346-430A-9B0F-3D1503E86545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傳統 RAG 與現有 Paradigms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5B84C2D-8AF5-4FDB-803F-8948F9CEF787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B39B5CB-A375-4ED7-B3D9-AA1E35085DFE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這一頁直接使用論文 Figure 2，強調三種 paradigm 與真正 agentic autonomy 的差異。</a:t>
            </a: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419100" y="1936743"/>
            <a:ext cx="7239000" cy="4165614"/>
          </a:xfrm>
          <a:prstGeom prst="rect">
            <a:avLst/>
          </a:prstGeom>
        </p:spPr>
      </p:pic>
      <p:sp>
        <p:nvSpPr>
          <p:cNvPr id="10" name="矩形: 圓角 9">
            <a:extLst>
              <a:ext uri="{FF2B5EF4-FFF2-40B4-BE49-F238E27FC236}">
                <a16:creationId xmlns:a16="http://schemas.microsoft.com/office/drawing/2014/main" id="{6C3CDAC5-DBEA-4755-9A37-D95D5F5F5003}"/>
              </a:ext>
            </a:extLst>
          </p:cNvPr>
          <p:cNvSpPr>
            <a:spLocks noGrp="1"/>
          </p:cNvSpPr>
          <p:nvPr/>
        </p:nvSpPr>
        <p:spPr>
          <a:xfrm>
            <a:off x="8039100" y="2000250"/>
            <a:ext cx="3143250" cy="2781300"/>
          </a:xfrm>
          <a:prstGeom prst="roundRect">
            <a:avLst>
              <a:gd name="adj" fmla="val 2740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7BAA5B3-3FA6-4D66-8754-D042D493986E}"/>
              </a:ext>
            </a:extLst>
          </p:cNvPr>
          <p:cNvSpPr>
            <a:spLocks noGrp="1"/>
          </p:cNvSpPr>
          <p:nvPr/>
        </p:nvSpPr>
        <p:spPr>
          <a:xfrm>
            <a:off x="8286750" y="224790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rPr>
              <a:t>Figure 2 重點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6436674-9AC5-4701-8C3D-17946CBC4BDE}"/>
              </a:ext>
            </a:extLst>
          </p:cNvPr>
          <p:cNvSpPr>
            <a:spLocks noGrp="1"/>
          </p:cNvSpPr>
          <p:nvPr/>
        </p:nvSpPr>
        <p:spPr>
          <a:xfrm>
            <a:off x="8305800" y="2771775"/>
            <a:ext cx="85725" cy="85725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E07EF26-F2A3-442A-AAAA-FAE1653D4102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236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Graph RAG 與 Workflow RAG 都有多步驟，但策略仍由系統預先決定。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697126B-6484-44A1-82A3-02C4583C9B1C}"/>
              </a:ext>
            </a:extLst>
          </p:cNvPr>
          <p:cNvSpPr>
            <a:spLocks noGrp="1"/>
          </p:cNvSpPr>
          <p:nvPr/>
        </p:nvSpPr>
        <p:spPr>
          <a:xfrm>
            <a:off x="8305800" y="3286125"/>
            <a:ext cx="85725" cy="85725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352CF81-5FE3-4AEF-9E28-7CE29F89A485}"/>
              </a:ext>
            </a:extLst>
          </p:cNvPr>
          <p:cNvSpPr>
            <a:spLocks noGrp="1"/>
          </p:cNvSpPr>
          <p:nvPr/>
        </p:nvSpPr>
        <p:spPr>
          <a:xfrm>
            <a:off x="8477250" y="3238500"/>
            <a:ext cx="236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 把 retrieval interfaces 直接交給模型，讓 agent 自主選擇搜尋與閱讀方式。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72D9781-F999-455D-A85A-CB0FEFCB8AEA}"/>
              </a:ext>
            </a:extLst>
          </p:cNvPr>
          <p:cNvSpPr>
            <a:spLocks noGrp="1"/>
          </p:cNvSpPr>
          <p:nvPr/>
        </p:nvSpPr>
        <p:spPr>
          <a:xfrm>
            <a:off x="8305800" y="3800475"/>
            <a:ext cx="85725" cy="85725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92522AD-3456-4328-A398-03A1CE11BF19}"/>
              </a:ext>
            </a:extLst>
          </p:cNvPr>
          <p:cNvSpPr>
            <a:spLocks noGrp="1"/>
          </p:cNvSpPr>
          <p:nvPr/>
        </p:nvSpPr>
        <p:spPr>
          <a:xfrm>
            <a:off x="8477250" y="3752850"/>
            <a:ext cx="23622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論文用三個判準定義真正的 agentic autonomy：Autonomous Strategy、Interleaved Tool Use、Iterative Execution。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5C4E29DE-AB23-4865-9341-DC6E56272E48}"/>
              </a:ext>
            </a:extLst>
          </p:cNvPr>
          <p:cNvSpPr>
            <a:spLocks noGrp="1"/>
          </p:cNvSpPr>
          <p:nvPr/>
        </p:nvSpPr>
        <p:spPr>
          <a:xfrm>
            <a:off x="8039100" y="5086350"/>
            <a:ext cx="3143250" cy="800100"/>
          </a:xfrm>
          <a:prstGeom prst="roundRect">
            <a:avLst>
              <a:gd name="adj" fmla="val 9524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A201D58-69C8-4B23-A682-FAB13BC30AE8}"/>
              </a:ext>
            </a:extLst>
          </p:cNvPr>
          <p:cNvSpPr>
            <a:spLocks noGrp="1"/>
          </p:cNvSpPr>
          <p:nvPr/>
        </p:nvSpPr>
        <p:spPr>
          <a:xfrm>
            <a:off x="8248650" y="5276850"/>
            <a:ext cx="2724150" cy="419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Source: Du et al., A-RAG, arXiv:2602.03442v1, Figure 2.</a:t>
            </a:r>
          </a:p>
        </p:txBody>
      </p:sp>
    </p:spTree>
    <p:extLst>
      <p:ext uri="{BB962C8B-B14F-4D97-AF65-F5344CB8AC3E}">
        <p14:creationId xmlns:p14="http://schemas.microsoft.com/office/powerpoint/2010/main" val="20437280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>
            <a:extLst>
              <a:ext uri="{FF2B5EF4-FFF2-40B4-BE49-F238E27FC236}">
                <a16:creationId xmlns:a16="http://schemas.microsoft.com/office/drawing/2014/main" id="{19D8FB04-D85B-4A16-BF2F-78C2AC6A00F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AD8465-0845-42EE-9829-13DABCD2B43B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14A90A-8E29-48E9-A207-354631EB44B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05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F090CBC-0AE1-495D-B08D-40B13A62B8C7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C3B2A3-687C-4971-91D2-5402F8DEC4F1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04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FB4C2E5-8449-40F2-A2B7-7B66143E445E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現有方法的核心限制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E2BC131-B01A-4779-8B24-55B346D47C10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05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372B3EC-3865-4525-B65D-ED273AC3E55C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問題不是只有檢索器不夠強，而是 LLM 沒有被允許參與檢索決策。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7559525-CB12-4675-AB36-F80F8ADDE2B5}"/>
              </a:ext>
            </a:extLst>
          </p:cNvPr>
          <p:cNvSpPr>
            <a:spLocks noGrp="1"/>
          </p:cNvSpPr>
          <p:nvPr/>
        </p:nvSpPr>
        <p:spPr>
          <a:xfrm>
            <a:off x="552450" y="2038350"/>
            <a:ext cx="1619250" cy="525780"/>
          </a:xfrm>
          <a:prstGeom prst="roundRect">
            <a:avLst>
              <a:gd name="adj" fmla="val 14493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901BA7-A050-4C48-A5C3-FA405E7CD01B}"/>
              </a:ext>
            </a:extLst>
          </p:cNvPr>
          <p:cNvSpPr>
            <a:spLocks noGrp="1"/>
          </p:cNvSpPr>
          <p:nvPr/>
        </p:nvSpPr>
        <p:spPr>
          <a:xfrm>
            <a:off x="628650" y="2114550"/>
            <a:ext cx="1466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3AC79AC5-8B51-4ECE-8AF3-06679378F69F}"/>
              </a:ext>
            </a:extLst>
          </p:cNvPr>
          <p:cNvSpPr>
            <a:spLocks noGrp="1"/>
          </p:cNvSpPr>
          <p:nvPr/>
        </p:nvSpPr>
        <p:spPr>
          <a:xfrm>
            <a:off x="2171700" y="2038350"/>
            <a:ext cx="2857500" cy="525780"/>
          </a:xfrm>
          <a:prstGeom prst="roundRect">
            <a:avLst>
              <a:gd name="adj" fmla="val 14493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46B1E81-AB9E-47D4-87C3-E1E7709165E0}"/>
              </a:ext>
            </a:extLst>
          </p:cNvPr>
          <p:cNvSpPr>
            <a:spLocks noGrp="1"/>
          </p:cNvSpPr>
          <p:nvPr/>
        </p:nvSpPr>
        <p:spPr>
          <a:xfrm>
            <a:off x="2247900" y="2114550"/>
            <a:ext cx="270510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造成的影響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44D72C6B-243E-4327-8BE5-B1791BE7696C}"/>
              </a:ext>
            </a:extLst>
          </p:cNvPr>
          <p:cNvSpPr>
            <a:spLocks noGrp="1"/>
          </p:cNvSpPr>
          <p:nvPr/>
        </p:nvSpPr>
        <p:spPr>
          <a:xfrm>
            <a:off x="5029200" y="2038350"/>
            <a:ext cx="2381250" cy="525780"/>
          </a:xfrm>
          <a:prstGeom prst="roundRect">
            <a:avLst>
              <a:gd name="adj" fmla="val 14493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A829310-420E-47A9-B61D-79CEFA8A785E}"/>
              </a:ext>
            </a:extLst>
          </p:cNvPr>
          <p:cNvSpPr>
            <a:spLocks noGrp="1"/>
          </p:cNvSpPr>
          <p:nvPr/>
        </p:nvSpPr>
        <p:spPr>
          <a:xfrm>
            <a:off x="5105400" y="2114550"/>
            <a:ext cx="2228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 想解決什麼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F612C5C7-CA8C-4E5C-A978-26D5DE47DF0C}"/>
              </a:ext>
            </a:extLst>
          </p:cNvPr>
          <p:cNvSpPr>
            <a:spLocks noGrp="1"/>
          </p:cNvSpPr>
          <p:nvPr/>
        </p:nvSpPr>
        <p:spPr>
          <a:xfrm>
            <a:off x="552450" y="2564130"/>
            <a:ext cx="1619250" cy="525780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81C89B1-312A-456A-889D-B9608F13631B}"/>
              </a:ext>
            </a:extLst>
          </p:cNvPr>
          <p:cNvSpPr>
            <a:spLocks noGrp="1"/>
          </p:cNvSpPr>
          <p:nvPr/>
        </p:nvSpPr>
        <p:spPr>
          <a:xfrm>
            <a:off x="628650" y="2640330"/>
            <a:ext cx="1466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Single-shot retrieval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87323A51-1690-40BB-A76C-37EC6A915719}"/>
              </a:ext>
            </a:extLst>
          </p:cNvPr>
          <p:cNvSpPr>
            <a:spLocks noGrp="1"/>
          </p:cNvSpPr>
          <p:nvPr/>
        </p:nvSpPr>
        <p:spPr>
          <a:xfrm>
            <a:off x="2171700" y="2564130"/>
            <a:ext cx="2857500" cy="525780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FE818D0-6196-48DB-BF6A-076189AD01E8}"/>
              </a:ext>
            </a:extLst>
          </p:cNvPr>
          <p:cNvSpPr>
            <a:spLocks noGrp="1"/>
          </p:cNvSpPr>
          <p:nvPr/>
        </p:nvSpPr>
        <p:spPr>
          <a:xfrm>
            <a:off x="2247900" y="2640330"/>
            <a:ext cx="270510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一次取回固定 top-k，無法根據中間線索調整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C54EB5F-9247-4D25-BBA2-1E5F2E52FE0F}"/>
              </a:ext>
            </a:extLst>
          </p:cNvPr>
          <p:cNvSpPr>
            <a:spLocks noGrp="1"/>
          </p:cNvSpPr>
          <p:nvPr/>
        </p:nvSpPr>
        <p:spPr>
          <a:xfrm>
            <a:off x="5029200" y="2564130"/>
            <a:ext cx="2381250" cy="525780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9806772-3068-47F5-AEA5-7E41718A3A3C}"/>
              </a:ext>
            </a:extLst>
          </p:cNvPr>
          <p:cNvSpPr>
            <a:spLocks noGrp="1"/>
          </p:cNvSpPr>
          <p:nvPr/>
        </p:nvSpPr>
        <p:spPr>
          <a:xfrm>
            <a:off x="5105400" y="2640330"/>
            <a:ext cx="2228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讓 agent 可多輪搜尋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A5449A4-313C-4A51-BBE6-3509730B168D}"/>
              </a:ext>
            </a:extLst>
          </p:cNvPr>
          <p:cNvSpPr>
            <a:spLocks noGrp="1"/>
          </p:cNvSpPr>
          <p:nvPr/>
        </p:nvSpPr>
        <p:spPr>
          <a:xfrm>
            <a:off x="552450" y="3089910"/>
            <a:ext cx="1619250" cy="52578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CB76D39-96C5-4DE1-A3F4-97598FEC6B3F}"/>
              </a:ext>
            </a:extLst>
          </p:cNvPr>
          <p:cNvSpPr>
            <a:spLocks noGrp="1"/>
          </p:cNvSpPr>
          <p:nvPr/>
        </p:nvSpPr>
        <p:spPr>
          <a:xfrm>
            <a:off x="628650" y="3166110"/>
            <a:ext cx="1466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Predefined workflow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E46FB58D-11A2-443A-88DD-99538E89B64B}"/>
              </a:ext>
            </a:extLst>
          </p:cNvPr>
          <p:cNvSpPr>
            <a:spLocks noGrp="1"/>
          </p:cNvSpPr>
          <p:nvPr/>
        </p:nvSpPr>
        <p:spPr>
          <a:xfrm>
            <a:off x="2171700" y="3089910"/>
            <a:ext cx="2857500" cy="52578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D3D5954-4DC0-4877-B6CE-9FBF0E32DF8C}"/>
              </a:ext>
            </a:extLst>
          </p:cNvPr>
          <p:cNvSpPr>
            <a:spLocks noGrp="1"/>
          </p:cNvSpPr>
          <p:nvPr/>
        </p:nvSpPr>
        <p:spPr>
          <a:xfrm>
            <a:off x="2247900" y="3166110"/>
            <a:ext cx="270510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流程固定，遇到不同問題仍走同一套步驟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76C51664-8557-4089-B7F0-25672F0B924F}"/>
              </a:ext>
            </a:extLst>
          </p:cNvPr>
          <p:cNvSpPr>
            <a:spLocks noGrp="1"/>
          </p:cNvSpPr>
          <p:nvPr/>
        </p:nvSpPr>
        <p:spPr>
          <a:xfrm>
            <a:off x="5029200" y="3089910"/>
            <a:ext cx="2381250" cy="52578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F1E9B062-5AB7-4DF0-8331-2177A62A4573}"/>
              </a:ext>
            </a:extLst>
          </p:cNvPr>
          <p:cNvSpPr>
            <a:spLocks noGrp="1"/>
          </p:cNvSpPr>
          <p:nvPr/>
        </p:nvSpPr>
        <p:spPr>
          <a:xfrm>
            <a:off x="5105400" y="3166110"/>
            <a:ext cx="2228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讓 strategy 可動態產生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A9437B18-8449-4FDE-B746-288337A75317}"/>
              </a:ext>
            </a:extLst>
          </p:cNvPr>
          <p:cNvSpPr>
            <a:spLocks noGrp="1"/>
          </p:cNvSpPr>
          <p:nvPr/>
        </p:nvSpPr>
        <p:spPr>
          <a:xfrm>
            <a:off x="552450" y="3615690"/>
            <a:ext cx="1619250" cy="525780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F37BEA-9696-4FF1-9A3E-4C768A3012E0}"/>
              </a:ext>
            </a:extLst>
          </p:cNvPr>
          <p:cNvSpPr>
            <a:spLocks noGrp="1"/>
          </p:cNvSpPr>
          <p:nvPr/>
        </p:nvSpPr>
        <p:spPr>
          <a:xfrm>
            <a:off x="628650" y="3691890"/>
            <a:ext cx="1466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Context overload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369B3348-07DF-4858-8ACF-E9EADBD76419}"/>
              </a:ext>
            </a:extLst>
          </p:cNvPr>
          <p:cNvSpPr>
            <a:spLocks noGrp="1"/>
          </p:cNvSpPr>
          <p:nvPr/>
        </p:nvSpPr>
        <p:spPr>
          <a:xfrm>
            <a:off x="2171700" y="3615690"/>
            <a:ext cx="2857500" cy="525780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0751DC7-835F-4DCC-914E-1510ED72CAD8}"/>
              </a:ext>
            </a:extLst>
          </p:cNvPr>
          <p:cNvSpPr>
            <a:spLocks noGrp="1"/>
          </p:cNvSpPr>
          <p:nvPr/>
        </p:nvSpPr>
        <p:spPr>
          <a:xfrm>
            <a:off x="2247900" y="3691890"/>
            <a:ext cx="270510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取太多 chunk 讓 token 成本與 noise 上升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27050C93-2E46-487A-A9B9-2E05FFCFCC47}"/>
              </a:ext>
            </a:extLst>
          </p:cNvPr>
          <p:cNvSpPr>
            <a:spLocks noGrp="1"/>
          </p:cNvSpPr>
          <p:nvPr/>
        </p:nvSpPr>
        <p:spPr>
          <a:xfrm>
            <a:off x="5029200" y="3615690"/>
            <a:ext cx="2381250" cy="525780"/>
          </a:xfrm>
          <a:prstGeom prst="roundRect">
            <a:avLst>
              <a:gd name="adj" fmla="val 1449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A9E6A991-45D1-4779-B66E-9FF2594DD2EB}"/>
              </a:ext>
            </a:extLst>
          </p:cNvPr>
          <p:cNvSpPr>
            <a:spLocks noGrp="1"/>
          </p:cNvSpPr>
          <p:nvPr/>
        </p:nvSpPr>
        <p:spPr>
          <a:xfrm>
            <a:off x="5105400" y="3691890"/>
            <a:ext cx="2228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先看 snippet，再讀完整 chunk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EB629A9C-35BD-47E4-8954-7CD2412F132B}"/>
              </a:ext>
            </a:extLst>
          </p:cNvPr>
          <p:cNvSpPr>
            <a:spLocks noGrp="1"/>
          </p:cNvSpPr>
          <p:nvPr/>
        </p:nvSpPr>
        <p:spPr>
          <a:xfrm>
            <a:off x="552450" y="4141470"/>
            <a:ext cx="1619250" cy="52578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9DC6CFE-9435-412F-8F09-29C816EF7E1E}"/>
              </a:ext>
            </a:extLst>
          </p:cNvPr>
          <p:cNvSpPr>
            <a:spLocks noGrp="1"/>
          </p:cNvSpPr>
          <p:nvPr/>
        </p:nvSpPr>
        <p:spPr>
          <a:xfrm>
            <a:off x="628650" y="4217670"/>
            <a:ext cx="1466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Poor scaling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F9DDFFB4-A7EA-4764-9B6F-D9D5DC5EBA3E}"/>
              </a:ext>
            </a:extLst>
          </p:cNvPr>
          <p:cNvSpPr>
            <a:spLocks noGrp="1"/>
          </p:cNvSpPr>
          <p:nvPr/>
        </p:nvSpPr>
        <p:spPr>
          <a:xfrm>
            <a:off x="2171700" y="4141470"/>
            <a:ext cx="2857500" cy="52578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54A3309F-7E10-42F4-BDCD-D2A34F832A9F}"/>
              </a:ext>
            </a:extLst>
          </p:cNvPr>
          <p:cNvSpPr>
            <a:spLocks noGrp="1"/>
          </p:cNvSpPr>
          <p:nvPr/>
        </p:nvSpPr>
        <p:spPr>
          <a:xfrm>
            <a:off x="2247900" y="4217670"/>
            <a:ext cx="270510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模型變強，但檢索流程不一定跟著變強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2532AAEE-EE44-46BE-8978-C8B640C9F362}"/>
              </a:ext>
            </a:extLst>
          </p:cNvPr>
          <p:cNvSpPr>
            <a:spLocks noGrp="1"/>
          </p:cNvSpPr>
          <p:nvPr/>
        </p:nvSpPr>
        <p:spPr>
          <a:xfrm>
            <a:off x="5029200" y="4141470"/>
            <a:ext cx="2381250" cy="525780"/>
          </a:xfrm>
          <a:prstGeom prst="roundRect">
            <a:avLst>
              <a:gd name="adj" fmla="val 1449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04994DD0-BEC6-4B40-998C-555FE6D8069E}"/>
              </a:ext>
            </a:extLst>
          </p:cNvPr>
          <p:cNvSpPr>
            <a:spLocks noGrp="1"/>
          </p:cNvSpPr>
          <p:nvPr/>
        </p:nvSpPr>
        <p:spPr>
          <a:xfrm>
            <a:off x="5105400" y="4217670"/>
            <a:ext cx="2228850" cy="41148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65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65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利用 reasoning / tool-use 能力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F40E923B-C7C6-4153-995F-90B444C70D80}"/>
              </a:ext>
            </a:extLst>
          </p:cNvPr>
          <p:cNvSpPr>
            <a:spLocks noGrp="1"/>
          </p:cNvSpPr>
          <p:nvPr/>
        </p:nvSpPr>
        <p:spPr>
          <a:xfrm>
            <a:off x="7905750" y="2038350"/>
            <a:ext cx="3048000" cy="2628900"/>
          </a:xfrm>
          <a:prstGeom prst="roundRect">
            <a:avLst>
              <a:gd name="adj" fmla="val 2899"/>
            </a:avLst>
          </a:prstGeom>
          <a:solidFill>
            <a:srgbClr val="F4F7FB"/>
          </a:solidFill>
          <a:ln w="9525">
            <a:solidFill>
              <a:srgbClr val="D05768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2B47AB5-A661-4C48-911C-14BD68445212}"/>
              </a:ext>
            </a:extLst>
          </p:cNvPr>
          <p:cNvSpPr>
            <a:spLocks noGrp="1"/>
          </p:cNvSpPr>
          <p:nvPr/>
        </p:nvSpPr>
        <p:spPr>
          <a:xfrm>
            <a:off x="8172450" y="2266950"/>
            <a:ext cx="238125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0576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05768"/>
                </a:solidFill>
                <a:latin typeface="Microsoft JhengHei"/>
                <a:ea typeface="Microsoft JhengHei"/>
                <a:cs typeface="Microsoft JhengHei"/>
              </a:rPr>
              <a:t>報告時可抓的主軸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D3B7EEFB-E145-4F9E-B392-9A21503D805C}"/>
              </a:ext>
            </a:extLst>
          </p:cNvPr>
          <p:cNvSpPr>
            <a:spLocks noGrp="1"/>
          </p:cNvSpPr>
          <p:nvPr/>
        </p:nvSpPr>
        <p:spPr>
          <a:xfrm>
            <a:off x="8172450" y="2771775"/>
            <a:ext cx="85725" cy="85725"/>
          </a:xfrm>
          <a:prstGeom prst="rect">
            <a:avLst/>
          </a:prstGeom>
          <a:solidFill>
            <a:srgbClr val="D05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B82CA34-FE54-4DED-AC23-A0F3F85BA506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171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RAG 不只是 retrieve more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57CDC84C-FE27-4933-9FBA-82296BE3C763}"/>
              </a:ext>
            </a:extLst>
          </p:cNvPr>
          <p:cNvSpPr>
            <a:spLocks noGrp="1"/>
          </p:cNvSpPr>
          <p:nvPr/>
        </p:nvSpPr>
        <p:spPr>
          <a:xfrm>
            <a:off x="8172450" y="3171825"/>
            <a:ext cx="85725" cy="85725"/>
          </a:xfrm>
          <a:prstGeom prst="rect">
            <a:avLst/>
          </a:prstGeom>
          <a:solidFill>
            <a:srgbClr val="D05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3495CCC-B585-4397-9629-A931AD07063E}"/>
              </a:ext>
            </a:extLst>
          </p:cNvPr>
          <p:cNvSpPr>
            <a:spLocks noGrp="1"/>
          </p:cNvSpPr>
          <p:nvPr/>
        </p:nvSpPr>
        <p:spPr>
          <a:xfrm>
            <a:off x="8343900" y="3124200"/>
            <a:ext cx="2171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更關鍵是 retrieve when / how</a:t>
            </a: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BAA50BC3-357D-45EB-88B2-90768FE555E9}"/>
              </a:ext>
            </a:extLst>
          </p:cNvPr>
          <p:cNvSpPr>
            <a:spLocks noGrp="1"/>
          </p:cNvSpPr>
          <p:nvPr/>
        </p:nvSpPr>
        <p:spPr>
          <a:xfrm>
            <a:off x="8172450" y="3571875"/>
            <a:ext cx="85725" cy="85725"/>
          </a:xfrm>
          <a:prstGeom prst="rect">
            <a:avLst/>
          </a:prstGeom>
          <a:solidFill>
            <a:srgbClr val="D05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710A4FAE-07C5-4C39-95DA-A3B62C50D7E3}"/>
              </a:ext>
            </a:extLst>
          </p:cNvPr>
          <p:cNvSpPr>
            <a:spLocks noGrp="1"/>
          </p:cNvSpPr>
          <p:nvPr/>
        </p:nvSpPr>
        <p:spPr>
          <a:xfrm>
            <a:off x="8343900" y="3524250"/>
            <a:ext cx="2171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工具介面會限制 agent 能力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A2F4B937-B138-4DB2-BF64-9A43EEF4B39F}"/>
              </a:ext>
            </a:extLst>
          </p:cNvPr>
          <p:cNvSpPr>
            <a:spLocks noGrp="1"/>
          </p:cNvSpPr>
          <p:nvPr/>
        </p:nvSpPr>
        <p:spPr>
          <a:xfrm>
            <a:off x="8172450" y="3971925"/>
            <a:ext cx="85725" cy="85725"/>
          </a:xfrm>
          <a:prstGeom prst="rect">
            <a:avLst/>
          </a:prstGeom>
          <a:solidFill>
            <a:srgbClr val="D0576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8CCB352-AC3E-4A8A-84B7-95E7164D5BA2}"/>
              </a:ext>
            </a:extLst>
          </p:cNvPr>
          <p:cNvSpPr>
            <a:spLocks noGrp="1"/>
          </p:cNvSpPr>
          <p:nvPr/>
        </p:nvSpPr>
        <p:spPr>
          <a:xfrm>
            <a:off x="8343900" y="3924300"/>
            <a:ext cx="217170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 將 retrieval 變成可互動決策</a:t>
            </a:r>
          </a:p>
        </p:txBody>
      </p:sp>
    </p:spTree>
    <p:extLst>
      <p:ext uri="{BB962C8B-B14F-4D97-AF65-F5344CB8AC3E}">
        <p14:creationId xmlns:p14="http://schemas.microsoft.com/office/powerpoint/2010/main" val="20212514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矩形 30">
            <a:extLst>
              <a:ext uri="{FF2B5EF4-FFF2-40B4-BE49-F238E27FC236}">
                <a16:creationId xmlns:a16="http://schemas.microsoft.com/office/drawing/2014/main" id="{016600CE-026E-4C12-B579-AE911AF93C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5B5EDE-9FFD-4479-A152-590FA90FC6F9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C851E46-20AD-49D3-970B-F5F4CAE323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9B425C2-0383-4F7E-930E-C89F4159EB6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5749E17-4988-4CDB-80BD-394B31062FFC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05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6535BC0-0018-4EAF-B2BC-4DBFA83EEBF4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研究問題與貢獻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E3FF6B-6861-4C04-BAB3-439060387E3E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E28CE7-DD24-4291-B0D0-489234B8AC31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A-RAG 的核心問題：如何把 retrieval 設計成 agent-friendly interface？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F954281-EDA6-4108-8242-E01D10D65D6B}"/>
              </a:ext>
            </a:extLst>
          </p:cNvPr>
          <p:cNvSpPr>
            <a:spLocks noGrp="1"/>
          </p:cNvSpPr>
          <p:nvPr/>
        </p:nvSpPr>
        <p:spPr>
          <a:xfrm>
            <a:off x="742950" y="1943100"/>
            <a:ext cx="9906000" cy="1123950"/>
          </a:xfrm>
          <a:prstGeom prst="roundRect">
            <a:avLst>
              <a:gd name="adj" fmla="val 6780"/>
            </a:avLst>
          </a:prstGeom>
          <a:solidFill>
            <a:srgbClr val="EAF0F7"/>
          </a:solidFill>
          <a:ln w="9525">
            <a:solidFill>
              <a:srgbClr val="D3A12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009486-FC88-4305-B590-BA620759FC55}"/>
              </a:ext>
            </a:extLst>
          </p:cNvPr>
          <p:cNvSpPr>
            <a:spLocks noGrp="1"/>
          </p:cNvSpPr>
          <p:nvPr/>
        </p:nvSpPr>
        <p:spPr>
          <a:xfrm>
            <a:off x="1028700" y="2190750"/>
            <a:ext cx="93345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Research Question: Can a language model autonomously choose retrieval strategies across multiple granularities and scale with test-time compute?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DA8FCB4-6A5C-4B18-8744-BE2DB127A03A}"/>
              </a:ext>
            </a:extLst>
          </p:cNvPr>
          <p:cNvSpPr>
            <a:spLocks noGrp="1"/>
          </p:cNvSpPr>
          <p:nvPr/>
        </p:nvSpPr>
        <p:spPr>
          <a:xfrm>
            <a:off x="742950" y="3581400"/>
            <a:ext cx="2952750" cy="163830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777F42F-4001-4BF2-BB95-EB9687656C85}"/>
              </a:ext>
            </a:extLst>
          </p:cNvPr>
          <p:cNvSpPr>
            <a:spLocks noGrp="1"/>
          </p:cNvSpPr>
          <p:nvPr/>
        </p:nvSpPr>
        <p:spPr>
          <a:xfrm>
            <a:off x="742950" y="3581400"/>
            <a:ext cx="47625" cy="1638300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2A72855-8222-4050-9DAB-D6D3082D5A0C}"/>
              </a:ext>
            </a:extLst>
          </p:cNvPr>
          <p:cNvSpPr>
            <a:spLocks noGrp="1"/>
          </p:cNvSpPr>
          <p:nvPr/>
        </p:nvSpPr>
        <p:spPr>
          <a:xfrm>
            <a:off x="914400" y="373380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貢獻 1：Paradigm shift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AE103B-71D7-40AF-B264-85555C907630}"/>
              </a:ext>
            </a:extLst>
          </p:cNvPr>
          <p:cNvSpPr>
            <a:spLocks noGrp="1"/>
          </p:cNvSpPr>
          <p:nvPr/>
        </p:nvSpPr>
        <p:spPr>
          <a:xfrm>
            <a:off x="914400" y="4076700"/>
            <a:ext cx="26479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指出 RAG 應從 static pipeline 轉向 dynamic agent-based system。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BD4B329D-D8F0-45B0-8A26-1DC946E84E14}"/>
              </a:ext>
            </a:extLst>
          </p:cNvPr>
          <p:cNvSpPr>
            <a:spLocks noGrp="1"/>
          </p:cNvSpPr>
          <p:nvPr/>
        </p:nvSpPr>
        <p:spPr>
          <a:xfrm>
            <a:off x="4305300" y="3581400"/>
            <a:ext cx="2952750" cy="163830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6B4592-D384-4081-ACAE-B58D66BEF540}"/>
              </a:ext>
            </a:extLst>
          </p:cNvPr>
          <p:cNvSpPr>
            <a:spLocks noGrp="1"/>
          </p:cNvSpPr>
          <p:nvPr/>
        </p:nvSpPr>
        <p:spPr>
          <a:xfrm>
            <a:off x="4305300" y="3581400"/>
            <a:ext cx="47625" cy="1638300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8C8654A-B0BF-4350-B6E7-557005C63AB8}"/>
              </a:ext>
            </a:extLst>
          </p:cNvPr>
          <p:cNvSpPr>
            <a:spLocks noGrp="1"/>
          </p:cNvSpPr>
          <p:nvPr/>
        </p:nvSpPr>
        <p:spPr>
          <a:xfrm>
            <a:off x="4476750" y="373380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貢獻 2：A-RAG framework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4B17DB-BB7A-4A1F-BE04-1BC02922225B}"/>
              </a:ext>
            </a:extLst>
          </p:cNvPr>
          <p:cNvSpPr>
            <a:spLocks noGrp="1"/>
          </p:cNvSpPr>
          <p:nvPr/>
        </p:nvSpPr>
        <p:spPr>
          <a:xfrm>
            <a:off x="4476750" y="4076700"/>
            <a:ext cx="26479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提出 hierarchical retrieval interfaces：keyword、semantic、chunk read。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0BF43453-C28E-4127-8949-E63435AE2B76}"/>
              </a:ext>
            </a:extLst>
          </p:cNvPr>
          <p:cNvSpPr>
            <a:spLocks noGrp="1"/>
          </p:cNvSpPr>
          <p:nvPr/>
        </p:nvSpPr>
        <p:spPr>
          <a:xfrm>
            <a:off x="7867650" y="3581400"/>
            <a:ext cx="2952750" cy="1638300"/>
          </a:xfrm>
          <a:prstGeom prst="roundRect">
            <a:avLst>
              <a:gd name="adj" fmla="val 4651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09EA5E-83AE-43ED-B5D6-0B0B99504345}"/>
              </a:ext>
            </a:extLst>
          </p:cNvPr>
          <p:cNvSpPr>
            <a:spLocks noGrp="1"/>
          </p:cNvSpPr>
          <p:nvPr/>
        </p:nvSpPr>
        <p:spPr>
          <a:xfrm>
            <a:off x="7867650" y="3581400"/>
            <a:ext cx="47625" cy="1638300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EB3CF29-EE07-412D-B28F-AF51D056B11B}"/>
              </a:ext>
            </a:extLst>
          </p:cNvPr>
          <p:cNvSpPr>
            <a:spLocks noGrp="1"/>
          </p:cNvSpPr>
          <p:nvPr/>
        </p:nvSpPr>
        <p:spPr>
          <a:xfrm>
            <a:off x="8039100" y="3733800"/>
            <a:ext cx="2647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貢獻 3：Scaling analysis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BA5B66-7832-4B71-BA48-66841F1B186E}"/>
              </a:ext>
            </a:extLst>
          </p:cNvPr>
          <p:cNvSpPr>
            <a:spLocks noGrp="1"/>
          </p:cNvSpPr>
          <p:nvPr/>
        </p:nvSpPr>
        <p:spPr>
          <a:xfrm>
            <a:off x="8039100" y="4076700"/>
            <a:ext cx="2647950" cy="1028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分析 model size、max steps、reasoning effort 對表現的影響。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EFDDF45-F9A4-421A-8398-9F452A5181DB}"/>
              </a:ext>
            </a:extLst>
          </p:cNvPr>
          <p:cNvSpPr>
            <a:spLocks noGrp="1"/>
          </p:cNvSpPr>
          <p:nvPr/>
        </p:nvSpPr>
        <p:spPr>
          <a:xfrm>
            <a:off x="3733800" y="4381500"/>
            <a:ext cx="4953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65A601F5-C616-4EBF-8248-D547F04EF1AC}"/>
              </a:ext>
            </a:extLst>
          </p:cNvPr>
          <p:cNvSpPr>
            <a:spLocks noGrp="1"/>
          </p:cNvSpPr>
          <p:nvPr/>
        </p:nvSpPr>
        <p:spPr>
          <a:xfrm>
            <a:off x="4152900" y="432435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F255183-83A0-4247-9D5F-12F74E2AD415}"/>
              </a:ext>
            </a:extLst>
          </p:cNvPr>
          <p:cNvSpPr>
            <a:spLocks noGrp="1"/>
          </p:cNvSpPr>
          <p:nvPr/>
        </p:nvSpPr>
        <p:spPr>
          <a:xfrm>
            <a:off x="7296150" y="4381500"/>
            <a:ext cx="4953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B8174D25-C5E6-46D4-B41E-2E7435F80F13}"/>
              </a:ext>
            </a:extLst>
          </p:cNvPr>
          <p:cNvSpPr>
            <a:spLocks noGrp="1"/>
          </p:cNvSpPr>
          <p:nvPr/>
        </p:nvSpPr>
        <p:spPr>
          <a:xfrm>
            <a:off x="7715250" y="432435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27D8AF62-8996-422E-A050-582EC735A6EF}"/>
              </a:ext>
            </a:extLst>
          </p:cNvPr>
          <p:cNvSpPr>
            <a:spLocks noGrp="1"/>
          </p:cNvSpPr>
          <p:nvPr/>
        </p:nvSpPr>
        <p:spPr>
          <a:xfrm>
            <a:off x="1162050" y="570547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0077CBF-4A9B-48C6-84D1-DC1C91544F84}"/>
              </a:ext>
            </a:extLst>
          </p:cNvPr>
          <p:cNvSpPr>
            <a:spLocks noGrp="1"/>
          </p:cNvSpPr>
          <p:nvPr/>
        </p:nvSpPr>
        <p:spPr>
          <a:xfrm>
            <a:off x="1333500" y="5657850"/>
            <a:ext cx="8877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本篇不是只換一個 retriever，而是改變 LLM 與 corpus 互動方式。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A363C50-03C5-4E2D-80E7-2741C90D91BE}"/>
              </a:ext>
            </a:extLst>
          </p:cNvPr>
          <p:cNvSpPr>
            <a:spLocks noGrp="1"/>
          </p:cNvSpPr>
          <p:nvPr/>
        </p:nvSpPr>
        <p:spPr>
          <a:xfrm>
            <a:off x="1162050" y="599122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A863FCC-33B6-4555-8F08-126A7AC05B2A}"/>
              </a:ext>
            </a:extLst>
          </p:cNvPr>
          <p:cNvSpPr>
            <a:spLocks noGrp="1"/>
          </p:cNvSpPr>
          <p:nvPr/>
        </p:nvSpPr>
        <p:spPr>
          <a:xfrm>
            <a:off x="1333500" y="5943600"/>
            <a:ext cx="88773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實驗重點放在 multi-hop QA，因為這類問題最需要逐步檢索與證據串接。</a:t>
            </a:r>
          </a:p>
        </p:txBody>
      </p:sp>
    </p:spTree>
    <p:extLst>
      <p:ext uri="{BB962C8B-B14F-4D97-AF65-F5344CB8AC3E}">
        <p14:creationId xmlns:p14="http://schemas.microsoft.com/office/powerpoint/2010/main" val="355871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>
            <a:extLst>
              <a:ext uri="{FF2B5EF4-FFF2-40B4-BE49-F238E27FC236}">
                <a16:creationId xmlns:a16="http://schemas.microsoft.com/office/drawing/2014/main" id="{F2A8DB0E-0622-434E-A02E-57745BD8DBD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826166D-00F5-4F15-AD8D-E00CD2BE9005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AA130D-B4AC-4E21-9920-D43A42F5136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E176FC6-37F0-4901-8605-788B2B5A5354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052BF3-FC74-4B7E-B76C-C26BF1D92BF5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06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942251-A667-4AAF-9C7A-9FD90181C7C4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 方法總覽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B558ECC-C168-40B1-9403-65719CABB970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5E0B09-A9B0-4636-97F6-892A704DFF59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整體由 hierarchical index、retrieval tools、agent loop 三個部分組成。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3CD06D33-76F3-4D8C-A740-F2FA4D66F87B}"/>
              </a:ext>
            </a:extLst>
          </p:cNvPr>
          <p:cNvSpPr>
            <a:spLocks noGrp="1"/>
          </p:cNvSpPr>
          <p:nvPr/>
        </p:nvSpPr>
        <p:spPr>
          <a:xfrm>
            <a:off x="704850" y="2209800"/>
            <a:ext cx="1905000" cy="1066800"/>
          </a:xfrm>
          <a:prstGeom prst="roundRect">
            <a:avLst>
              <a:gd name="adj" fmla="val 7143"/>
            </a:avLst>
          </a:prstGeom>
          <a:solidFill>
            <a:srgbClr val="F4F7FB"/>
          </a:solidFill>
          <a:ln w="13335">
            <a:solidFill>
              <a:srgbClr val="8798AD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53139D-1A16-47AE-BC76-6F7C94A2CF0A}"/>
              </a:ext>
            </a:extLst>
          </p:cNvPr>
          <p:cNvSpPr>
            <a:spLocks noGrp="1"/>
          </p:cNvSpPr>
          <p:nvPr/>
        </p:nvSpPr>
        <p:spPr>
          <a:xfrm>
            <a:off x="838200" y="2324100"/>
            <a:ext cx="16383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8798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8798AD"/>
                </a:solidFill>
                <a:latin typeface="Microsoft JhengHei"/>
                <a:ea typeface="Microsoft JhengHei"/>
                <a:cs typeface="Microsoft JhengHei"/>
              </a:rPr>
              <a:t>Corpus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AB58D18-0751-4BF8-B301-06AC9BE3A6AC}"/>
              </a:ext>
            </a:extLst>
          </p:cNvPr>
          <p:cNvSpPr>
            <a:spLocks noGrp="1"/>
          </p:cNvSpPr>
          <p:nvPr/>
        </p:nvSpPr>
        <p:spPr>
          <a:xfrm>
            <a:off x="838200" y="2590800"/>
            <a:ext cx="16383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documents are chunked into ~1,000-token units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6629C55-EF60-4A72-B66B-86F5369D2532}"/>
              </a:ext>
            </a:extLst>
          </p:cNvPr>
          <p:cNvSpPr>
            <a:spLocks noGrp="1"/>
          </p:cNvSpPr>
          <p:nvPr/>
        </p:nvSpPr>
        <p:spPr>
          <a:xfrm>
            <a:off x="3257550" y="1828800"/>
            <a:ext cx="207645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3F79D6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F0CB28-584B-48E3-9FE0-315DC26478CE}"/>
              </a:ext>
            </a:extLst>
          </p:cNvPr>
          <p:cNvSpPr>
            <a:spLocks noGrp="1"/>
          </p:cNvSpPr>
          <p:nvPr/>
        </p:nvSpPr>
        <p:spPr>
          <a:xfrm>
            <a:off x="3390900" y="19431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rPr>
              <a:t>Keyword Level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6BD28DD-52B2-4784-9D32-5CD31796728C}"/>
              </a:ext>
            </a:extLst>
          </p:cNvPr>
          <p:cNvSpPr>
            <a:spLocks noGrp="1"/>
          </p:cNvSpPr>
          <p:nvPr/>
        </p:nvSpPr>
        <p:spPr>
          <a:xfrm>
            <a:off x="3390900" y="22098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runtime exact text match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292863C8-7C93-4CEE-AAFE-FF795A84E9F8}"/>
              </a:ext>
            </a:extLst>
          </p:cNvPr>
          <p:cNvSpPr>
            <a:spLocks noGrp="1"/>
          </p:cNvSpPr>
          <p:nvPr/>
        </p:nvSpPr>
        <p:spPr>
          <a:xfrm>
            <a:off x="3257550" y="2895600"/>
            <a:ext cx="207645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7A6FD3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227D932-7BCD-42C0-8CBA-5EA2CCF9F806}"/>
              </a:ext>
            </a:extLst>
          </p:cNvPr>
          <p:cNvSpPr>
            <a:spLocks noGrp="1"/>
          </p:cNvSpPr>
          <p:nvPr/>
        </p:nvSpPr>
        <p:spPr>
          <a:xfrm>
            <a:off x="3390900" y="30099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rPr>
              <a:t>Sentence Level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0F1DC94-F4A7-47DA-B43F-0B87A899BC06}"/>
              </a:ext>
            </a:extLst>
          </p:cNvPr>
          <p:cNvSpPr>
            <a:spLocks noGrp="1"/>
          </p:cNvSpPr>
          <p:nvPr/>
        </p:nvSpPr>
        <p:spPr>
          <a:xfrm>
            <a:off x="3390900" y="32766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sentence embeddings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0302FB3D-0818-47DD-9DD7-997BD1614D79}"/>
              </a:ext>
            </a:extLst>
          </p:cNvPr>
          <p:cNvSpPr>
            <a:spLocks noGrp="1"/>
          </p:cNvSpPr>
          <p:nvPr/>
        </p:nvSpPr>
        <p:spPr>
          <a:xfrm>
            <a:off x="3257550" y="3962400"/>
            <a:ext cx="207645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2F9D64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709615D-12D3-4237-B614-4322CBA5CA9A}"/>
              </a:ext>
            </a:extLst>
          </p:cNvPr>
          <p:cNvSpPr>
            <a:spLocks noGrp="1"/>
          </p:cNvSpPr>
          <p:nvPr/>
        </p:nvSpPr>
        <p:spPr>
          <a:xfrm>
            <a:off x="3390900" y="4076700"/>
            <a:ext cx="18097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rPr>
              <a:t>Chunk Level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6D26065-AF76-4568-B7B3-FE1A7D2D5D50}"/>
              </a:ext>
            </a:extLst>
          </p:cNvPr>
          <p:cNvSpPr>
            <a:spLocks noGrp="1"/>
          </p:cNvSpPr>
          <p:nvPr/>
        </p:nvSpPr>
        <p:spPr>
          <a:xfrm>
            <a:off x="3390900" y="4343400"/>
            <a:ext cx="1809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full chunk storage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A15EA9E8-8C46-426F-A4ED-E83A0E76A6BA}"/>
              </a:ext>
            </a:extLst>
          </p:cNvPr>
          <p:cNvSpPr>
            <a:spLocks noGrp="1"/>
          </p:cNvSpPr>
          <p:nvPr/>
        </p:nvSpPr>
        <p:spPr>
          <a:xfrm>
            <a:off x="6172200" y="2209800"/>
            <a:ext cx="2000250" cy="1066800"/>
          </a:xfrm>
          <a:prstGeom prst="roundRect">
            <a:avLst>
              <a:gd name="adj" fmla="val 7143"/>
            </a:avLst>
          </a:prstGeom>
          <a:solidFill>
            <a:srgbClr val="F4F7FB"/>
          </a:solidFill>
          <a:ln w="13335">
            <a:solidFill>
              <a:srgbClr val="2F9FB8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FFAEB2E-505D-4CC1-914B-68D66F041521}"/>
              </a:ext>
            </a:extLst>
          </p:cNvPr>
          <p:cNvSpPr>
            <a:spLocks noGrp="1"/>
          </p:cNvSpPr>
          <p:nvPr/>
        </p:nvSpPr>
        <p:spPr>
          <a:xfrm>
            <a:off x="6305550" y="232410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rPr>
              <a:t>Tool Interface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43824E-3CC8-4FC9-8B36-689D11D55248}"/>
              </a:ext>
            </a:extLst>
          </p:cNvPr>
          <p:cNvSpPr>
            <a:spLocks noGrp="1"/>
          </p:cNvSpPr>
          <p:nvPr/>
        </p:nvSpPr>
        <p:spPr>
          <a:xfrm>
            <a:off x="6305550" y="2590800"/>
            <a:ext cx="173355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keyword_search</a:t>
            </a:r>
          </a:p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semantic_search</a:t>
            </a:r>
          </a:p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chunk_read</a:t>
            </a:r>
          </a:p>
        </p:txBody>
      </p:sp>
      <p:sp>
        <p:nvSpPr>
          <p:cNvPr id="24" name="矩形: 圓角 23">
            <a:extLst>
              <a:ext uri="{FF2B5EF4-FFF2-40B4-BE49-F238E27FC236}">
                <a16:creationId xmlns:a16="http://schemas.microsoft.com/office/drawing/2014/main" id="{D5A3CD1D-E46A-46C9-B707-045C0F7552C6}"/>
              </a:ext>
            </a:extLst>
          </p:cNvPr>
          <p:cNvSpPr>
            <a:spLocks noGrp="1"/>
          </p:cNvSpPr>
          <p:nvPr/>
        </p:nvSpPr>
        <p:spPr>
          <a:xfrm>
            <a:off x="8953500" y="2209800"/>
            <a:ext cx="1866900" cy="1066800"/>
          </a:xfrm>
          <a:prstGeom prst="roundRect">
            <a:avLst>
              <a:gd name="adj" fmla="val 7143"/>
            </a:avLst>
          </a:prstGeom>
          <a:solidFill>
            <a:srgbClr val="F4F7FB"/>
          </a:solidFill>
          <a:ln w="13335">
            <a:solidFill>
              <a:srgbClr val="D3A126"/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8FF1D1D-5190-4C70-8EA3-8A73D78AAAB5}"/>
              </a:ext>
            </a:extLst>
          </p:cNvPr>
          <p:cNvSpPr>
            <a:spLocks noGrp="1"/>
          </p:cNvSpPr>
          <p:nvPr/>
        </p:nvSpPr>
        <p:spPr>
          <a:xfrm>
            <a:off x="9086850" y="2324100"/>
            <a:ext cx="16002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LLM Agent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9F7A4DE0-8BFF-4F4A-842B-BB9658FAB60A}"/>
              </a:ext>
            </a:extLst>
          </p:cNvPr>
          <p:cNvSpPr>
            <a:spLocks noGrp="1"/>
          </p:cNvSpPr>
          <p:nvPr/>
        </p:nvSpPr>
        <p:spPr>
          <a:xfrm>
            <a:off x="9086850" y="2590800"/>
            <a:ext cx="1600200" cy="628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decides next action or final answer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A97E5DCC-2371-4996-820B-E3D7A707A3EE}"/>
              </a:ext>
            </a:extLst>
          </p:cNvPr>
          <p:cNvSpPr>
            <a:spLocks noGrp="1"/>
          </p:cNvSpPr>
          <p:nvPr/>
        </p:nvSpPr>
        <p:spPr>
          <a:xfrm>
            <a:off x="2609850" y="2724150"/>
            <a:ext cx="55245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68B7A7C-DEA5-405B-8B96-6BD847E2431E}"/>
              </a:ext>
            </a:extLst>
          </p:cNvPr>
          <p:cNvSpPr>
            <a:spLocks noGrp="1"/>
          </p:cNvSpPr>
          <p:nvPr/>
        </p:nvSpPr>
        <p:spPr>
          <a:xfrm>
            <a:off x="3143250" y="2209800"/>
            <a:ext cx="38100" cy="219075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CD38CD7B-07D3-4B33-B238-E97085662120}"/>
              </a:ext>
            </a:extLst>
          </p:cNvPr>
          <p:cNvSpPr>
            <a:spLocks noGrp="1"/>
          </p:cNvSpPr>
          <p:nvPr/>
        </p:nvSpPr>
        <p:spPr>
          <a:xfrm>
            <a:off x="3143250" y="2209800"/>
            <a:ext cx="1143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等腰三角形 29">
            <a:extLst>
              <a:ext uri="{FF2B5EF4-FFF2-40B4-BE49-F238E27FC236}">
                <a16:creationId xmlns:a16="http://schemas.microsoft.com/office/drawing/2014/main" id="{FBC4C903-043F-4A18-893B-7CDEBF40F7A0}"/>
              </a:ext>
            </a:extLst>
          </p:cNvPr>
          <p:cNvSpPr>
            <a:spLocks noGrp="1"/>
          </p:cNvSpPr>
          <p:nvPr/>
        </p:nvSpPr>
        <p:spPr>
          <a:xfrm>
            <a:off x="3143250" y="3276600"/>
            <a:ext cx="1143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等腰三角形 30">
            <a:extLst>
              <a:ext uri="{FF2B5EF4-FFF2-40B4-BE49-F238E27FC236}">
                <a16:creationId xmlns:a16="http://schemas.microsoft.com/office/drawing/2014/main" id="{5F15B18A-E663-4054-AB45-21EE043DB0E1}"/>
              </a:ext>
            </a:extLst>
          </p:cNvPr>
          <p:cNvSpPr>
            <a:spLocks noGrp="1"/>
          </p:cNvSpPr>
          <p:nvPr/>
        </p:nvSpPr>
        <p:spPr>
          <a:xfrm>
            <a:off x="3143250" y="4343400"/>
            <a:ext cx="1143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070F67-5DDC-4975-AD34-278F3A7CB630}"/>
              </a:ext>
            </a:extLst>
          </p:cNvPr>
          <p:cNvSpPr>
            <a:spLocks noGrp="1"/>
          </p:cNvSpPr>
          <p:nvPr/>
        </p:nvSpPr>
        <p:spPr>
          <a:xfrm>
            <a:off x="5334000" y="3257550"/>
            <a:ext cx="5715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540F2F4-0A09-4B7A-B907-7F276BEEAA6B}"/>
              </a:ext>
            </a:extLst>
          </p:cNvPr>
          <p:cNvSpPr>
            <a:spLocks noGrp="1"/>
          </p:cNvSpPr>
          <p:nvPr/>
        </p:nvSpPr>
        <p:spPr>
          <a:xfrm>
            <a:off x="5905500" y="2343150"/>
            <a:ext cx="38100" cy="18669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等腰三角形 33">
            <a:extLst>
              <a:ext uri="{FF2B5EF4-FFF2-40B4-BE49-F238E27FC236}">
                <a16:creationId xmlns:a16="http://schemas.microsoft.com/office/drawing/2014/main" id="{1C162630-4733-442C-901E-C1F5153E548C}"/>
              </a:ext>
            </a:extLst>
          </p:cNvPr>
          <p:cNvSpPr>
            <a:spLocks noGrp="1"/>
          </p:cNvSpPr>
          <p:nvPr/>
        </p:nvSpPr>
        <p:spPr>
          <a:xfrm>
            <a:off x="5924550" y="2705100"/>
            <a:ext cx="171450" cy="1143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45EA3F2A-BD97-4DBF-B41C-1BA854E071D1}"/>
              </a:ext>
            </a:extLst>
          </p:cNvPr>
          <p:cNvSpPr>
            <a:spLocks noGrp="1"/>
          </p:cNvSpPr>
          <p:nvPr/>
        </p:nvSpPr>
        <p:spPr>
          <a:xfrm>
            <a:off x="8172450" y="2724150"/>
            <a:ext cx="70485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等腰三角形 35">
            <a:extLst>
              <a:ext uri="{FF2B5EF4-FFF2-40B4-BE49-F238E27FC236}">
                <a16:creationId xmlns:a16="http://schemas.microsoft.com/office/drawing/2014/main" id="{26959B69-CE78-48D4-9C80-23E4254B3CB2}"/>
              </a:ext>
            </a:extLst>
          </p:cNvPr>
          <p:cNvSpPr>
            <a:spLocks noGrp="1"/>
          </p:cNvSpPr>
          <p:nvPr/>
        </p:nvSpPr>
        <p:spPr>
          <a:xfrm>
            <a:off x="8839200" y="266700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4432BF0E-6968-419E-BCCD-F15289B81872}"/>
              </a:ext>
            </a:extLst>
          </p:cNvPr>
          <p:cNvSpPr>
            <a:spLocks noGrp="1"/>
          </p:cNvSpPr>
          <p:nvPr/>
        </p:nvSpPr>
        <p:spPr>
          <a:xfrm>
            <a:off x="704850" y="5143500"/>
            <a:ext cx="10115550" cy="87630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5D1B8DC1-9CE1-4F39-9786-2F936B1C2307}"/>
              </a:ext>
            </a:extLst>
          </p:cNvPr>
          <p:cNvSpPr>
            <a:spLocks noGrp="1"/>
          </p:cNvSpPr>
          <p:nvPr/>
        </p:nvSpPr>
        <p:spPr>
          <a:xfrm>
            <a:off x="952500" y="5334000"/>
            <a:ext cx="1714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rPr>
              <a:t>設計重點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D0872AD8-A834-45A1-AFA9-94DDEFCBBB21}"/>
              </a:ext>
            </a:extLst>
          </p:cNvPr>
          <p:cNvSpPr>
            <a:spLocks noGrp="1"/>
          </p:cNvSpPr>
          <p:nvPr/>
        </p:nvSpPr>
        <p:spPr>
          <a:xfrm>
            <a:off x="2743200" y="5314950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不是把所有 context 一次塞給模型，而是讓 agent 依需求逐步取得資訊。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3E7EFC5-11FB-4710-953D-35A321BCA11B}"/>
              </a:ext>
            </a:extLst>
          </p:cNvPr>
          <p:cNvSpPr>
            <a:spLocks noGrp="1"/>
          </p:cNvSpPr>
          <p:nvPr/>
        </p:nvSpPr>
        <p:spPr>
          <a:xfrm>
            <a:off x="2743200" y="5638800"/>
            <a:ext cx="7620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工具粒度從 keyword 到 sentence 到 chunk，對應不同搜尋情境。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758EC757-3346-4DC6-B378-88E341667480}"/>
              </a:ext>
            </a:extLst>
          </p:cNvPr>
          <p:cNvSpPr>
            <a:spLocks noGrp="1"/>
          </p:cNvSpPr>
          <p:nvPr/>
        </p:nvSpPr>
        <p:spPr>
          <a:xfrm>
            <a:off x="2533650" y="5391150"/>
            <a:ext cx="85725" cy="85725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CE68D0C6-835F-4CC8-AFD2-62AFC4F63F86}"/>
              </a:ext>
            </a:extLst>
          </p:cNvPr>
          <p:cNvSpPr>
            <a:spLocks noGrp="1"/>
          </p:cNvSpPr>
          <p:nvPr/>
        </p:nvSpPr>
        <p:spPr>
          <a:xfrm>
            <a:off x="2533650" y="5715000"/>
            <a:ext cx="85725" cy="85725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55130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4F3095E7-956E-43E3-AFBC-0155CCC5EE0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D9F88EA-4F71-42E8-B32D-5ECD27DB37AF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6CE469D-6EA6-4602-9347-1547E83737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34188E0-B3F5-494A-B98F-6327F441272C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F5E9AC-BE48-49D7-8174-0D1D1F931753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07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3FAB707-0C96-4D02-A8A1-014142889559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Hierarchical Index：三層資訊粒度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D44967-56D1-4A1F-9EBF-53F1ADFE1FC9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34E5DAB-CB2E-4D7C-8578-5F73865481B5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A-RAG 將 corpus 組織成可由 agent 選擇的多粒度資訊介面。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C4E4AFD0-158A-4BBC-B86B-A60820FAE1D9}"/>
              </a:ext>
            </a:extLst>
          </p:cNvPr>
          <p:cNvSpPr>
            <a:spLocks noGrp="1"/>
          </p:cNvSpPr>
          <p:nvPr/>
        </p:nvSpPr>
        <p:spPr>
          <a:xfrm>
            <a:off x="2095500" y="2000250"/>
            <a:ext cx="7048500" cy="742950"/>
          </a:xfrm>
          <a:prstGeom prst="roundRect">
            <a:avLst>
              <a:gd name="adj" fmla="val 10256"/>
            </a:avLst>
          </a:prstGeom>
          <a:solidFill>
            <a:srgbClr val="F4F7FB"/>
          </a:solidFill>
          <a:ln w="14288">
            <a:solidFill>
              <a:srgbClr val="3F79D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7E2603-759C-4D9B-8540-AF79D8EBEC1A}"/>
              </a:ext>
            </a:extLst>
          </p:cNvPr>
          <p:cNvSpPr>
            <a:spLocks noGrp="1"/>
          </p:cNvSpPr>
          <p:nvPr/>
        </p:nvSpPr>
        <p:spPr>
          <a:xfrm>
            <a:off x="2324100" y="2143125"/>
            <a:ext cx="659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rPr>
              <a:t>Keyword-level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D299DA-F8D6-4FC1-AD9A-6F54A59D6EBC}"/>
              </a:ext>
            </a:extLst>
          </p:cNvPr>
          <p:cNvSpPr>
            <a:spLocks noGrp="1"/>
          </p:cNvSpPr>
          <p:nvPr/>
        </p:nvSpPr>
        <p:spPr>
          <a:xfrm>
            <a:off x="2324100" y="2428875"/>
            <a:ext cx="65913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不預建 inverted index；query-time exact text matching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E4997EFE-BB2F-45BE-A7D4-E57E86C57D2E}"/>
              </a:ext>
            </a:extLst>
          </p:cNvPr>
          <p:cNvSpPr>
            <a:spLocks noGrp="1"/>
          </p:cNvSpPr>
          <p:nvPr/>
        </p:nvSpPr>
        <p:spPr>
          <a:xfrm>
            <a:off x="2590800" y="3105150"/>
            <a:ext cx="6057900" cy="838200"/>
          </a:xfrm>
          <a:prstGeom prst="roundRect">
            <a:avLst>
              <a:gd name="adj" fmla="val 9091"/>
            </a:avLst>
          </a:prstGeom>
          <a:solidFill>
            <a:srgbClr val="F4F7FB"/>
          </a:solidFill>
          <a:ln w="14288">
            <a:solidFill>
              <a:srgbClr val="7A6FD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2CF958E-F638-4FF1-82C6-CB198E777D50}"/>
              </a:ext>
            </a:extLst>
          </p:cNvPr>
          <p:cNvSpPr>
            <a:spLocks noGrp="1"/>
          </p:cNvSpPr>
          <p:nvPr/>
        </p:nvSpPr>
        <p:spPr>
          <a:xfrm>
            <a:off x="2819400" y="3248025"/>
            <a:ext cx="56007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rPr>
              <a:t>Sentence-level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163B10-3146-466C-987B-290E3A05B273}"/>
              </a:ext>
            </a:extLst>
          </p:cNvPr>
          <p:cNvSpPr>
            <a:spLocks noGrp="1"/>
          </p:cNvSpPr>
          <p:nvPr/>
        </p:nvSpPr>
        <p:spPr>
          <a:xfrm>
            <a:off x="2819400" y="3533775"/>
            <a:ext cx="56007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每個 chunk 先切句，再計算 dense embedding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B158CF3-9C8D-4ABC-8C38-DD534ADC670A}"/>
              </a:ext>
            </a:extLst>
          </p:cNvPr>
          <p:cNvSpPr>
            <a:spLocks noGrp="1"/>
          </p:cNvSpPr>
          <p:nvPr/>
        </p:nvSpPr>
        <p:spPr>
          <a:xfrm>
            <a:off x="3181350" y="4324350"/>
            <a:ext cx="4876800" cy="87630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14288">
            <a:solidFill>
              <a:srgbClr val="2F9D6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F9891A3-DE58-4DD2-A521-37C061A8041C}"/>
              </a:ext>
            </a:extLst>
          </p:cNvPr>
          <p:cNvSpPr>
            <a:spLocks noGrp="1"/>
          </p:cNvSpPr>
          <p:nvPr/>
        </p:nvSpPr>
        <p:spPr>
          <a:xfrm>
            <a:off x="3409950" y="4467225"/>
            <a:ext cx="44196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rPr>
              <a:t>Chunk-level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5E90907-2A10-42D8-BBFA-0C8F5FF5A73C}"/>
              </a:ext>
            </a:extLst>
          </p:cNvPr>
          <p:cNvSpPr>
            <a:spLocks noGrp="1"/>
          </p:cNvSpPr>
          <p:nvPr/>
        </p:nvSpPr>
        <p:spPr>
          <a:xfrm>
            <a:off x="3409950" y="4752975"/>
            <a:ext cx="44196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7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約 1,000 tokens 的完整語意單元，可被 chunk_read 讀取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3516C80-ED3A-4A5D-88FB-58C1AEEF65F4}"/>
              </a:ext>
            </a:extLst>
          </p:cNvPr>
          <p:cNvSpPr>
            <a:spLocks noGrp="1"/>
          </p:cNvSpPr>
          <p:nvPr/>
        </p:nvSpPr>
        <p:spPr>
          <a:xfrm>
            <a:off x="647700" y="5524500"/>
            <a:ext cx="9982200" cy="552450"/>
          </a:xfrm>
          <a:prstGeom prst="roundRect">
            <a:avLst>
              <a:gd name="adj" fmla="val 13793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C94F063-D71B-4F5C-959B-B0207FF0A481}"/>
              </a:ext>
            </a:extLst>
          </p:cNvPr>
          <p:cNvSpPr>
            <a:spLocks noGrp="1"/>
          </p:cNvSpPr>
          <p:nvPr/>
        </p:nvSpPr>
        <p:spPr>
          <a:xfrm>
            <a:off x="933450" y="5705475"/>
            <a:ext cx="85725" cy="85725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6A350B-F8C8-47D8-B326-DE2512766A0E}"/>
              </a:ext>
            </a:extLst>
          </p:cNvPr>
          <p:cNvSpPr>
            <a:spLocks noGrp="1"/>
          </p:cNvSpPr>
          <p:nvPr/>
        </p:nvSpPr>
        <p:spPr>
          <a:xfrm>
            <a:off x="1104900" y="5657850"/>
            <a:ext cx="906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6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6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Chunking 保持句子邊界以維持語意一致；sentence embedding 讓 agent 先定位線索，再讀完整 chunk。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0DF5EAC-257F-4410-933B-E97EE32826CA}"/>
              </a:ext>
            </a:extLst>
          </p:cNvPr>
          <p:cNvSpPr>
            <a:spLocks noGrp="1"/>
          </p:cNvSpPr>
          <p:nvPr/>
        </p:nvSpPr>
        <p:spPr>
          <a:xfrm>
            <a:off x="933450" y="5934075"/>
            <a:ext cx="85725" cy="85725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5561B33-B9A2-4A60-9B45-77D74656B098}"/>
              </a:ext>
            </a:extLst>
          </p:cNvPr>
          <p:cNvSpPr>
            <a:spLocks noGrp="1"/>
          </p:cNvSpPr>
          <p:nvPr/>
        </p:nvSpPr>
        <p:spPr>
          <a:xfrm>
            <a:off x="1104900" y="5886450"/>
            <a:ext cx="9067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6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6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Keyword-level 適合專名與精確詞；semantic-level 適合語意相近但用詞不同的查詢。</a:t>
            </a:r>
          </a:p>
        </p:txBody>
      </p:sp>
    </p:spTree>
    <p:extLst>
      <p:ext uri="{BB962C8B-B14F-4D97-AF65-F5344CB8AC3E}">
        <p14:creationId xmlns:p14="http://schemas.microsoft.com/office/powerpoint/2010/main" val="132078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4D906C31-F815-4255-834E-49BB8080EF7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1569AB9-EC14-41DA-94AC-6A281EAED74F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11FCFB-B9C9-4323-9EA2-D935EBFFC4E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3C78798-33FD-4618-8DE4-A271B89DD352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A92222-FCA8-4B8F-8BBD-83911614CDF1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08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EDD36F9-2455-4A4F-B9FA-AF975ED94248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Keyword Search：精確詞彙搜尋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1BCA515-C88E-4F85-8312-9104B84DD156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75AE70-E322-463D-98FB-7DFDC7742336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用 literal keyword matching 快速找到包含特定 entity 或 technical term 的 chunk。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7BDC98EA-160F-493B-BBA2-AE2796E2310D}"/>
              </a:ext>
            </a:extLst>
          </p:cNvPr>
          <p:cNvSpPr>
            <a:spLocks noGrp="1"/>
          </p:cNvSpPr>
          <p:nvPr/>
        </p:nvSpPr>
        <p:spPr>
          <a:xfrm>
            <a:off x="628650" y="2038350"/>
            <a:ext cx="4648200" cy="2419350"/>
          </a:xfrm>
          <a:prstGeom prst="roundRect">
            <a:avLst>
              <a:gd name="adj" fmla="val 3150"/>
            </a:avLst>
          </a:prstGeom>
          <a:solidFill>
            <a:srgbClr val="F4F7FB"/>
          </a:solidFill>
          <a:ln w="9525">
            <a:solidFill>
              <a:srgbClr val="3F79D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26CC282-FB3F-47B3-841F-46A55D1C416E}"/>
              </a:ext>
            </a:extLst>
          </p:cNvPr>
          <p:cNvSpPr>
            <a:spLocks noGrp="1"/>
          </p:cNvSpPr>
          <p:nvPr/>
        </p:nvSpPr>
        <p:spPr>
          <a:xfrm>
            <a:off x="876300" y="2286000"/>
            <a:ext cx="4000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rPr>
              <a:t>概念化 scoring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A87D53A-89C1-4598-BBCC-00F9BA682B22}"/>
              </a:ext>
            </a:extLst>
          </p:cNvPr>
          <p:cNvSpPr>
            <a:spLocks noGrp="1"/>
          </p:cNvSpPr>
          <p:nvPr/>
        </p:nvSpPr>
        <p:spPr>
          <a:xfrm>
            <a:off x="876300" y="2762250"/>
            <a:ext cx="40005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Score(chunk, K) ≈ Σ keyword_count × keyword_length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4DAE3A3-265E-4F07-903C-EBC5A5D7B451}"/>
              </a:ext>
            </a:extLst>
          </p:cNvPr>
          <p:cNvSpPr>
            <a:spLocks noGrp="1"/>
          </p:cNvSpPr>
          <p:nvPr/>
        </p:nvSpPr>
        <p:spPr>
          <a:xfrm>
            <a:off x="876300" y="3486150"/>
            <a:ext cx="379095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直覺：出現越多次、詞越長越具體，該 chunk 越可能相關。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9766A9A9-6AB8-4697-AB2A-2ECEF1EAC8EA}"/>
              </a:ext>
            </a:extLst>
          </p:cNvPr>
          <p:cNvSpPr>
            <a:spLocks noGrp="1"/>
          </p:cNvSpPr>
          <p:nvPr/>
        </p:nvSpPr>
        <p:spPr>
          <a:xfrm>
            <a:off x="6134100" y="2171700"/>
            <a:ext cx="173355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3F79D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5847AE-693C-4FFC-BC9D-E3CE4947F92A}"/>
              </a:ext>
            </a:extLst>
          </p:cNvPr>
          <p:cNvSpPr>
            <a:spLocks noGrp="1"/>
          </p:cNvSpPr>
          <p:nvPr/>
        </p:nvSpPr>
        <p:spPr>
          <a:xfrm>
            <a:off x="6267450" y="2286000"/>
            <a:ext cx="14668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rPr>
              <a:t>Input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35E5C50-4B43-4C38-8C0C-AF9A5A71A209}"/>
              </a:ext>
            </a:extLst>
          </p:cNvPr>
          <p:cNvSpPr>
            <a:spLocks noGrp="1"/>
          </p:cNvSpPr>
          <p:nvPr/>
        </p:nvSpPr>
        <p:spPr>
          <a:xfrm>
            <a:off x="6267450" y="2552700"/>
            <a:ext cx="14668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keywords = ["A-RAG", "chunk_read"]</a:t>
            </a:r>
          </a:p>
        </p:txBody>
      </p:sp>
      <p:sp>
        <p:nvSpPr>
          <p:cNvPr id="16" name="矩形: 圓角 15">
            <a:extLst>
              <a:ext uri="{FF2B5EF4-FFF2-40B4-BE49-F238E27FC236}">
                <a16:creationId xmlns:a16="http://schemas.microsoft.com/office/drawing/2014/main" id="{5C25B5E7-AE84-432A-A0AB-9EE320F7BFAD}"/>
              </a:ext>
            </a:extLst>
          </p:cNvPr>
          <p:cNvSpPr>
            <a:spLocks noGrp="1"/>
          </p:cNvSpPr>
          <p:nvPr/>
        </p:nvSpPr>
        <p:spPr>
          <a:xfrm>
            <a:off x="8420100" y="2171700"/>
            <a:ext cx="192405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2F9FB8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D0DCD8A-D2D5-472A-8281-1CD2E05D6D53}"/>
              </a:ext>
            </a:extLst>
          </p:cNvPr>
          <p:cNvSpPr>
            <a:spLocks noGrp="1"/>
          </p:cNvSpPr>
          <p:nvPr/>
        </p:nvSpPr>
        <p:spPr>
          <a:xfrm>
            <a:off x="8553450" y="2286000"/>
            <a:ext cx="16573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rPr>
              <a:t>Output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8E6A482-8AC5-4E66-ADDF-0D8D8CBF5413}"/>
              </a:ext>
            </a:extLst>
          </p:cNvPr>
          <p:cNvSpPr>
            <a:spLocks noGrp="1"/>
          </p:cNvSpPr>
          <p:nvPr/>
        </p:nvSpPr>
        <p:spPr>
          <a:xfrm>
            <a:off x="8553450" y="2552700"/>
            <a:ext cx="16573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chunk IDs + abbreviated snippets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B7D318F-D42F-448E-BEE9-57812C5CAE6B}"/>
              </a:ext>
            </a:extLst>
          </p:cNvPr>
          <p:cNvSpPr>
            <a:spLocks noGrp="1"/>
          </p:cNvSpPr>
          <p:nvPr/>
        </p:nvSpPr>
        <p:spPr>
          <a:xfrm>
            <a:off x="7905750" y="2543175"/>
            <a:ext cx="4572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等腰三角形 19">
            <a:extLst>
              <a:ext uri="{FF2B5EF4-FFF2-40B4-BE49-F238E27FC236}">
                <a16:creationId xmlns:a16="http://schemas.microsoft.com/office/drawing/2014/main" id="{EF165FAA-35E3-4031-8C69-6B5FEAD99280}"/>
              </a:ext>
            </a:extLst>
          </p:cNvPr>
          <p:cNvSpPr>
            <a:spLocks noGrp="1"/>
          </p:cNvSpPr>
          <p:nvPr/>
        </p:nvSpPr>
        <p:spPr>
          <a:xfrm>
            <a:off x="8286750" y="2486025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FDE2BE19-C15F-49C6-B2CD-767C72CEB1F4}"/>
              </a:ext>
            </a:extLst>
          </p:cNvPr>
          <p:cNvSpPr>
            <a:spLocks noGrp="1"/>
          </p:cNvSpPr>
          <p:nvPr/>
        </p:nvSpPr>
        <p:spPr>
          <a:xfrm>
            <a:off x="6134100" y="3505200"/>
            <a:ext cx="4210050" cy="952500"/>
          </a:xfrm>
          <a:prstGeom prst="roundRect">
            <a:avLst>
              <a:gd name="adj" fmla="val 8000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D79B6F2-4BEB-4545-9543-7528F230C6CC}"/>
              </a:ext>
            </a:extLst>
          </p:cNvPr>
          <p:cNvSpPr>
            <a:spLocks noGrp="1"/>
          </p:cNvSpPr>
          <p:nvPr/>
        </p:nvSpPr>
        <p:spPr>
          <a:xfrm>
            <a:off x="6381750" y="3733800"/>
            <a:ext cx="36195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Snippet 只顯示命中關鍵字附近句子；agent 再決定是否讀完整 chunk。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0BCA98D-F753-42E1-84C6-1A9AE9238608}"/>
              </a:ext>
            </a:extLst>
          </p:cNvPr>
          <p:cNvSpPr>
            <a:spLocks noGrp="1"/>
          </p:cNvSpPr>
          <p:nvPr/>
        </p:nvSpPr>
        <p:spPr>
          <a:xfrm>
            <a:off x="857250" y="5191125"/>
            <a:ext cx="85725" cy="85725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BC47A24-5F7A-4805-99CF-9B815D3EF383}"/>
              </a:ext>
            </a:extLst>
          </p:cNvPr>
          <p:cNvSpPr>
            <a:spLocks noGrp="1"/>
          </p:cNvSpPr>
          <p:nvPr/>
        </p:nvSpPr>
        <p:spPr>
          <a:xfrm>
            <a:off x="1028700" y="5143500"/>
            <a:ext cx="916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優點：對人名、模型名、dataset 名稱等精確查找很有效。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44B89BE-65CB-40D4-9E42-1D934C446572}"/>
              </a:ext>
            </a:extLst>
          </p:cNvPr>
          <p:cNvSpPr>
            <a:spLocks noGrp="1"/>
          </p:cNvSpPr>
          <p:nvPr/>
        </p:nvSpPr>
        <p:spPr>
          <a:xfrm>
            <a:off x="857250" y="5495925"/>
            <a:ext cx="85725" cy="85725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2320866-2D16-40AB-BD34-A1DFB022BAEF}"/>
              </a:ext>
            </a:extLst>
          </p:cNvPr>
          <p:cNvSpPr>
            <a:spLocks noGrp="1"/>
          </p:cNvSpPr>
          <p:nvPr/>
        </p:nvSpPr>
        <p:spPr>
          <a:xfrm>
            <a:off x="1028700" y="5448300"/>
            <a:ext cx="916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成本低：論文特別強調避免 graph construction 的 offline overhead。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06203CB-DD37-41E9-92C7-22C5AF1636ED}"/>
              </a:ext>
            </a:extLst>
          </p:cNvPr>
          <p:cNvSpPr>
            <a:spLocks noGrp="1"/>
          </p:cNvSpPr>
          <p:nvPr/>
        </p:nvSpPr>
        <p:spPr>
          <a:xfrm>
            <a:off x="857250" y="5800725"/>
            <a:ext cx="85725" cy="85725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FC8E709-B967-4781-BCBE-AFA8E41C7CD7}"/>
              </a:ext>
            </a:extLst>
          </p:cNvPr>
          <p:cNvSpPr>
            <a:spLocks noGrp="1"/>
          </p:cNvSpPr>
          <p:nvPr/>
        </p:nvSpPr>
        <p:spPr>
          <a:xfrm>
            <a:off x="1028700" y="5753100"/>
            <a:ext cx="91630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限制：若答案用不同措辭表達，keyword search 可能找不到。</a:t>
            </a:r>
          </a:p>
        </p:txBody>
      </p:sp>
    </p:spTree>
    <p:extLst>
      <p:ext uri="{BB962C8B-B14F-4D97-AF65-F5344CB8AC3E}">
        <p14:creationId xmlns:p14="http://schemas.microsoft.com/office/powerpoint/2010/main" val="9324091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DD12435F-4899-4D3F-B0E9-F4EA099C88E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8AB0CAE-168B-4600-98E1-6C5AB7C5127C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2AF0C8-F0C6-4B44-8571-ACD27A42CBE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5A893C1-1F8B-42B1-B779-498B8504055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5A08799-3B41-487C-9DB9-65FDB3327EE1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09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7A0F7C-6BF1-47C2-8E4C-01455CEC2E88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Semantic Search：句子層級語意搜尋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7F7D3D6-E95A-45C2-943C-C7C9890CFD7C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2CC7B4-D4E2-4727-B8B3-198BEACD4CA4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用 dense embedding 找到語意相近的 sentence，再回溯到 parent chunk。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02363CBB-AF97-4D69-B772-BD089A0CAA27}"/>
              </a:ext>
            </a:extLst>
          </p:cNvPr>
          <p:cNvSpPr>
            <a:spLocks noGrp="1"/>
          </p:cNvSpPr>
          <p:nvPr/>
        </p:nvSpPr>
        <p:spPr>
          <a:xfrm>
            <a:off x="666750" y="2152650"/>
            <a:ext cx="171450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7A6FD3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8C9A9F6-DA8A-4860-952F-8A87DD6136F1}"/>
              </a:ext>
            </a:extLst>
          </p:cNvPr>
          <p:cNvSpPr>
            <a:spLocks noGrp="1"/>
          </p:cNvSpPr>
          <p:nvPr/>
        </p:nvSpPr>
        <p:spPr>
          <a:xfrm>
            <a:off x="800100" y="2266950"/>
            <a:ext cx="1447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rPr>
              <a:t>Question q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82919A-6849-44B6-9E76-9AFA2C302BDF}"/>
              </a:ext>
            </a:extLst>
          </p:cNvPr>
          <p:cNvSpPr>
            <a:spLocks noGrp="1"/>
          </p:cNvSpPr>
          <p:nvPr/>
        </p:nvSpPr>
        <p:spPr>
          <a:xfrm>
            <a:off x="800100" y="2533650"/>
            <a:ext cx="1447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natural language query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14D3A8F5-BC9F-4D85-83D9-BA2C22FA3B26}"/>
              </a:ext>
            </a:extLst>
          </p:cNvPr>
          <p:cNvSpPr>
            <a:spLocks noGrp="1"/>
          </p:cNvSpPr>
          <p:nvPr/>
        </p:nvSpPr>
        <p:spPr>
          <a:xfrm>
            <a:off x="3048000" y="2152650"/>
            <a:ext cx="180975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7A6FD3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A5E724C-842D-4BBF-999A-B79293A7D545}"/>
              </a:ext>
            </a:extLst>
          </p:cNvPr>
          <p:cNvSpPr>
            <a:spLocks noGrp="1"/>
          </p:cNvSpPr>
          <p:nvPr/>
        </p:nvSpPr>
        <p:spPr>
          <a:xfrm>
            <a:off x="3181350" y="22669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rPr>
              <a:t>Query Embedding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5870CA8-19FD-436A-B2BF-3B6840096CDF}"/>
              </a:ext>
            </a:extLst>
          </p:cNvPr>
          <p:cNvSpPr>
            <a:spLocks noGrp="1"/>
          </p:cNvSpPr>
          <p:nvPr/>
        </p:nvSpPr>
        <p:spPr>
          <a:xfrm>
            <a:off x="3181350" y="2533650"/>
            <a:ext cx="15430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vq = femb(q)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44C33C29-7B3C-4471-96EE-7E885591AE00}"/>
              </a:ext>
            </a:extLst>
          </p:cNvPr>
          <p:cNvSpPr>
            <a:spLocks noGrp="1"/>
          </p:cNvSpPr>
          <p:nvPr/>
        </p:nvSpPr>
        <p:spPr>
          <a:xfrm>
            <a:off x="5524500" y="2152650"/>
            <a:ext cx="200025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3F79D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BDC127D-DD90-41E9-ABD5-AD8FD0C3651B}"/>
              </a:ext>
            </a:extLst>
          </p:cNvPr>
          <p:cNvSpPr>
            <a:spLocks noGrp="1"/>
          </p:cNvSpPr>
          <p:nvPr/>
        </p:nvSpPr>
        <p:spPr>
          <a:xfrm>
            <a:off x="5657850" y="22669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rPr>
              <a:t>Sentence Embeddings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25C846C-685B-491D-804A-C305279563A6}"/>
              </a:ext>
            </a:extLst>
          </p:cNvPr>
          <p:cNvSpPr>
            <a:spLocks noGrp="1"/>
          </p:cNvSpPr>
          <p:nvPr/>
        </p:nvSpPr>
        <p:spPr>
          <a:xfrm>
            <a:off x="5657850" y="2533650"/>
            <a:ext cx="1733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vi,j = femb(si,j)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28B01631-A653-4F37-A8EF-F8BDF087E35D}"/>
              </a:ext>
            </a:extLst>
          </p:cNvPr>
          <p:cNvSpPr>
            <a:spLocks noGrp="1"/>
          </p:cNvSpPr>
          <p:nvPr/>
        </p:nvSpPr>
        <p:spPr>
          <a:xfrm>
            <a:off x="8191500" y="2152650"/>
            <a:ext cx="2000250" cy="781050"/>
          </a:xfrm>
          <a:prstGeom prst="roundRect">
            <a:avLst>
              <a:gd name="adj" fmla="val 9756"/>
            </a:avLst>
          </a:prstGeom>
          <a:solidFill>
            <a:srgbClr val="F4F7FB"/>
          </a:solidFill>
          <a:ln w="13335">
            <a:solidFill>
              <a:srgbClr val="2F9FB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551194-492E-40FE-B95D-F28CFBA681DF}"/>
              </a:ext>
            </a:extLst>
          </p:cNvPr>
          <p:cNvSpPr>
            <a:spLocks noGrp="1"/>
          </p:cNvSpPr>
          <p:nvPr/>
        </p:nvSpPr>
        <p:spPr>
          <a:xfrm>
            <a:off x="8324850" y="22669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rPr>
              <a:t>Top Sentences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2A360A3-5D4C-4550-9F51-6DD1FC1B6FC5}"/>
              </a:ext>
            </a:extLst>
          </p:cNvPr>
          <p:cNvSpPr>
            <a:spLocks noGrp="1"/>
          </p:cNvSpPr>
          <p:nvPr/>
        </p:nvSpPr>
        <p:spPr>
          <a:xfrm>
            <a:off x="8324850" y="2533650"/>
            <a:ext cx="17335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cosine similarity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042471E8-4DB5-42E0-8146-8E7A399EF746}"/>
              </a:ext>
            </a:extLst>
          </p:cNvPr>
          <p:cNvSpPr>
            <a:spLocks noGrp="1"/>
          </p:cNvSpPr>
          <p:nvPr/>
        </p:nvSpPr>
        <p:spPr>
          <a:xfrm>
            <a:off x="2419350" y="2524125"/>
            <a:ext cx="5715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FFFB79F9-EC8A-4477-A1B7-7C5B18F16856}"/>
              </a:ext>
            </a:extLst>
          </p:cNvPr>
          <p:cNvSpPr>
            <a:spLocks noGrp="1"/>
          </p:cNvSpPr>
          <p:nvPr/>
        </p:nvSpPr>
        <p:spPr>
          <a:xfrm>
            <a:off x="2914650" y="2466975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AFD343-3136-445B-A794-DE68E839874E}"/>
              </a:ext>
            </a:extLst>
          </p:cNvPr>
          <p:cNvSpPr>
            <a:spLocks noGrp="1"/>
          </p:cNvSpPr>
          <p:nvPr/>
        </p:nvSpPr>
        <p:spPr>
          <a:xfrm>
            <a:off x="4895850" y="2524125"/>
            <a:ext cx="5715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0601BD68-CC9B-4D45-9B8F-C476F3530176}"/>
              </a:ext>
            </a:extLst>
          </p:cNvPr>
          <p:cNvSpPr>
            <a:spLocks noGrp="1"/>
          </p:cNvSpPr>
          <p:nvPr/>
        </p:nvSpPr>
        <p:spPr>
          <a:xfrm>
            <a:off x="5391150" y="2466975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67ED28E-D754-4ED2-AB5A-D45BB756150A}"/>
              </a:ext>
            </a:extLst>
          </p:cNvPr>
          <p:cNvSpPr>
            <a:spLocks noGrp="1"/>
          </p:cNvSpPr>
          <p:nvPr/>
        </p:nvSpPr>
        <p:spPr>
          <a:xfrm>
            <a:off x="7562850" y="2524125"/>
            <a:ext cx="5715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EA85FC58-1BC5-4764-93D2-2317F896973E}"/>
              </a:ext>
            </a:extLst>
          </p:cNvPr>
          <p:cNvSpPr>
            <a:spLocks noGrp="1"/>
          </p:cNvSpPr>
          <p:nvPr/>
        </p:nvSpPr>
        <p:spPr>
          <a:xfrm>
            <a:off x="8058150" y="2466975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BFC4D4C4-2252-44A1-A204-DB3B0CA9C35B}"/>
              </a:ext>
            </a:extLst>
          </p:cNvPr>
          <p:cNvSpPr>
            <a:spLocks noGrp="1"/>
          </p:cNvSpPr>
          <p:nvPr/>
        </p:nvSpPr>
        <p:spPr>
          <a:xfrm>
            <a:off x="1104900" y="3676650"/>
            <a:ext cx="4095750" cy="990600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9525">
            <a:solidFill>
              <a:srgbClr val="7A6FD3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4B39CCBA-590D-40FD-AA18-B802B9BE116C}"/>
              </a:ext>
            </a:extLst>
          </p:cNvPr>
          <p:cNvSpPr>
            <a:spLocks noGrp="1"/>
          </p:cNvSpPr>
          <p:nvPr/>
        </p:nvSpPr>
        <p:spPr>
          <a:xfrm>
            <a:off x="1371600" y="3943350"/>
            <a:ext cx="342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7A6FD3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7A6FD3"/>
                </a:solidFill>
                <a:latin typeface="Aptos"/>
                <a:ea typeface="Aptos"/>
                <a:cs typeface="Aptos"/>
              </a:rPr>
              <a:t>Scoresem(sentence, q)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CB8CDF-391B-48F3-90DF-5DC2BC3FC657}"/>
              </a:ext>
            </a:extLst>
          </p:cNvPr>
          <p:cNvSpPr>
            <a:spLocks noGrp="1"/>
          </p:cNvSpPr>
          <p:nvPr/>
        </p:nvSpPr>
        <p:spPr>
          <a:xfrm>
            <a:off x="1371600" y="4286250"/>
            <a:ext cx="3333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≈ cosine(sentence_embedding, query_embedding)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69B1E0F9-F3EB-4577-9BD3-EC139832F477}"/>
              </a:ext>
            </a:extLst>
          </p:cNvPr>
          <p:cNvSpPr>
            <a:spLocks noGrp="1"/>
          </p:cNvSpPr>
          <p:nvPr/>
        </p:nvSpPr>
        <p:spPr>
          <a:xfrm>
            <a:off x="5905500" y="3676650"/>
            <a:ext cx="4000500" cy="990600"/>
          </a:xfrm>
          <a:prstGeom prst="roundRect">
            <a:avLst>
              <a:gd name="adj" fmla="val 7692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C0CC739-9A8B-4469-A668-0D0732079E73}"/>
              </a:ext>
            </a:extLst>
          </p:cNvPr>
          <p:cNvSpPr>
            <a:spLocks noGrp="1"/>
          </p:cNvSpPr>
          <p:nvPr/>
        </p:nvSpPr>
        <p:spPr>
          <a:xfrm>
            <a:off x="6172200" y="3943350"/>
            <a:ext cx="33337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0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每個 chunk 的 relevance 由其中最高分 sentence 決定，輸出 matched sentences 作為 snippets。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5E500CE0-60F5-482E-BAD1-76031419E797}"/>
              </a:ext>
            </a:extLst>
          </p:cNvPr>
          <p:cNvSpPr>
            <a:spLocks noGrp="1"/>
          </p:cNvSpPr>
          <p:nvPr/>
        </p:nvSpPr>
        <p:spPr>
          <a:xfrm>
            <a:off x="971550" y="5305425"/>
            <a:ext cx="85725" cy="85725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2082018-1C37-4FA5-A5C0-9D96789F074F}"/>
              </a:ext>
            </a:extLst>
          </p:cNvPr>
          <p:cNvSpPr>
            <a:spLocks noGrp="1"/>
          </p:cNvSpPr>
          <p:nvPr/>
        </p:nvSpPr>
        <p:spPr>
          <a:xfrm>
            <a:off x="1143000" y="5257800"/>
            <a:ext cx="906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適合 keyword search 找不到、但語意相關的情境。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AD036AA5-C8EB-4D2E-AFEF-C770289E4ABA}"/>
              </a:ext>
            </a:extLst>
          </p:cNvPr>
          <p:cNvSpPr>
            <a:spLocks noGrp="1"/>
          </p:cNvSpPr>
          <p:nvPr/>
        </p:nvSpPr>
        <p:spPr>
          <a:xfrm>
            <a:off x="971550" y="5591175"/>
            <a:ext cx="85725" cy="85725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8CF94C5-04D8-4FF6-977E-964D0CB24970}"/>
              </a:ext>
            </a:extLst>
          </p:cNvPr>
          <p:cNvSpPr>
            <a:spLocks noGrp="1"/>
          </p:cNvSpPr>
          <p:nvPr/>
        </p:nvSpPr>
        <p:spPr>
          <a:xfrm>
            <a:off x="1143000" y="5543550"/>
            <a:ext cx="906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比 chunk-level embedding 更細，能先定位關鍵句再決定讀哪個 chunk。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4B2AB5E-1111-45C4-956B-485A32E73904}"/>
              </a:ext>
            </a:extLst>
          </p:cNvPr>
          <p:cNvSpPr>
            <a:spLocks noGrp="1"/>
          </p:cNvSpPr>
          <p:nvPr/>
        </p:nvSpPr>
        <p:spPr>
          <a:xfrm>
            <a:off x="971550" y="5876925"/>
            <a:ext cx="85725" cy="85725"/>
          </a:xfrm>
          <a:prstGeom prst="rect">
            <a:avLst/>
          </a:prstGeom>
          <a:solidFill>
            <a:srgbClr val="7A6FD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7BDCD0E6-5B43-4BB0-8C87-2296423AE116}"/>
              </a:ext>
            </a:extLst>
          </p:cNvPr>
          <p:cNvSpPr>
            <a:spLocks noGrp="1"/>
          </p:cNvSpPr>
          <p:nvPr/>
        </p:nvSpPr>
        <p:spPr>
          <a:xfrm>
            <a:off x="1143000" y="5829300"/>
            <a:ext cx="90678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6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語意搜尋與 keyword search 互補，是 hierarchical interface 的關鍵。</a:t>
            </a:r>
          </a:p>
        </p:txBody>
      </p:sp>
    </p:spTree>
    <p:extLst>
      <p:ext uri="{BB962C8B-B14F-4D97-AF65-F5344CB8AC3E}">
        <p14:creationId xmlns:p14="http://schemas.microsoft.com/office/powerpoint/2010/main" val="151159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03255AD3-C59A-489D-8D1B-E304C4D93BE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1E914FB-0B79-4AF0-8A44-A05EBB9CC328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C4493F6-1F52-4468-B8B7-FB9555F40BB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07C288-20FB-483F-B196-A7DE07C9E801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234D638-2577-4BFB-B9E7-7885F4D021AE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10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D70DBF8-602C-4786-90E2-1C1EAE5A5BFB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Chunk Read：Progressive Information Acquisition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99B97AB-D8CD-4843-8352-8469E314CB2A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5E22FB3-9AD9-494C-9853-01445FD6A969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搜尋工具先回傳 snippets，agent 只在需要時讀完整 chunk。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E9D4E8EA-16FD-4D1E-BFD7-0BA412BDF285}"/>
              </a:ext>
            </a:extLst>
          </p:cNvPr>
          <p:cNvSpPr>
            <a:spLocks noGrp="1"/>
          </p:cNvSpPr>
          <p:nvPr/>
        </p:nvSpPr>
        <p:spPr>
          <a:xfrm>
            <a:off x="819150" y="2266950"/>
            <a:ext cx="2000250" cy="91440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3335">
            <a:solidFill>
              <a:srgbClr val="2F9FB8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529E168-272B-4802-A994-4745D689D9D6}"/>
              </a:ext>
            </a:extLst>
          </p:cNvPr>
          <p:cNvSpPr>
            <a:spLocks noGrp="1"/>
          </p:cNvSpPr>
          <p:nvPr/>
        </p:nvSpPr>
        <p:spPr>
          <a:xfrm>
            <a:off x="952500" y="2381250"/>
            <a:ext cx="1733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rPr>
              <a:t>Search Results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2AFCBD-4BF3-46DF-95DA-22619063EC15}"/>
              </a:ext>
            </a:extLst>
          </p:cNvPr>
          <p:cNvSpPr>
            <a:spLocks noGrp="1"/>
          </p:cNvSpPr>
          <p:nvPr/>
        </p:nvSpPr>
        <p:spPr>
          <a:xfrm>
            <a:off x="952500" y="2647950"/>
            <a:ext cx="17335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chunk id + short snippet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AB0BFE42-BDDD-409A-B14D-6338DFC25117}"/>
              </a:ext>
            </a:extLst>
          </p:cNvPr>
          <p:cNvSpPr>
            <a:spLocks noGrp="1"/>
          </p:cNvSpPr>
          <p:nvPr/>
        </p:nvSpPr>
        <p:spPr>
          <a:xfrm>
            <a:off x="3676650" y="22669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3335">
            <a:solidFill>
              <a:srgbClr val="D3A126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A718FD2-2DE8-46A2-9A67-16109ECDF9A0}"/>
              </a:ext>
            </a:extLst>
          </p:cNvPr>
          <p:cNvSpPr>
            <a:spLocks noGrp="1"/>
          </p:cNvSpPr>
          <p:nvPr/>
        </p:nvSpPr>
        <p:spPr>
          <a:xfrm>
            <a:off x="3810000" y="2381250"/>
            <a:ext cx="1828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Agent Judgment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E25A12C-3B14-4339-9441-952D0641A395}"/>
              </a:ext>
            </a:extLst>
          </p:cNvPr>
          <p:cNvSpPr>
            <a:spLocks noGrp="1"/>
          </p:cNvSpPr>
          <p:nvPr/>
        </p:nvSpPr>
        <p:spPr>
          <a:xfrm>
            <a:off x="3810000" y="2647950"/>
            <a:ext cx="1828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which chunks require full reading?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11EDF5C5-4CD5-4A01-8806-D15CFC5CCDF7}"/>
              </a:ext>
            </a:extLst>
          </p:cNvPr>
          <p:cNvSpPr>
            <a:spLocks noGrp="1"/>
          </p:cNvSpPr>
          <p:nvPr/>
        </p:nvSpPr>
        <p:spPr>
          <a:xfrm>
            <a:off x="6629400" y="2266950"/>
            <a:ext cx="2095500" cy="91440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3335">
            <a:solidFill>
              <a:srgbClr val="2F9D6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1960AC-908F-45EC-85DA-828E3A7C67EC}"/>
              </a:ext>
            </a:extLst>
          </p:cNvPr>
          <p:cNvSpPr>
            <a:spLocks noGrp="1"/>
          </p:cNvSpPr>
          <p:nvPr/>
        </p:nvSpPr>
        <p:spPr>
          <a:xfrm>
            <a:off x="6762750" y="2381250"/>
            <a:ext cx="18288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rPr>
              <a:t>chunk_read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95C21A7-D3CA-4124-9F5A-2874DE5845A5}"/>
              </a:ext>
            </a:extLst>
          </p:cNvPr>
          <p:cNvSpPr>
            <a:spLocks noGrp="1"/>
          </p:cNvSpPr>
          <p:nvPr/>
        </p:nvSpPr>
        <p:spPr>
          <a:xfrm>
            <a:off x="6762750" y="2647950"/>
            <a:ext cx="18288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full chunk + adjacent context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50976918-9D77-4318-AED8-FFE73A0D601E}"/>
              </a:ext>
            </a:extLst>
          </p:cNvPr>
          <p:cNvSpPr>
            <a:spLocks noGrp="1"/>
          </p:cNvSpPr>
          <p:nvPr/>
        </p:nvSpPr>
        <p:spPr>
          <a:xfrm>
            <a:off x="9486900" y="2266950"/>
            <a:ext cx="1428750" cy="914400"/>
          </a:xfrm>
          <a:prstGeom prst="roundRect">
            <a:avLst>
              <a:gd name="adj" fmla="val 8333"/>
            </a:avLst>
          </a:prstGeom>
          <a:solidFill>
            <a:srgbClr val="F4F7FB"/>
          </a:solidFill>
          <a:ln w="13335">
            <a:solidFill>
              <a:srgbClr val="3F79D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7133DB1-255B-4C09-BCC4-2836536F42F2}"/>
              </a:ext>
            </a:extLst>
          </p:cNvPr>
          <p:cNvSpPr>
            <a:spLocks noGrp="1"/>
          </p:cNvSpPr>
          <p:nvPr/>
        </p:nvSpPr>
        <p:spPr>
          <a:xfrm>
            <a:off x="9620250" y="2381250"/>
            <a:ext cx="1162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rPr>
              <a:t>Answer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922B19F-7577-4D2E-80E9-84AA448A37A1}"/>
              </a:ext>
            </a:extLst>
          </p:cNvPr>
          <p:cNvSpPr>
            <a:spLocks noGrp="1"/>
          </p:cNvSpPr>
          <p:nvPr/>
        </p:nvSpPr>
        <p:spPr>
          <a:xfrm>
            <a:off x="9620250" y="2647950"/>
            <a:ext cx="116205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evidence synthesis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247F32F-B32D-4BA1-A359-94F54222BCA9}"/>
              </a:ext>
            </a:extLst>
          </p:cNvPr>
          <p:cNvSpPr>
            <a:spLocks noGrp="1"/>
          </p:cNvSpPr>
          <p:nvPr/>
        </p:nvSpPr>
        <p:spPr>
          <a:xfrm>
            <a:off x="2857500" y="2705100"/>
            <a:ext cx="7620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64E923A9-1C22-4265-80A2-1215E9373AB6}"/>
              </a:ext>
            </a:extLst>
          </p:cNvPr>
          <p:cNvSpPr>
            <a:spLocks noGrp="1"/>
          </p:cNvSpPr>
          <p:nvPr/>
        </p:nvSpPr>
        <p:spPr>
          <a:xfrm>
            <a:off x="3543300" y="264795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F207200-8946-4770-85F6-93C23849F0E1}"/>
              </a:ext>
            </a:extLst>
          </p:cNvPr>
          <p:cNvSpPr>
            <a:spLocks noGrp="1"/>
          </p:cNvSpPr>
          <p:nvPr/>
        </p:nvSpPr>
        <p:spPr>
          <a:xfrm>
            <a:off x="5810250" y="2705100"/>
            <a:ext cx="76200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BCD06EFA-E4A7-46B0-B341-76A2E94A9640}"/>
              </a:ext>
            </a:extLst>
          </p:cNvPr>
          <p:cNvSpPr>
            <a:spLocks noGrp="1"/>
          </p:cNvSpPr>
          <p:nvPr/>
        </p:nvSpPr>
        <p:spPr>
          <a:xfrm>
            <a:off x="6496050" y="264795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901EB0C-9276-4CF2-92E8-3F1436E6E245}"/>
              </a:ext>
            </a:extLst>
          </p:cNvPr>
          <p:cNvSpPr>
            <a:spLocks noGrp="1"/>
          </p:cNvSpPr>
          <p:nvPr/>
        </p:nvSpPr>
        <p:spPr>
          <a:xfrm>
            <a:off x="8763000" y="2705100"/>
            <a:ext cx="66675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82B15841-5922-4574-ADAA-A4177460ABA5}"/>
              </a:ext>
            </a:extLst>
          </p:cNvPr>
          <p:cNvSpPr>
            <a:spLocks noGrp="1"/>
          </p:cNvSpPr>
          <p:nvPr/>
        </p:nvSpPr>
        <p:spPr>
          <a:xfrm>
            <a:off x="9353550" y="264795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27355C29-4E09-414C-BE40-97D366AAC989}"/>
              </a:ext>
            </a:extLst>
          </p:cNvPr>
          <p:cNvSpPr>
            <a:spLocks noGrp="1"/>
          </p:cNvSpPr>
          <p:nvPr/>
        </p:nvSpPr>
        <p:spPr>
          <a:xfrm>
            <a:off x="914400" y="3886200"/>
            <a:ext cx="4476750" cy="1123950"/>
          </a:xfrm>
          <a:prstGeom prst="roundRect">
            <a:avLst>
              <a:gd name="adj" fmla="val 6780"/>
            </a:avLst>
          </a:prstGeom>
          <a:solidFill>
            <a:srgbClr val="F4F7FB"/>
          </a:solidFill>
          <a:ln w="9525">
            <a:solidFill>
              <a:srgbClr val="2F9D64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2E89D7F4-69F7-4320-B184-4FF96E770723}"/>
              </a:ext>
            </a:extLst>
          </p:cNvPr>
          <p:cNvSpPr>
            <a:spLocks noGrp="1"/>
          </p:cNvSpPr>
          <p:nvPr/>
        </p:nvSpPr>
        <p:spPr>
          <a:xfrm>
            <a:off x="1162050" y="413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rPr>
              <a:t>Context Tracker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206935A5-37D9-42A5-BC64-B7FDE8749925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3714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已讀過的 chunk 會被記錄；重複讀取時只回傳提示，不再消耗 context tokens。</a:t>
            </a:r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C63C7622-8CB8-436A-B828-20D00A6F09D3}"/>
              </a:ext>
            </a:extLst>
          </p:cNvPr>
          <p:cNvSpPr>
            <a:spLocks noGrp="1"/>
          </p:cNvSpPr>
          <p:nvPr/>
        </p:nvSpPr>
        <p:spPr>
          <a:xfrm>
            <a:off x="6019800" y="3886200"/>
            <a:ext cx="4476750" cy="1123950"/>
          </a:xfrm>
          <a:prstGeom prst="roundRect">
            <a:avLst>
              <a:gd name="adj" fmla="val 6780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C90FECB-3F42-4B40-8B24-5F8B59B3B912}"/>
              </a:ext>
            </a:extLst>
          </p:cNvPr>
          <p:cNvSpPr>
            <a:spLocks noGrp="1"/>
          </p:cNvSpPr>
          <p:nvPr/>
        </p:nvSpPr>
        <p:spPr>
          <a:xfrm>
            <a:off x="6267450" y="4133850"/>
            <a:ext cx="4000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設計價值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47CC7269-2BBF-4932-ABFD-22F778C56F21}"/>
              </a:ext>
            </a:extLst>
          </p:cNvPr>
          <p:cNvSpPr>
            <a:spLocks noGrp="1"/>
          </p:cNvSpPr>
          <p:nvPr/>
        </p:nvSpPr>
        <p:spPr>
          <a:xfrm>
            <a:off x="6267450" y="4457700"/>
            <a:ext cx="36766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讓模型先看線索再深入閱讀，避免一次放入大量無關內容。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3DCA5F3-F877-4453-95E9-59E2936ED080}"/>
              </a:ext>
            </a:extLst>
          </p:cNvPr>
          <p:cNvSpPr>
            <a:spLocks noGrp="1"/>
          </p:cNvSpPr>
          <p:nvPr/>
        </p:nvSpPr>
        <p:spPr>
          <a:xfrm>
            <a:off x="1066800" y="5610225"/>
            <a:ext cx="85725" cy="85725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2FF5C58-F312-49BC-B5EA-D8E74218445C}"/>
              </a:ext>
            </a:extLst>
          </p:cNvPr>
          <p:cNvSpPr>
            <a:spLocks noGrp="1"/>
          </p:cNvSpPr>
          <p:nvPr/>
        </p:nvSpPr>
        <p:spPr>
          <a:xfrm>
            <a:off x="1238250" y="5562600"/>
            <a:ext cx="897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Chunk Read 是 A-RAG 與單純 embedding search 的重要差異。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6AAB90-82F1-480B-A50D-DEC9E1E771A3}"/>
              </a:ext>
            </a:extLst>
          </p:cNvPr>
          <p:cNvSpPr>
            <a:spLocks noGrp="1"/>
          </p:cNvSpPr>
          <p:nvPr/>
        </p:nvSpPr>
        <p:spPr>
          <a:xfrm>
            <a:off x="1066800" y="5876925"/>
            <a:ext cx="85725" cy="85725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804E00B-0784-4064-A4E0-5FC97DC9537A}"/>
              </a:ext>
            </a:extLst>
          </p:cNvPr>
          <p:cNvSpPr>
            <a:spLocks noGrp="1"/>
          </p:cNvSpPr>
          <p:nvPr/>
        </p:nvSpPr>
        <p:spPr>
          <a:xfrm>
            <a:off x="1238250" y="5829300"/>
            <a:ext cx="89725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它讓 retrieval 從「一次選 top-k」變成「多輪查證與證據蒐集」。</a:t>
            </a:r>
          </a:p>
        </p:txBody>
      </p:sp>
    </p:spTree>
    <p:extLst>
      <p:ext uri="{BB962C8B-B14F-4D97-AF65-F5344CB8AC3E}">
        <p14:creationId xmlns:p14="http://schemas.microsoft.com/office/powerpoint/2010/main" val="15734647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>
            <a:extLst>
              <a:ext uri="{FF2B5EF4-FFF2-40B4-BE49-F238E27FC236}">
                <a16:creationId xmlns:a16="http://schemas.microsoft.com/office/drawing/2014/main" id="{04D7C63C-73D2-4E2E-B2E5-4DC7465EB9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AE702F-779F-44EC-B52E-00D89ABEA694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666B7D-00AE-4CA7-8B23-FBF455092A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7FA604-A0A3-4153-980B-A1A0FA8E46FE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8FE0E90-9A7B-43BF-83F4-5FA40B8F4606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11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E08D889-2790-42B8-8490-A2D18507529F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Agent Loop：ReAct-like 工具呼叫流程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B514719-069D-4BD6-B4A5-41843E07CB43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C2CC67E-5886-4D45-9D9C-27F5C26EFF22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A-RAG 採最簡單的 agent loop，以隔離 hierarchical interface 的效果。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1B48855-7E60-4634-B4B2-10E0CF076E41}"/>
              </a:ext>
            </a:extLst>
          </p:cNvPr>
          <p:cNvSpPr>
            <a:spLocks noGrp="1"/>
          </p:cNvSpPr>
          <p:nvPr/>
        </p:nvSpPr>
        <p:spPr>
          <a:xfrm>
            <a:off x="1143000" y="20002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 w="13335">
            <a:solidFill>
              <a:srgbClr val="D3A12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770098-3E88-43BA-8A25-0068F8D8B32C}"/>
              </a:ext>
            </a:extLst>
          </p:cNvPr>
          <p:cNvSpPr>
            <a:spLocks noGrp="1"/>
          </p:cNvSpPr>
          <p:nvPr/>
        </p:nvSpPr>
        <p:spPr>
          <a:xfrm>
            <a:off x="1276350" y="21145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Reason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F497269-8678-463F-B23B-981B77F42FC2}"/>
              </a:ext>
            </a:extLst>
          </p:cNvPr>
          <p:cNvSpPr>
            <a:spLocks noGrp="1"/>
          </p:cNvSpPr>
          <p:nvPr/>
        </p:nvSpPr>
        <p:spPr>
          <a:xfrm>
            <a:off x="1276350" y="2381250"/>
            <a:ext cx="1543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model decides what evidence is missing</a:t>
            </a:r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0871E625-3246-494F-B70D-52695222770D}"/>
              </a:ext>
            </a:extLst>
          </p:cNvPr>
          <p:cNvSpPr>
            <a:spLocks noGrp="1"/>
          </p:cNvSpPr>
          <p:nvPr/>
        </p:nvSpPr>
        <p:spPr>
          <a:xfrm>
            <a:off x="4095750" y="20002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 w="13335">
            <a:solidFill>
              <a:srgbClr val="2F9FB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F1FA06-C9C4-4623-91EC-1168FD8AE42D}"/>
              </a:ext>
            </a:extLst>
          </p:cNvPr>
          <p:cNvSpPr>
            <a:spLocks noGrp="1"/>
          </p:cNvSpPr>
          <p:nvPr/>
        </p:nvSpPr>
        <p:spPr>
          <a:xfrm>
            <a:off x="4229100" y="21145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FB8"/>
                </a:solidFill>
                <a:latin typeface="Microsoft JhengHei"/>
                <a:ea typeface="Microsoft JhengHei"/>
                <a:cs typeface="Microsoft JhengHei"/>
              </a:rPr>
              <a:t>Tool Call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7E268EF-6109-475A-B227-97AD912BD654}"/>
              </a:ext>
            </a:extLst>
          </p:cNvPr>
          <p:cNvSpPr>
            <a:spLocks noGrp="1"/>
          </p:cNvSpPr>
          <p:nvPr/>
        </p:nvSpPr>
        <p:spPr>
          <a:xfrm>
            <a:off x="4229100" y="2381250"/>
            <a:ext cx="1543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choose one tool per iteration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6992E27F-5646-455C-93DC-664316B68982}"/>
              </a:ext>
            </a:extLst>
          </p:cNvPr>
          <p:cNvSpPr>
            <a:spLocks noGrp="1"/>
          </p:cNvSpPr>
          <p:nvPr/>
        </p:nvSpPr>
        <p:spPr>
          <a:xfrm>
            <a:off x="7048500" y="20002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 w="13335">
            <a:solidFill>
              <a:srgbClr val="2F9D64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759F37B-B6C0-4408-938B-97197C6DBA4D}"/>
              </a:ext>
            </a:extLst>
          </p:cNvPr>
          <p:cNvSpPr>
            <a:spLocks noGrp="1"/>
          </p:cNvSpPr>
          <p:nvPr/>
        </p:nvSpPr>
        <p:spPr>
          <a:xfrm>
            <a:off x="7181850" y="21145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rPr>
              <a:t>Observation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9230D08-D5BA-411C-B3E0-FFBF46A84496}"/>
              </a:ext>
            </a:extLst>
          </p:cNvPr>
          <p:cNvSpPr>
            <a:spLocks noGrp="1"/>
          </p:cNvSpPr>
          <p:nvPr/>
        </p:nvSpPr>
        <p:spPr>
          <a:xfrm>
            <a:off x="7181850" y="2381250"/>
            <a:ext cx="1543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read snippets or chunks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3302EE20-E7E0-4F7E-A4BE-1A1EDBE19E11}"/>
              </a:ext>
            </a:extLst>
          </p:cNvPr>
          <p:cNvSpPr>
            <a:spLocks noGrp="1"/>
          </p:cNvSpPr>
          <p:nvPr/>
        </p:nvSpPr>
        <p:spPr>
          <a:xfrm>
            <a:off x="4095750" y="39433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4F7FB"/>
          </a:solidFill>
          <a:ln w="13335">
            <a:solidFill>
              <a:srgbClr val="3F79D6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420C2A7-7981-4A98-9E43-5EE583365293}"/>
              </a:ext>
            </a:extLst>
          </p:cNvPr>
          <p:cNvSpPr>
            <a:spLocks noGrp="1"/>
          </p:cNvSpPr>
          <p:nvPr/>
        </p:nvSpPr>
        <p:spPr>
          <a:xfrm>
            <a:off x="4229100" y="4057650"/>
            <a:ext cx="15430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1">
                <a:solidFill>
                  <a:srgbClr val="3F79D6"/>
                </a:solidFill>
                <a:latin typeface="Microsoft JhengHei"/>
                <a:ea typeface="Microsoft JhengHei"/>
                <a:cs typeface="Microsoft JhengHei"/>
              </a:rPr>
              <a:t>Final Answer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5503E86-DF78-4823-A339-9AA614AB79C3}"/>
              </a:ext>
            </a:extLst>
          </p:cNvPr>
          <p:cNvSpPr>
            <a:spLocks noGrp="1"/>
          </p:cNvSpPr>
          <p:nvPr/>
        </p:nvSpPr>
        <p:spPr>
          <a:xfrm>
            <a:off x="4229100" y="4324350"/>
            <a:ext cx="15430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synthesize when evidence is enough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22C0B202-D04F-45A6-9BA9-9BD50AFD3894}"/>
              </a:ext>
            </a:extLst>
          </p:cNvPr>
          <p:cNvSpPr>
            <a:spLocks noGrp="1"/>
          </p:cNvSpPr>
          <p:nvPr/>
        </p:nvSpPr>
        <p:spPr>
          <a:xfrm>
            <a:off x="2990850" y="2381250"/>
            <a:ext cx="104775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等腰三角形 21">
            <a:extLst>
              <a:ext uri="{FF2B5EF4-FFF2-40B4-BE49-F238E27FC236}">
                <a16:creationId xmlns:a16="http://schemas.microsoft.com/office/drawing/2014/main" id="{FF6CEADA-F8E2-420D-BE8A-DEAD0D2E14CF}"/>
              </a:ext>
            </a:extLst>
          </p:cNvPr>
          <p:cNvSpPr>
            <a:spLocks noGrp="1"/>
          </p:cNvSpPr>
          <p:nvPr/>
        </p:nvSpPr>
        <p:spPr>
          <a:xfrm>
            <a:off x="3962400" y="232410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456963A-5374-4C4C-B94F-062EA48E76DA}"/>
              </a:ext>
            </a:extLst>
          </p:cNvPr>
          <p:cNvSpPr>
            <a:spLocks noGrp="1"/>
          </p:cNvSpPr>
          <p:nvPr/>
        </p:nvSpPr>
        <p:spPr>
          <a:xfrm>
            <a:off x="5943600" y="2381250"/>
            <a:ext cx="104775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等腰三角形 23">
            <a:extLst>
              <a:ext uri="{FF2B5EF4-FFF2-40B4-BE49-F238E27FC236}">
                <a16:creationId xmlns:a16="http://schemas.microsoft.com/office/drawing/2014/main" id="{51CD39DB-0068-4FA2-A290-99656EA105E9}"/>
              </a:ext>
            </a:extLst>
          </p:cNvPr>
          <p:cNvSpPr>
            <a:spLocks noGrp="1"/>
          </p:cNvSpPr>
          <p:nvPr/>
        </p:nvSpPr>
        <p:spPr>
          <a:xfrm>
            <a:off x="6915150" y="232410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209BC19-4140-44B2-8D1A-4DCF47DFDCBB}"/>
              </a:ext>
            </a:extLst>
          </p:cNvPr>
          <p:cNvSpPr>
            <a:spLocks noGrp="1"/>
          </p:cNvSpPr>
          <p:nvPr/>
        </p:nvSpPr>
        <p:spPr>
          <a:xfrm>
            <a:off x="4981575" y="2838450"/>
            <a:ext cx="38100" cy="10287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等腰三角形 25">
            <a:extLst>
              <a:ext uri="{FF2B5EF4-FFF2-40B4-BE49-F238E27FC236}">
                <a16:creationId xmlns:a16="http://schemas.microsoft.com/office/drawing/2014/main" id="{7B557965-FBB4-49AC-9AE1-08648EA7EAEC}"/>
              </a:ext>
            </a:extLst>
          </p:cNvPr>
          <p:cNvSpPr>
            <a:spLocks noGrp="1"/>
          </p:cNvSpPr>
          <p:nvPr/>
        </p:nvSpPr>
        <p:spPr>
          <a:xfrm>
            <a:off x="4924425" y="382905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D115E50-2DC4-4AB3-8246-48FDEB2A0349}"/>
              </a:ext>
            </a:extLst>
          </p:cNvPr>
          <p:cNvSpPr>
            <a:spLocks noGrp="1"/>
          </p:cNvSpPr>
          <p:nvPr/>
        </p:nvSpPr>
        <p:spPr>
          <a:xfrm>
            <a:off x="7962900" y="2857500"/>
            <a:ext cx="38100" cy="40005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59F8000-2502-4959-AC52-2FB09B2E3E1B}"/>
              </a:ext>
            </a:extLst>
          </p:cNvPr>
          <p:cNvSpPr>
            <a:spLocks noGrp="1"/>
          </p:cNvSpPr>
          <p:nvPr/>
        </p:nvSpPr>
        <p:spPr>
          <a:xfrm>
            <a:off x="4991100" y="3238500"/>
            <a:ext cx="2990850" cy="38100"/>
          </a:xfrm>
          <a:prstGeom prst="rect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等腰三角形 28">
            <a:extLst>
              <a:ext uri="{FF2B5EF4-FFF2-40B4-BE49-F238E27FC236}">
                <a16:creationId xmlns:a16="http://schemas.microsoft.com/office/drawing/2014/main" id="{2265C477-6155-42F0-AEF3-33B667A85EDE}"/>
              </a:ext>
            </a:extLst>
          </p:cNvPr>
          <p:cNvSpPr>
            <a:spLocks noGrp="1"/>
          </p:cNvSpPr>
          <p:nvPr/>
        </p:nvSpPr>
        <p:spPr>
          <a:xfrm>
            <a:off x="4914900" y="3181350"/>
            <a:ext cx="152400" cy="152400"/>
          </a:xfrm>
          <a:prstGeom prst="triangle">
            <a:avLst/>
          </a:prstGeom>
          <a:solidFill>
            <a:srgbClr val="8798AD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F5F0B3BD-9243-433A-8546-54C8343EB584}"/>
              </a:ext>
            </a:extLst>
          </p:cNvPr>
          <p:cNvSpPr>
            <a:spLocks noGrp="1"/>
          </p:cNvSpPr>
          <p:nvPr/>
        </p:nvSpPr>
        <p:spPr>
          <a:xfrm>
            <a:off x="723900" y="5219700"/>
            <a:ext cx="9925050" cy="704850"/>
          </a:xfrm>
          <a:prstGeom prst="roundRect">
            <a:avLst>
              <a:gd name="adj" fmla="val 10811"/>
            </a:avLst>
          </a:prstGeom>
          <a:solidFill>
            <a:srgbClr val="F4F7FB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FBCB541-D131-4486-8928-0481E376EE0C}"/>
              </a:ext>
            </a:extLst>
          </p:cNvPr>
          <p:cNvSpPr>
            <a:spLocks noGrp="1"/>
          </p:cNvSpPr>
          <p:nvPr/>
        </p:nvSpPr>
        <p:spPr>
          <a:xfrm>
            <a:off x="1009650" y="543877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F8BE629C-C27F-4C9D-B3A6-689478C381E5}"/>
              </a:ext>
            </a:extLst>
          </p:cNvPr>
          <p:cNvSpPr>
            <a:spLocks noGrp="1"/>
          </p:cNvSpPr>
          <p:nvPr/>
        </p:nvSpPr>
        <p:spPr>
          <a:xfrm>
            <a:off x="1181100" y="5391150"/>
            <a:ext cx="897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每輪只選一個工具，避免複雜 orchestration 造成混淆。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F0B31E33-58E0-4A30-ADB3-37B479A8B046}"/>
              </a:ext>
            </a:extLst>
          </p:cNvPr>
          <p:cNvSpPr>
            <a:spLocks noGrp="1"/>
          </p:cNvSpPr>
          <p:nvPr/>
        </p:nvSpPr>
        <p:spPr>
          <a:xfrm>
            <a:off x="1009650" y="562927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5D0A7E6-B462-4390-9782-7AFEC994A440}"/>
              </a:ext>
            </a:extLst>
          </p:cNvPr>
          <p:cNvSpPr>
            <a:spLocks noGrp="1"/>
          </p:cNvSpPr>
          <p:nvPr/>
        </p:nvSpPr>
        <p:spPr>
          <a:xfrm>
            <a:off x="1181100" y="5581650"/>
            <a:ext cx="897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達到 max iterations 仍未回答時，要求模型根據已收集資訊整理答案。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059AD05F-3BFF-44F7-B26E-E45CF51EA2E5}"/>
              </a:ext>
            </a:extLst>
          </p:cNvPr>
          <p:cNvSpPr>
            <a:spLocks noGrp="1"/>
          </p:cNvSpPr>
          <p:nvPr/>
        </p:nvSpPr>
        <p:spPr>
          <a:xfrm>
            <a:off x="1009650" y="581977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FD0539F-EDA4-476E-935B-6C892D82538B}"/>
              </a:ext>
            </a:extLst>
          </p:cNvPr>
          <p:cNvSpPr>
            <a:spLocks noGrp="1"/>
          </p:cNvSpPr>
          <p:nvPr/>
        </p:nvSpPr>
        <p:spPr>
          <a:xfrm>
            <a:off x="1181100" y="5772150"/>
            <a:ext cx="89725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4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45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重點不是 fancy agent，而是檢驗工具介面是否能讓模型自然形成有效策略。</a:t>
            </a:r>
          </a:p>
        </p:txBody>
      </p:sp>
    </p:spTree>
    <p:extLst>
      <p:ext uri="{BB962C8B-B14F-4D97-AF65-F5344CB8AC3E}">
        <p14:creationId xmlns:p14="http://schemas.microsoft.com/office/powerpoint/2010/main" val="14383659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矩形 43">
            <a:extLst>
              <a:ext uri="{FF2B5EF4-FFF2-40B4-BE49-F238E27FC236}">
                <a16:creationId xmlns:a16="http://schemas.microsoft.com/office/drawing/2014/main" id="{C75E2D11-2726-4BB9-96FB-90F97323BC3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399D88C-C3DA-4F03-9524-E06004012E70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3C6B7FA-C497-41F7-BCE9-5BC06AB3BB6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C7F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3EC90BE-2614-4E73-8061-C0DC78BA1F44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338A32-BC6C-4B51-BC6F-E3C774B95137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12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FB2CAE-226C-4726-8B17-A4E7B5538760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實驗設定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4B19D47-C47A-4E6E-B447-985E2A669DA7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C7F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C2D865E-F0A0-472C-8C4C-1A37D19CFBD8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論文以多個 multi-hop QA benchmark 測試 A-RAG 的準確率與 context efficiency。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DDA5F2FC-D40C-43A7-AA3D-CFB98191F76B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1428750" cy="454025"/>
          </a:xfrm>
          <a:prstGeom prst="roundRect">
            <a:avLst>
              <a:gd name="adj" fmla="val 16783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E02983E-90C8-4A49-B11C-35D8F3BC9F0E}"/>
              </a:ext>
            </a:extLst>
          </p:cNvPr>
          <p:cNvSpPr>
            <a:spLocks noGrp="1"/>
          </p:cNvSpPr>
          <p:nvPr/>
        </p:nvSpPr>
        <p:spPr>
          <a:xfrm>
            <a:off x="647700" y="2095500"/>
            <a:ext cx="12763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8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8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類別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018291D8-6017-430A-835C-84A42390E957}"/>
              </a:ext>
            </a:extLst>
          </p:cNvPr>
          <p:cNvSpPr>
            <a:spLocks noGrp="1"/>
          </p:cNvSpPr>
          <p:nvPr/>
        </p:nvSpPr>
        <p:spPr>
          <a:xfrm>
            <a:off x="2000250" y="2019300"/>
            <a:ext cx="5334000" cy="454025"/>
          </a:xfrm>
          <a:prstGeom prst="roundRect">
            <a:avLst>
              <a:gd name="adj" fmla="val 16783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F60570-6AD7-4A0E-8969-B24C21E2CC65}"/>
              </a:ext>
            </a:extLst>
          </p:cNvPr>
          <p:cNvSpPr>
            <a:spLocks noGrp="1"/>
          </p:cNvSpPr>
          <p:nvPr/>
        </p:nvSpPr>
        <p:spPr>
          <a:xfrm>
            <a:off x="2076450" y="2095500"/>
            <a:ext cx="5181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8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8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設定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7D80ED74-0973-4068-B949-30AC347BAC93}"/>
              </a:ext>
            </a:extLst>
          </p:cNvPr>
          <p:cNvSpPr>
            <a:spLocks noGrp="1"/>
          </p:cNvSpPr>
          <p:nvPr/>
        </p:nvSpPr>
        <p:spPr>
          <a:xfrm>
            <a:off x="571500" y="2473325"/>
            <a:ext cx="1428750" cy="454025"/>
          </a:xfrm>
          <a:prstGeom prst="roundRect">
            <a:avLst>
              <a:gd name="adj" fmla="val 1678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23B2EDB-BB26-4B5A-860D-1259122436A3}"/>
              </a:ext>
            </a:extLst>
          </p:cNvPr>
          <p:cNvSpPr>
            <a:spLocks noGrp="1"/>
          </p:cNvSpPr>
          <p:nvPr/>
        </p:nvSpPr>
        <p:spPr>
          <a:xfrm>
            <a:off x="647700" y="2549525"/>
            <a:ext cx="12763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Datasets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C07F5283-B615-46C7-9E69-937BC26B47CF}"/>
              </a:ext>
            </a:extLst>
          </p:cNvPr>
          <p:cNvSpPr>
            <a:spLocks noGrp="1"/>
          </p:cNvSpPr>
          <p:nvPr/>
        </p:nvSpPr>
        <p:spPr>
          <a:xfrm>
            <a:off x="2000250" y="2473325"/>
            <a:ext cx="5334000" cy="454025"/>
          </a:xfrm>
          <a:prstGeom prst="roundRect">
            <a:avLst>
              <a:gd name="adj" fmla="val 1678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3B61A82-5BB6-4C69-85DA-4750195B2EF5}"/>
              </a:ext>
            </a:extLst>
          </p:cNvPr>
          <p:cNvSpPr>
            <a:spLocks noGrp="1"/>
          </p:cNvSpPr>
          <p:nvPr/>
        </p:nvSpPr>
        <p:spPr>
          <a:xfrm>
            <a:off x="2076450" y="2549525"/>
            <a:ext cx="5181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MuSiQue, HotpotQA, 2WikiMultiHopQA, GraphRAG-Bench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214A2D2C-4BBA-479E-A800-29F9642952F2}"/>
              </a:ext>
            </a:extLst>
          </p:cNvPr>
          <p:cNvSpPr>
            <a:spLocks noGrp="1"/>
          </p:cNvSpPr>
          <p:nvPr/>
        </p:nvSpPr>
        <p:spPr>
          <a:xfrm>
            <a:off x="571500" y="2927350"/>
            <a:ext cx="1428750" cy="45402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EDC4B70-2352-47A2-803C-C821425BDABD}"/>
              </a:ext>
            </a:extLst>
          </p:cNvPr>
          <p:cNvSpPr>
            <a:spLocks noGrp="1"/>
          </p:cNvSpPr>
          <p:nvPr/>
        </p:nvSpPr>
        <p:spPr>
          <a:xfrm>
            <a:off x="647700" y="3003550"/>
            <a:ext cx="12763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Baselines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3E0284F9-2DAC-4D48-B5E8-4501A8444A5F}"/>
              </a:ext>
            </a:extLst>
          </p:cNvPr>
          <p:cNvSpPr>
            <a:spLocks noGrp="1"/>
          </p:cNvSpPr>
          <p:nvPr/>
        </p:nvSpPr>
        <p:spPr>
          <a:xfrm>
            <a:off x="2000250" y="2927350"/>
            <a:ext cx="5334000" cy="45402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D987A0B-35E8-4C34-ACED-EFC37EF40062}"/>
              </a:ext>
            </a:extLst>
          </p:cNvPr>
          <p:cNvSpPr>
            <a:spLocks noGrp="1"/>
          </p:cNvSpPr>
          <p:nvPr/>
        </p:nvSpPr>
        <p:spPr>
          <a:xfrm>
            <a:off x="2076450" y="3003550"/>
            <a:ext cx="5181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Direct Answer, Naive RAG, GraphRAG, HippoRAG2, LinearRAG, FaithfulRAG, MA-RAG, RAGentA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DA8CE46D-0826-42C2-BDDD-5A799F88B1D1}"/>
              </a:ext>
            </a:extLst>
          </p:cNvPr>
          <p:cNvSpPr>
            <a:spLocks noGrp="1"/>
          </p:cNvSpPr>
          <p:nvPr/>
        </p:nvSpPr>
        <p:spPr>
          <a:xfrm>
            <a:off x="571500" y="3381375"/>
            <a:ext cx="1428750" cy="454025"/>
          </a:xfrm>
          <a:prstGeom prst="roundRect">
            <a:avLst>
              <a:gd name="adj" fmla="val 1678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7B9401B-D689-472B-B944-53E839AC69CA}"/>
              </a:ext>
            </a:extLst>
          </p:cNvPr>
          <p:cNvSpPr>
            <a:spLocks noGrp="1"/>
          </p:cNvSpPr>
          <p:nvPr/>
        </p:nvSpPr>
        <p:spPr>
          <a:xfrm>
            <a:off x="647700" y="3457575"/>
            <a:ext cx="12763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Ours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D26E2EC9-A6C8-4794-899B-C9296F8F63E5}"/>
              </a:ext>
            </a:extLst>
          </p:cNvPr>
          <p:cNvSpPr>
            <a:spLocks noGrp="1"/>
          </p:cNvSpPr>
          <p:nvPr/>
        </p:nvSpPr>
        <p:spPr>
          <a:xfrm>
            <a:off x="2000250" y="3381375"/>
            <a:ext cx="5334000" cy="454025"/>
          </a:xfrm>
          <a:prstGeom prst="roundRect">
            <a:avLst>
              <a:gd name="adj" fmla="val 1678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65D33CC-C6E5-4D8E-9B8F-7245EB4E8101}"/>
              </a:ext>
            </a:extLst>
          </p:cNvPr>
          <p:cNvSpPr>
            <a:spLocks noGrp="1"/>
          </p:cNvSpPr>
          <p:nvPr/>
        </p:nvSpPr>
        <p:spPr>
          <a:xfrm>
            <a:off x="2076450" y="3457575"/>
            <a:ext cx="5181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(Naive): single embedding tool；A-RAG (Full): 3 tools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FC542515-112B-49AA-BEF0-2A918CD6B2E4}"/>
              </a:ext>
            </a:extLst>
          </p:cNvPr>
          <p:cNvSpPr>
            <a:spLocks noGrp="1"/>
          </p:cNvSpPr>
          <p:nvPr/>
        </p:nvSpPr>
        <p:spPr>
          <a:xfrm>
            <a:off x="571500" y="3835400"/>
            <a:ext cx="1428750" cy="45402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60C1DFF-AF35-47F8-8D3D-C4CB4CE9C94D}"/>
              </a:ext>
            </a:extLst>
          </p:cNvPr>
          <p:cNvSpPr>
            <a:spLocks noGrp="1"/>
          </p:cNvSpPr>
          <p:nvPr/>
        </p:nvSpPr>
        <p:spPr>
          <a:xfrm>
            <a:off x="647700" y="3911600"/>
            <a:ext cx="12763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Backbone LLMs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61E1FA8F-4207-4F01-8EC2-F8476CBE4881}"/>
              </a:ext>
            </a:extLst>
          </p:cNvPr>
          <p:cNvSpPr>
            <a:spLocks noGrp="1"/>
          </p:cNvSpPr>
          <p:nvPr/>
        </p:nvSpPr>
        <p:spPr>
          <a:xfrm>
            <a:off x="2000250" y="3835400"/>
            <a:ext cx="5334000" cy="454025"/>
          </a:xfrm>
          <a:prstGeom prst="roundRect">
            <a:avLst>
              <a:gd name="adj" fmla="val 16783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90B14AB-2015-41C9-BEB2-CF347BE0C03B}"/>
              </a:ext>
            </a:extLst>
          </p:cNvPr>
          <p:cNvSpPr>
            <a:spLocks noGrp="1"/>
          </p:cNvSpPr>
          <p:nvPr/>
        </p:nvSpPr>
        <p:spPr>
          <a:xfrm>
            <a:off x="2076450" y="3911600"/>
            <a:ext cx="5181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GPT-4o-mini, GPT-5-mini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B41502BE-BDFE-4FF0-B162-29643D8B37C1}"/>
              </a:ext>
            </a:extLst>
          </p:cNvPr>
          <p:cNvSpPr>
            <a:spLocks noGrp="1"/>
          </p:cNvSpPr>
          <p:nvPr/>
        </p:nvSpPr>
        <p:spPr>
          <a:xfrm>
            <a:off x="571500" y="4289425"/>
            <a:ext cx="1428750" cy="454025"/>
          </a:xfrm>
          <a:prstGeom prst="roundRect">
            <a:avLst>
              <a:gd name="adj" fmla="val 1678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E7B555BC-EC09-4C08-8F55-A25D7FBA3936}"/>
              </a:ext>
            </a:extLst>
          </p:cNvPr>
          <p:cNvSpPr>
            <a:spLocks noGrp="1"/>
          </p:cNvSpPr>
          <p:nvPr/>
        </p:nvSpPr>
        <p:spPr>
          <a:xfrm>
            <a:off x="647700" y="4365625"/>
            <a:ext cx="127635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D4BA144E-D2CD-4FA4-B97A-52B6DFC3ABFA}"/>
              </a:ext>
            </a:extLst>
          </p:cNvPr>
          <p:cNvSpPr>
            <a:spLocks noGrp="1"/>
          </p:cNvSpPr>
          <p:nvPr/>
        </p:nvSpPr>
        <p:spPr>
          <a:xfrm>
            <a:off x="2000250" y="4289425"/>
            <a:ext cx="5334000" cy="454025"/>
          </a:xfrm>
          <a:prstGeom prst="roundRect">
            <a:avLst>
              <a:gd name="adj" fmla="val 16783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91C1DDEE-E9B5-4CCD-805F-35A3CD69C01A}"/>
              </a:ext>
            </a:extLst>
          </p:cNvPr>
          <p:cNvSpPr>
            <a:spLocks noGrp="1"/>
          </p:cNvSpPr>
          <p:nvPr/>
        </p:nvSpPr>
        <p:spPr>
          <a:xfrm>
            <a:off x="2076450" y="4365625"/>
            <a:ext cx="5181600" cy="3397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LLM-Evaluation Accuracy, Contain-Match Accuracy, retrieved tokens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CF1D8BAB-82BF-4034-B8C9-3A669BC77641}"/>
              </a:ext>
            </a:extLst>
          </p:cNvPr>
          <p:cNvSpPr>
            <a:spLocks noGrp="1"/>
          </p:cNvSpPr>
          <p:nvPr/>
        </p:nvSpPr>
        <p:spPr>
          <a:xfrm>
            <a:off x="7848600" y="2019300"/>
            <a:ext cx="2914650" cy="2724150"/>
          </a:xfrm>
          <a:prstGeom prst="roundRect">
            <a:avLst>
              <a:gd name="adj" fmla="val 2797"/>
            </a:avLst>
          </a:prstGeom>
          <a:solidFill>
            <a:srgbClr val="F4F7FB"/>
          </a:solidFill>
          <a:ln w="9525">
            <a:solidFill>
              <a:srgbClr val="DC7F29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E41E943F-AAFA-46DC-9509-DAA25D75AFD4}"/>
              </a:ext>
            </a:extLst>
          </p:cNvPr>
          <p:cNvSpPr>
            <a:spLocks noGrp="1"/>
          </p:cNvSpPr>
          <p:nvPr/>
        </p:nvSpPr>
        <p:spPr>
          <a:xfrm>
            <a:off x="8096250" y="2266950"/>
            <a:ext cx="2362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DC7F2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DC7F29"/>
                </a:solidFill>
                <a:latin typeface="Microsoft JhengHei"/>
                <a:ea typeface="Microsoft JhengHei"/>
                <a:cs typeface="Microsoft JhengHei"/>
              </a:rPr>
              <a:t>Fair Comparison 設計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AEE1AF3E-7EE9-4DD0-8200-E9DBCFF11F33}"/>
              </a:ext>
            </a:extLst>
          </p:cNvPr>
          <p:cNvSpPr>
            <a:spLocks noGrp="1"/>
          </p:cNvSpPr>
          <p:nvPr/>
        </p:nvSpPr>
        <p:spPr>
          <a:xfrm>
            <a:off x="8096250" y="2752725"/>
            <a:ext cx="85725" cy="85725"/>
          </a:xfrm>
          <a:prstGeom prst="rect">
            <a:avLst/>
          </a:prstGeom>
          <a:solidFill>
            <a:srgbClr val="DC7F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C7A9DC-163B-43A9-99D2-E6C0F9B786C6}"/>
              </a:ext>
            </a:extLst>
          </p:cNvPr>
          <p:cNvSpPr>
            <a:spLocks noGrp="1"/>
          </p:cNvSpPr>
          <p:nvPr/>
        </p:nvSpPr>
        <p:spPr>
          <a:xfrm>
            <a:off x="8267700" y="27051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沿用 LinearRAG 的 corpus 與 questions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E7AB3A1-7308-41EF-9C3A-501F33E40717}"/>
              </a:ext>
            </a:extLst>
          </p:cNvPr>
          <p:cNvSpPr>
            <a:spLocks noGrp="1"/>
          </p:cNvSpPr>
          <p:nvPr/>
        </p:nvSpPr>
        <p:spPr>
          <a:xfrm>
            <a:off x="8096250" y="3133725"/>
            <a:ext cx="85725" cy="85725"/>
          </a:xfrm>
          <a:prstGeom prst="rect">
            <a:avLst/>
          </a:prstGeom>
          <a:solidFill>
            <a:srgbClr val="DC7F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764F84C-6C71-49B1-B967-ADBB63BD5404}"/>
              </a:ext>
            </a:extLst>
          </p:cNvPr>
          <p:cNvSpPr>
            <a:spLocks noGrp="1"/>
          </p:cNvSpPr>
          <p:nvPr/>
        </p:nvSpPr>
        <p:spPr>
          <a:xfrm>
            <a:off x="8267700" y="30861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多數方法使用 Qwen3-Embedding-0.6B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C1063445-9924-445A-96CF-4470370EA9AA}"/>
              </a:ext>
            </a:extLst>
          </p:cNvPr>
          <p:cNvSpPr>
            <a:spLocks noGrp="1"/>
          </p:cNvSpPr>
          <p:nvPr/>
        </p:nvSpPr>
        <p:spPr>
          <a:xfrm>
            <a:off x="8096250" y="3514725"/>
            <a:ext cx="85725" cy="85725"/>
          </a:xfrm>
          <a:prstGeom prst="rect">
            <a:avLst/>
          </a:prstGeom>
          <a:solidFill>
            <a:srgbClr val="DC7F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0C05FC3F-BD8B-44A5-B46A-2C25853E21A5}"/>
              </a:ext>
            </a:extLst>
          </p:cNvPr>
          <p:cNvSpPr>
            <a:spLocks noGrp="1"/>
          </p:cNvSpPr>
          <p:nvPr/>
        </p:nvSpPr>
        <p:spPr>
          <a:xfrm>
            <a:off x="8267700" y="34671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LLM judge 使用 GPT-5-mini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53DB66E1-2116-49F9-8550-845129EBE358}"/>
              </a:ext>
            </a:extLst>
          </p:cNvPr>
          <p:cNvSpPr>
            <a:spLocks noGrp="1"/>
          </p:cNvSpPr>
          <p:nvPr/>
        </p:nvSpPr>
        <p:spPr>
          <a:xfrm>
            <a:off x="8096250" y="3895725"/>
            <a:ext cx="85725" cy="85725"/>
          </a:xfrm>
          <a:prstGeom prst="rect">
            <a:avLst/>
          </a:prstGeom>
          <a:solidFill>
            <a:srgbClr val="DC7F29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460BA79-6198-46CB-927F-FF57319BDE23}"/>
              </a:ext>
            </a:extLst>
          </p:cNvPr>
          <p:cNvSpPr>
            <a:spLocks noGrp="1"/>
          </p:cNvSpPr>
          <p:nvPr/>
        </p:nvSpPr>
        <p:spPr>
          <a:xfrm>
            <a:off x="8267700" y="3848100"/>
            <a:ext cx="2095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同時比較舊模型與較強 reasoning model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107D0B37-7FF1-4F92-B735-0EF48BDEC1D1}"/>
              </a:ext>
            </a:extLst>
          </p:cNvPr>
          <p:cNvSpPr>
            <a:spLocks noGrp="1"/>
          </p:cNvSpPr>
          <p:nvPr/>
        </p:nvSpPr>
        <p:spPr>
          <a:xfrm>
            <a:off x="781050" y="5353050"/>
            <a:ext cx="9429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報告重點：這組實驗不只比較準確率，也觀察 A-RAG 是否能隨模型能力與 test-time compute 提升。</a:t>
            </a:r>
          </a:p>
        </p:txBody>
      </p:sp>
    </p:spTree>
    <p:extLst>
      <p:ext uri="{BB962C8B-B14F-4D97-AF65-F5344CB8AC3E}">
        <p14:creationId xmlns:p14="http://schemas.microsoft.com/office/powerpoint/2010/main" val="15112421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矩形 90">
            <a:extLst>
              <a:ext uri="{FF2B5EF4-FFF2-40B4-BE49-F238E27FC236}">
                <a16:creationId xmlns:a16="http://schemas.microsoft.com/office/drawing/2014/main" id="{5E4C3D1C-32F8-4310-A567-EA79ED5045A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54E69EA-1D36-455E-95BE-19DA768E9892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23B90BF-493F-41EE-BFDA-4418A1D20DA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339CA59-0835-4F87-B1DD-C148F356D5F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BE360F-73A0-4199-99D8-5BE2C72E4ACB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13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11845C4-92A0-4FEF-BD12-DC6B43A4A64B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主要結果：A-RAG Full 整體最佳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D15C09A-282D-4B2C-BE08-11A1A9251677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604E6F-AE85-4350-8715-5B3F50AC67C5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在 GPT-5-mini 下，A-RAG Full 於所有 benchmark 取得最高或最強整體表現。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A5C7C4E6-5432-477C-9F2D-F2E166DA07F9}"/>
              </a:ext>
            </a:extLst>
          </p:cNvPr>
          <p:cNvSpPr>
            <a:spLocks noGrp="1"/>
          </p:cNvSpPr>
          <p:nvPr/>
        </p:nvSpPr>
        <p:spPr>
          <a:xfrm>
            <a:off x="438150" y="1981200"/>
            <a:ext cx="1524000" cy="463550"/>
          </a:xfrm>
          <a:prstGeom prst="roundRect">
            <a:avLst>
              <a:gd name="adj" fmla="val 16438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C24F4FA-A8CE-485B-94F6-165A0FAA9C35}"/>
              </a:ext>
            </a:extLst>
          </p:cNvPr>
          <p:cNvSpPr>
            <a:spLocks noGrp="1"/>
          </p:cNvSpPr>
          <p:nvPr/>
        </p:nvSpPr>
        <p:spPr>
          <a:xfrm>
            <a:off x="514350" y="2057400"/>
            <a:ext cx="137160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Method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8FDACF71-A19D-448D-8F00-9EC8F873E103}"/>
              </a:ext>
            </a:extLst>
          </p:cNvPr>
          <p:cNvSpPr>
            <a:spLocks noGrp="1"/>
          </p:cNvSpPr>
          <p:nvPr/>
        </p:nvSpPr>
        <p:spPr>
          <a:xfrm>
            <a:off x="1962150" y="19812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4CAB88-B876-4BAA-B991-97A2CB8D0DEC}"/>
              </a:ext>
            </a:extLst>
          </p:cNvPr>
          <p:cNvSpPr>
            <a:spLocks noGrp="1"/>
          </p:cNvSpPr>
          <p:nvPr/>
        </p:nvSpPr>
        <p:spPr>
          <a:xfrm>
            <a:off x="2038350" y="20574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MuSiQue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2D9E10E1-03A6-4D95-A690-270CE17C7A87}"/>
              </a:ext>
            </a:extLst>
          </p:cNvPr>
          <p:cNvSpPr>
            <a:spLocks noGrp="1"/>
          </p:cNvSpPr>
          <p:nvPr/>
        </p:nvSpPr>
        <p:spPr>
          <a:xfrm>
            <a:off x="3124200" y="19812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F89BD9-F6F3-4E64-88DB-9E3E240F781A}"/>
              </a:ext>
            </a:extLst>
          </p:cNvPr>
          <p:cNvSpPr>
            <a:spLocks noGrp="1"/>
          </p:cNvSpPr>
          <p:nvPr/>
        </p:nvSpPr>
        <p:spPr>
          <a:xfrm>
            <a:off x="3200400" y="20574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HotpotQA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774885D5-3F9E-47B5-A9F2-DC438335B6CE}"/>
              </a:ext>
            </a:extLst>
          </p:cNvPr>
          <p:cNvSpPr>
            <a:spLocks noGrp="1"/>
          </p:cNvSpPr>
          <p:nvPr/>
        </p:nvSpPr>
        <p:spPr>
          <a:xfrm>
            <a:off x="4286250" y="19812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47A972B-3836-4646-9ED7-C75457E7A718}"/>
              </a:ext>
            </a:extLst>
          </p:cNvPr>
          <p:cNvSpPr>
            <a:spLocks noGrp="1"/>
          </p:cNvSpPr>
          <p:nvPr/>
        </p:nvSpPr>
        <p:spPr>
          <a:xfrm>
            <a:off x="4362450" y="20574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2Wiki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BD111695-6A82-47E0-820F-087992997CFD}"/>
              </a:ext>
            </a:extLst>
          </p:cNvPr>
          <p:cNvSpPr>
            <a:spLocks noGrp="1"/>
          </p:cNvSpPr>
          <p:nvPr/>
        </p:nvSpPr>
        <p:spPr>
          <a:xfrm>
            <a:off x="5448300" y="19812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7F280E8-B525-435D-9DB7-B96C6F46D1E7}"/>
              </a:ext>
            </a:extLst>
          </p:cNvPr>
          <p:cNvSpPr>
            <a:spLocks noGrp="1"/>
          </p:cNvSpPr>
          <p:nvPr/>
        </p:nvSpPr>
        <p:spPr>
          <a:xfrm>
            <a:off x="5524500" y="20574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Med.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8DC480CC-3BCF-413E-A018-9732FA28C865}"/>
              </a:ext>
            </a:extLst>
          </p:cNvPr>
          <p:cNvSpPr>
            <a:spLocks noGrp="1"/>
          </p:cNvSpPr>
          <p:nvPr/>
        </p:nvSpPr>
        <p:spPr>
          <a:xfrm>
            <a:off x="6610350" y="19812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ED063BC-B37C-4382-9478-35CE07A1056D}"/>
              </a:ext>
            </a:extLst>
          </p:cNvPr>
          <p:cNvSpPr>
            <a:spLocks noGrp="1"/>
          </p:cNvSpPr>
          <p:nvPr/>
        </p:nvSpPr>
        <p:spPr>
          <a:xfrm>
            <a:off x="6686550" y="20574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Novel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0E161CFE-DBAD-42E8-9F3D-55C96622869C}"/>
              </a:ext>
            </a:extLst>
          </p:cNvPr>
          <p:cNvSpPr>
            <a:spLocks noGrp="1"/>
          </p:cNvSpPr>
          <p:nvPr/>
        </p:nvSpPr>
        <p:spPr>
          <a:xfrm>
            <a:off x="438150" y="2444750"/>
            <a:ext cx="152400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A68044B-88E0-4DFA-ADA6-037C6D9E01BB}"/>
              </a:ext>
            </a:extLst>
          </p:cNvPr>
          <p:cNvSpPr>
            <a:spLocks noGrp="1"/>
          </p:cNvSpPr>
          <p:nvPr/>
        </p:nvSpPr>
        <p:spPr>
          <a:xfrm>
            <a:off x="514350" y="2520950"/>
            <a:ext cx="137160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Naive RAG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6D8EC25C-6CCD-446F-B6C5-3AC95BAA7B89}"/>
              </a:ext>
            </a:extLst>
          </p:cNvPr>
          <p:cNvSpPr>
            <a:spLocks noGrp="1"/>
          </p:cNvSpPr>
          <p:nvPr/>
        </p:nvSpPr>
        <p:spPr>
          <a:xfrm>
            <a:off x="1962150" y="24447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628EF52-1F26-45B6-BB59-3F99B659CF3C}"/>
              </a:ext>
            </a:extLst>
          </p:cNvPr>
          <p:cNvSpPr>
            <a:spLocks noGrp="1"/>
          </p:cNvSpPr>
          <p:nvPr/>
        </p:nvSpPr>
        <p:spPr>
          <a:xfrm>
            <a:off x="2038350" y="25209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52.8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FBED5197-A7FF-484F-895D-F9FE45567A7D}"/>
              </a:ext>
            </a:extLst>
          </p:cNvPr>
          <p:cNvSpPr>
            <a:spLocks noGrp="1"/>
          </p:cNvSpPr>
          <p:nvPr/>
        </p:nvSpPr>
        <p:spPr>
          <a:xfrm>
            <a:off x="3124200" y="24447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4BB72D6-2A03-4241-9EA6-36D6912995A6}"/>
              </a:ext>
            </a:extLst>
          </p:cNvPr>
          <p:cNvSpPr>
            <a:spLocks noGrp="1"/>
          </p:cNvSpPr>
          <p:nvPr/>
        </p:nvSpPr>
        <p:spPr>
          <a:xfrm>
            <a:off x="3200400" y="25209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81.2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8EEF54C0-460F-4728-B8F3-7FD50F08639F}"/>
              </a:ext>
            </a:extLst>
          </p:cNvPr>
          <p:cNvSpPr>
            <a:spLocks noGrp="1"/>
          </p:cNvSpPr>
          <p:nvPr/>
        </p:nvSpPr>
        <p:spPr>
          <a:xfrm>
            <a:off x="4286250" y="24447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9322CA48-7F56-4B4B-B98E-290476F02009}"/>
              </a:ext>
            </a:extLst>
          </p:cNvPr>
          <p:cNvSpPr>
            <a:spLocks noGrp="1"/>
          </p:cNvSpPr>
          <p:nvPr/>
        </p:nvSpPr>
        <p:spPr>
          <a:xfrm>
            <a:off x="4362450" y="25209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50.2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690503D4-9A89-4B74-A4E7-30E35AC983DA}"/>
              </a:ext>
            </a:extLst>
          </p:cNvPr>
          <p:cNvSpPr>
            <a:spLocks noGrp="1"/>
          </p:cNvSpPr>
          <p:nvPr/>
        </p:nvSpPr>
        <p:spPr>
          <a:xfrm>
            <a:off x="5448300" y="24447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F074568-286A-4391-958C-0F5B036DDAF6}"/>
              </a:ext>
            </a:extLst>
          </p:cNvPr>
          <p:cNvSpPr>
            <a:spLocks noGrp="1"/>
          </p:cNvSpPr>
          <p:nvPr/>
        </p:nvSpPr>
        <p:spPr>
          <a:xfrm>
            <a:off x="5524500" y="25209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86.1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093BDB59-389A-44EC-B693-C6D704D33ED9}"/>
              </a:ext>
            </a:extLst>
          </p:cNvPr>
          <p:cNvSpPr>
            <a:spLocks noGrp="1"/>
          </p:cNvSpPr>
          <p:nvPr/>
        </p:nvSpPr>
        <p:spPr>
          <a:xfrm>
            <a:off x="6610350" y="24447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2DBC861-D727-4596-83F2-072AF0659CC0}"/>
              </a:ext>
            </a:extLst>
          </p:cNvPr>
          <p:cNvSpPr>
            <a:spLocks noGrp="1"/>
          </p:cNvSpPr>
          <p:nvPr/>
        </p:nvSpPr>
        <p:spPr>
          <a:xfrm>
            <a:off x="6686550" y="25209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70.6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7DCA5DBC-092C-4D45-8DA8-345DD33CC935}"/>
              </a:ext>
            </a:extLst>
          </p:cNvPr>
          <p:cNvSpPr>
            <a:spLocks noGrp="1"/>
          </p:cNvSpPr>
          <p:nvPr/>
        </p:nvSpPr>
        <p:spPr>
          <a:xfrm>
            <a:off x="438150" y="2908300"/>
            <a:ext cx="152400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812673F-72D3-44AA-90FE-124758111005}"/>
              </a:ext>
            </a:extLst>
          </p:cNvPr>
          <p:cNvSpPr>
            <a:spLocks noGrp="1"/>
          </p:cNvSpPr>
          <p:nvPr/>
        </p:nvSpPr>
        <p:spPr>
          <a:xfrm>
            <a:off x="514350" y="2984500"/>
            <a:ext cx="137160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GraphRAG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C8B979DD-1C9B-4104-B576-9E1BCD3BAD04}"/>
              </a:ext>
            </a:extLst>
          </p:cNvPr>
          <p:cNvSpPr>
            <a:spLocks noGrp="1"/>
          </p:cNvSpPr>
          <p:nvPr/>
        </p:nvSpPr>
        <p:spPr>
          <a:xfrm>
            <a:off x="1962150" y="29083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388060E-79B7-4EA6-A7A0-326874BCD650}"/>
              </a:ext>
            </a:extLst>
          </p:cNvPr>
          <p:cNvSpPr>
            <a:spLocks noGrp="1"/>
          </p:cNvSpPr>
          <p:nvPr/>
        </p:nvSpPr>
        <p:spPr>
          <a:xfrm>
            <a:off x="2038350" y="29845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48.3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7AD2127D-C9FE-4774-8A6E-E9B6B9A70B90}"/>
              </a:ext>
            </a:extLst>
          </p:cNvPr>
          <p:cNvSpPr>
            <a:spLocks noGrp="1"/>
          </p:cNvSpPr>
          <p:nvPr/>
        </p:nvSpPr>
        <p:spPr>
          <a:xfrm>
            <a:off x="3124200" y="29083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C9ECB1B3-6B05-4E6A-9E57-67B9E1F8A10A}"/>
              </a:ext>
            </a:extLst>
          </p:cNvPr>
          <p:cNvSpPr>
            <a:spLocks noGrp="1"/>
          </p:cNvSpPr>
          <p:nvPr/>
        </p:nvSpPr>
        <p:spPr>
          <a:xfrm>
            <a:off x="3200400" y="29845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82.5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F43D40DB-91E8-4099-9A6E-EE3FC91CFE20}"/>
              </a:ext>
            </a:extLst>
          </p:cNvPr>
          <p:cNvSpPr>
            <a:spLocks noGrp="1"/>
          </p:cNvSpPr>
          <p:nvPr/>
        </p:nvSpPr>
        <p:spPr>
          <a:xfrm>
            <a:off x="4286250" y="29083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D3563B0-C5A4-4994-9C8E-896087C37BA2}"/>
              </a:ext>
            </a:extLst>
          </p:cNvPr>
          <p:cNvSpPr>
            <a:spLocks noGrp="1"/>
          </p:cNvSpPr>
          <p:nvPr/>
        </p:nvSpPr>
        <p:spPr>
          <a:xfrm>
            <a:off x="4362450" y="29845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66.5</a:t>
            </a: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8FCDFCF0-30B0-4B26-8B2D-4B7B5DEE6ABD}"/>
              </a:ext>
            </a:extLst>
          </p:cNvPr>
          <p:cNvSpPr>
            <a:spLocks noGrp="1"/>
          </p:cNvSpPr>
          <p:nvPr/>
        </p:nvSpPr>
        <p:spPr>
          <a:xfrm>
            <a:off x="5448300" y="29083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450D189-3A65-42A0-9403-5BE90AC53D83}"/>
              </a:ext>
            </a:extLst>
          </p:cNvPr>
          <p:cNvSpPr>
            <a:spLocks noGrp="1"/>
          </p:cNvSpPr>
          <p:nvPr/>
        </p:nvSpPr>
        <p:spPr>
          <a:xfrm>
            <a:off x="5524500" y="29845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87.3</a:t>
            </a: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A8547D1A-75C5-4338-A476-221A6F92D02B}"/>
              </a:ext>
            </a:extLst>
          </p:cNvPr>
          <p:cNvSpPr>
            <a:spLocks noGrp="1"/>
          </p:cNvSpPr>
          <p:nvPr/>
        </p:nvSpPr>
        <p:spPr>
          <a:xfrm>
            <a:off x="6610350" y="29083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127B17BD-19E6-464F-BF87-F1EDB79CC855}"/>
              </a:ext>
            </a:extLst>
          </p:cNvPr>
          <p:cNvSpPr>
            <a:spLocks noGrp="1"/>
          </p:cNvSpPr>
          <p:nvPr/>
        </p:nvSpPr>
        <p:spPr>
          <a:xfrm>
            <a:off x="6686550" y="29845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77.1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9009D25D-1A0C-4FDE-8D38-29729089AF16}"/>
              </a:ext>
            </a:extLst>
          </p:cNvPr>
          <p:cNvSpPr>
            <a:spLocks noGrp="1"/>
          </p:cNvSpPr>
          <p:nvPr/>
        </p:nvSpPr>
        <p:spPr>
          <a:xfrm>
            <a:off x="438150" y="3371850"/>
            <a:ext cx="152400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EC3B10DE-1E78-4DE8-BFCF-CFB6671DF7DE}"/>
              </a:ext>
            </a:extLst>
          </p:cNvPr>
          <p:cNvSpPr>
            <a:spLocks noGrp="1"/>
          </p:cNvSpPr>
          <p:nvPr/>
        </p:nvSpPr>
        <p:spPr>
          <a:xfrm>
            <a:off x="514350" y="3448050"/>
            <a:ext cx="137160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LinearRAG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5F4733E5-3310-4ABF-A006-AD8801864F57}"/>
              </a:ext>
            </a:extLst>
          </p:cNvPr>
          <p:cNvSpPr>
            <a:spLocks noGrp="1"/>
          </p:cNvSpPr>
          <p:nvPr/>
        </p:nvSpPr>
        <p:spPr>
          <a:xfrm>
            <a:off x="1962150" y="33718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5F987A7-8441-4583-B420-A5EFB9CD48C4}"/>
              </a:ext>
            </a:extLst>
          </p:cNvPr>
          <p:cNvSpPr>
            <a:spLocks noGrp="1"/>
          </p:cNvSpPr>
          <p:nvPr/>
        </p:nvSpPr>
        <p:spPr>
          <a:xfrm>
            <a:off x="2038350" y="34480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62.4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568ED125-A5A9-4449-80E6-338F93ED4615}"/>
              </a:ext>
            </a:extLst>
          </p:cNvPr>
          <p:cNvSpPr>
            <a:spLocks noGrp="1"/>
          </p:cNvSpPr>
          <p:nvPr/>
        </p:nvSpPr>
        <p:spPr>
          <a:xfrm>
            <a:off x="3124200" y="33718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44D8F0B1-D79B-4A5D-A5A5-F2C3AB23D5AC}"/>
              </a:ext>
            </a:extLst>
          </p:cNvPr>
          <p:cNvSpPr>
            <a:spLocks noGrp="1"/>
          </p:cNvSpPr>
          <p:nvPr/>
        </p:nvSpPr>
        <p:spPr>
          <a:xfrm>
            <a:off x="3200400" y="34480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86.2</a:t>
            </a:r>
          </a:p>
        </p:txBody>
      </p:sp>
      <p:sp>
        <p:nvSpPr>
          <p:cNvPr id="51" name="矩形: 圓角 50">
            <a:extLst>
              <a:ext uri="{FF2B5EF4-FFF2-40B4-BE49-F238E27FC236}">
                <a16:creationId xmlns:a16="http://schemas.microsoft.com/office/drawing/2014/main" id="{E22527E4-910C-498F-811B-F1B4D67A2BD7}"/>
              </a:ext>
            </a:extLst>
          </p:cNvPr>
          <p:cNvSpPr>
            <a:spLocks noGrp="1"/>
          </p:cNvSpPr>
          <p:nvPr/>
        </p:nvSpPr>
        <p:spPr>
          <a:xfrm>
            <a:off x="4286250" y="33718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D5C9F6F-22CE-495E-85BB-548694E3AC1E}"/>
              </a:ext>
            </a:extLst>
          </p:cNvPr>
          <p:cNvSpPr>
            <a:spLocks noGrp="1"/>
          </p:cNvSpPr>
          <p:nvPr/>
        </p:nvSpPr>
        <p:spPr>
          <a:xfrm>
            <a:off x="4362450" y="34480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87.2</a:t>
            </a:r>
          </a:p>
        </p:txBody>
      </p:sp>
      <p:sp>
        <p:nvSpPr>
          <p:cNvPr id="53" name="矩形: 圓角 52">
            <a:extLst>
              <a:ext uri="{FF2B5EF4-FFF2-40B4-BE49-F238E27FC236}">
                <a16:creationId xmlns:a16="http://schemas.microsoft.com/office/drawing/2014/main" id="{63885498-18BD-44A5-ABB7-9742CA59AB02}"/>
              </a:ext>
            </a:extLst>
          </p:cNvPr>
          <p:cNvSpPr>
            <a:spLocks noGrp="1"/>
          </p:cNvSpPr>
          <p:nvPr/>
        </p:nvSpPr>
        <p:spPr>
          <a:xfrm>
            <a:off x="5448300" y="33718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96D72EA9-0363-4C4F-B3CF-A099A9D10714}"/>
              </a:ext>
            </a:extLst>
          </p:cNvPr>
          <p:cNvSpPr>
            <a:spLocks noGrp="1"/>
          </p:cNvSpPr>
          <p:nvPr/>
        </p:nvSpPr>
        <p:spPr>
          <a:xfrm>
            <a:off x="5524500" y="34480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79.2</a:t>
            </a:r>
          </a:p>
        </p:txBody>
      </p:sp>
      <p:sp>
        <p:nvSpPr>
          <p:cNvPr id="55" name="矩形: 圓角 54">
            <a:extLst>
              <a:ext uri="{FF2B5EF4-FFF2-40B4-BE49-F238E27FC236}">
                <a16:creationId xmlns:a16="http://schemas.microsoft.com/office/drawing/2014/main" id="{300CFC97-16AC-44F5-888E-2360ED651F03}"/>
              </a:ext>
            </a:extLst>
          </p:cNvPr>
          <p:cNvSpPr>
            <a:spLocks noGrp="1"/>
          </p:cNvSpPr>
          <p:nvPr/>
        </p:nvSpPr>
        <p:spPr>
          <a:xfrm>
            <a:off x="6610350" y="33718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54134E9-B70D-4EEF-93C7-254273000071}"/>
              </a:ext>
            </a:extLst>
          </p:cNvPr>
          <p:cNvSpPr>
            <a:spLocks noGrp="1"/>
          </p:cNvSpPr>
          <p:nvPr/>
        </p:nvSpPr>
        <p:spPr>
          <a:xfrm>
            <a:off x="6686550" y="34480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54.7</a:t>
            </a:r>
          </a:p>
        </p:txBody>
      </p:sp>
      <p:sp>
        <p:nvSpPr>
          <p:cNvPr id="57" name="矩形: 圓角 56">
            <a:extLst>
              <a:ext uri="{FF2B5EF4-FFF2-40B4-BE49-F238E27FC236}">
                <a16:creationId xmlns:a16="http://schemas.microsoft.com/office/drawing/2014/main" id="{C9F30C2E-31FA-405F-82AE-B5958545ECA8}"/>
              </a:ext>
            </a:extLst>
          </p:cNvPr>
          <p:cNvSpPr>
            <a:spLocks noGrp="1"/>
          </p:cNvSpPr>
          <p:nvPr/>
        </p:nvSpPr>
        <p:spPr>
          <a:xfrm>
            <a:off x="438150" y="3835400"/>
            <a:ext cx="152400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66058A49-7CC1-4AD6-B986-7FC0B0A27F44}"/>
              </a:ext>
            </a:extLst>
          </p:cNvPr>
          <p:cNvSpPr>
            <a:spLocks noGrp="1"/>
          </p:cNvSpPr>
          <p:nvPr/>
        </p:nvSpPr>
        <p:spPr>
          <a:xfrm>
            <a:off x="514350" y="3911600"/>
            <a:ext cx="137160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Naive</a:t>
            </a:r>
          </a:p>
        </p:txBody>
      </p:sp>
      <p:sp>
        <p:nvSpPr>
          <p:cNvPr id="59" name="矩形: 圓角 58">
            <a:extLst>
              <a:ext uri="{FF2B5EF4-FFF2-40B4-BE49-F238E27FC236}">
                <a16:creationId xmlns:a16="http://schemas.microsoft.com/office/drawing/2014/main" id="{823A2C74-38BC-49C2-BCF8-6995C85F855B}"/>
              </a:ext>
            </a:extLst>
          </p:cNvPr>
          <p:cNvSpPr>
            <a:spLocks noGrp="1"/>
          </p:cNvSpPr>
          <p:nvPr/>
        </p:nvSpPr>
        <p:spPr>
          <a:xfrm>
            <a:off x="1962150" y="38354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E3CCE779-8190-4B4D-B65C-88A8386520D5}"/>
              </a:ext>
            </a:extLst>
          </p:cNvPr>
          <p:cNvSpPr>
            <a:spLocks noGrp="1"/>
          </p:cNvSpPr>
          <p:nvPr/>
        </p:nvSpPr>
        <p:spPr>
          <a:xfrm>
            <a:off x="2038350" y="39116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66.2</a:t>
            </a:r>
          </a:p>
        </p:txBody>
      </p:sp>
      <p:sp>
        <p:nvSpPr>
          <p:cNvPr id="61" name="矩形: 圓角 60">
            <a:extLst>
              <a:ext uri="{FF2B5EF4-FFF2-40B4-BE49-F238E27FC236}">
                <a16:creationId xmlns:a16="http://schemas.microsoft.com/office/drawing/2014/main" id="{7FEBAB6C-D5E4-46FE-8C49-A9825844652B}"/>
              </a:ext>
            </a:extLst>
          </p:cNvPr>
          <p:cNvSpPr>
            <a:spLocks noGrp="1"/>
          </p:cNvSpPr>
          <p:nvPr/>
        </p:nvSpPr>
        <p:spPr>
          <a:xfrm>
            <a:off x="3124200" y="38354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E3B0306D-2B9D-4333-AE02-8C30E45958B4}"/>
              </a:ext>
            </a:extLst>
          </p:cNvPr>
          <p:cNvSpPr>
            <a:spLocks noGrp="1"/>
          </p:cNvSpPr>
          <p:nvPr/>
        </p:nvSpPr>
        <p:spPr>
          <a:xfrm>
            <a:off x="3200400" y="39116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90.8</a:t>
            </a:r>
          </a:p>
        </p:txBody>
      </p:sp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F43AD72B-DFA8-4367-8A73-BC3E45B9934A}"/>
              </a:ext>
            </a:extLst>
          </p:cNvPr>
          <p:cNvSpPr>
            <a:spLocks noGrp="1"/>
          </p:cNvSpPr>
          <p:nvPr/>
        </p:nvSpPr>
        <p:spPr>
          <a:xfrm>
            <a:off x="4286250" y="38354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C2B08884-D6DA-4622-A7B9-0E24ECF31BFB}"/>
              </a:ext>
            </a:extLst>
          </p:cNvPr>
          <p:cNvSpPr>
            <a:spLocks noGrp="1"/>
          </p:cNvSpPr>
          <p:nvPr/>
        </p:nvSpPr>
        <p:spPr>
          <a:xfrm>
            <a:off x="4362450" y="39116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70.6</a:t>
            </a:r>
          </a:p>
        </p:txBody>
      </p:sp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FDC53C19-3F73-4537-9801-521ECE517B4B}"/>
              </a:ext>
            </a:extLst>
          </p:cNvPr>
          <p:cNvSpPr>
            <a:spLocks noGrp="1"/>
          </p:cNvSpPr>
          <p:nvPr/>
        </p:nvSpPr>
        <p:spPr>
          <a:xfrm>
            <a:off x="5448300" y="38354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5832550-804B-4886-9C57-F0D63B35EE44}"/>
              </a:ext>
            </a:extLst>
          </p:cNvPr>
          <p:cNvSpPr>
            <a:spLocks noGrp="1"/>
          </p:cNvSpPr>
          <p:nvPr/>
        </p:nvSpPr>
        <p:spPr>
          <a:xfrm>
            <a:off x="5524500" y="39116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92.7</a:t>
            </a:r>
          </a:p>
        </p:txBody>
      </p:sp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5EAB164A-AA16-4631-B6C4-2D7CE41BFCA3}"/>
              </a:ext>
            </a:extLst>
          </p:cNvPr>
          <p:cNvSpPr>
            <a:spLocks noGrp="1"/>
          </p:cNvSpPr>
          <p:nvPr/>
        </p:nvSpPr>
        <p:spPr>
          <a:xfrm>
            <a:off x="6610350" y="383540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BD122E9-0492-4940-9F46-E2902E53F09D}"/>
              </a:ext>
            </a:extLst>
          </p:cNvPr>
          <p:cNvSpPr>
            <a:spLocks noGrp="1"/>
          </p:cNvSpPr>
          <p:nvPr/>
        </p:nvSpPr>
        <p:spPr>
          <a:xfrm>
            <a:off x="6686550" y="391160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80.4</a:t>
            </a:r>
          </a:p>
        </p:txBody>
      </p:sp>
      <p:sp>
        <p:nvSpPr>
          <p:cNvPr id="69" name="矩形: 圓角 68">
            <a:extLst>
              <a:ext uri="{FF2B5EF4-FFF2-40B4-BE49-F238E27FC236}">
                <a16:creationId xmlns:a16="http://schemas.microsoft.com/office/drawing/2014/main" id="{7B78CFA3-5568-44B0-89EA-13D07B1C6FCB}"/>
              </a:ext>
            </a:extLst>
          </p:cNvPr>
          <p:cNvSpPr>
            <a:spLocks noGrp="1"/>
          </p:cNvSpPr>
          <p:nvPr/>
        </p:nvSpPr>
        <p:spPr>
          <a:xfrm>
            <a:off x="438150" y="4298950"/>
            <a:ext cx="152400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8E4EA74E-B4C7-42BC-8E56-4FE1E0B96A84}"/>
              </a:ext>
            </a:extLst>
          </p:cNvPr>
          <p:cNvSpPr>
            <a:spLocks noGrp="1"/>
          </p:cNvSpPr>
          <p:nvPr/>
        </p:nvSpPr>
        <p:spPr>
          <a:xfrm>
            <a:off x="514350" y="4375150"/>
            <a:ext cx="137160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4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Full</a:t>
            </a:r>
          </a:p>
        </p:txBody>
      </p:sp>
      <p:sp>
        <p:nvSpPr>
          <p:cNvPr id="71" name="矩形: 圓角 70">
            <a:extLst>
              <a:ext uri="{FF2B5EF4-FFF2-40B4-BE49-F238E27FC236}">
                <a16:creationId xmlns:a16="http://schemas.microsoft.com/office/drawing/2014/main" id="{299AF84A-F13B-4F00-97D9-375F69D244A9}"/>
              </a:ext>
            </a:extLst>
          </p:cNvPr>
          <p:cNvSpPr>
            <a:spLocks noGrp="1"/>
          </p:cNvSpPr>
          <p:nvPr/>
        </p:nvSpPr>
        <p:spPr>
          <a:xfrm>
            <a:off x="1962150" y="42989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C5B21A9-B9C0-431A-8000-978ADB0AF6F3}"/>
              </a:ext>
            </a:extLst>
          </p:cNvPr>
          <p:cNvSpPr>
            <a:spLocks noGrp="1"/>
          </p:cNvSpPr>
          <p:nvPr/>
        </p:nvSpPr>
        <p:spPr>
          <a:xfrm>
            <a:off x="2038350" y="43751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1">
                <a:solidFill>
                  <a:srgbClr val="2F9D6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F9D64"/>
                </a:solidFill>
                <a:latin typeface="Aptos"/>
                <a:ea typeface="Aptos"/>
                <a:cs typeface="Aptos"/>
              </a:rPr>
              <a:t>74.1</a:t>
            </a:r>
          </a:p>
        </p:txBody>
      </p:sp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0437F85F-CAB7-4EA0-9F07-04834D5941D7}"/>
              </a:ext>
            </a:extLst>
          </p:cNvPr>
          <p:cNvSpPr>
            <a:spLocks noGrp="1"/>
          </p:cNvSpPr>
          <p:nvPr/>
        </p:nvSpPr>
        <p:spPr>
          <a:xfrm>
            <a:off x="3124200" y="42989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F355D4A-17A8-45A9-8084-A04D8B4B4D02}"/>
              </a:ext>
            </a:extLst>
          </p:cNvPr>
          <p:cNvSpPr>
            <a:spLocks noGrp="1"/>
          </p:cNvSpPr>
          <p:nvPr/>
        </p:nvSpPr>
        <p:spPr>
          <a:xfrm>
            <a:off x="3200400" y="43751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1">
                <a:solidFill>
                  <a:srgbClr val="2F9D6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F9D64"/>
                </a:solidFill>
                <a:latin typeface="Aptos"/>
                <a:ea typeface="Aptos"/>
                <a:cs typeface="Aptos"/>
              </a:rPr>
              <a:t>94.5</a:t>
            </a:r>
          </a:p>
        </p:txBody>
      </p:sp>
      <p:sp>
        <p:nvSpPr>
          <p:cNvPr id="75" name="矩形: 圓角 74">
            <a:extLst>
              <a:ext uri="{FF2B5EF4-FFF2-40B4-BE49-F238E27FC236}">
                <a16:creationId xmlns:a16="http://schemas.microsoft.com/office/drawing/2014/main" id="{829B6755-832E-466F-BE6F-F9A80CB17E0F}"/>
              </a:ext>
            </a:extLst>
          </p:cNvPr>
          <p:cNvSpPr>
            <a:spLocks noGrp="1"/>
          </p:cNvSpPr>
          <p:nvPr/>
        </p:nvSpPr>
        <p:spPr>
          <a:xfrm>
            <a:off x="4286250" y="42989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21E671EE-1DD6-44C0-BF7B-EFD60F0281FA}"/>
              </a:ext>
            </a:extLst>
          </p:cNvPr>
          <p:cNvSpPr>
            <a:spLocks noGrp="1"/>
          </p:cNvSpPr>
          <p:nvPr/>
        </p:nvSpPr>
        <p:spPr>
          <a:xfrm>
            <a:off x="4362450" y="43751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1">
                <a:solidFill>
                  <a:srgbClr val="2F9D6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F9D64"/>
                </a:solidFill>
                <a:latin typeface="Aptos"/>
                <a:ea typeface="Aptos"/>
                <a:cs typeface="Aptos"/>
              </a:rPr>
              <a:t>89.7</a:t>
            </a:r>
          </a:p>
        </p:txBody>
      </p:sp>
      <p:sp>
        <p:nvSpPr>
          <p:cNvPr id="77" name="矩形: 圓角 76">
            <a:extLst>
              <a:ext uri="{FF2B5EF4-FFF2-40B4-BE49-F238E27FC236}">
                <a16:creationId xmlns:a16="http://schemas.microsoft.com/office/drawing/2014/main" id="{A05C5775-E7D2-4DE0-AF33-B28ABECFC06F}"/>
              </a:ext>
            </a:extLst>
          </p:cNvPr>
          <p:cNvSpPr>
            <a:spLocks noGrp="1"/>
          </p:cNvSpPr>
          <p:nvPr/>
        </p:nvSpPr>
        <p:spPr>
          <a:xfrm>
            <a:off x="5448300" y="42989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7A737DC-D7C0-4E7F-BC63-2E5D295B1C0A}"/>
              </a:ext>
            </a:extLst>
          </p:cNvPr>
          <p:cNvSpPr>
            <a:spLocks noGrp="1"/>
          </p:cNvSpPr>
          <p:nvPr/>
        </p:nvSpPr>
        <p:spPr>
          <a:xfrm>
            <a:off x="5524500" y="43751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1">
                <a:solidFill>
                  <a:srgbClr val="2F9D6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F9D64"/>
                </a:solidFill>
                <a:latin typeface="Aptos"/>
                <a:ea typeface="Aptos"/>
                <a:cs typeface="Aptos"/>
              </a:rPr>
              <a:t>93.1</a:t>
            </a:r>
          </a:p>
        </p:txBody>
      </p:sp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106478C1-A2F8-4455-80F9-4948B452056D}"/>
              </a:ext>
            </a:extLst>
          </p:cNvPr>
          <p:cNvSpPr>
            <a:spLocks noGrp="1"/>
          </p:cNvSpPr>
          <p:nvPr/>
        </p:nvSpPr>
        <p:spPr>
          <a:xfrm>
            <a:off x="6610350" y="4298950"/>
            <a:ext cx="1162050" cy="463550"/>
          </a:xfrm>
          <a:prstGeom prst="roundRect">
            <a:avLst>
              <a:gd name="adj" fmla="val 16438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7BA0F743-8395-45CA-A9C2-69301107BF9C}"/>
              </a:ext>
            </a:extLst>
          </p:cNvPr>
          <p:cNvSpPr>
            <a:spLocks noGrp="1"/>
          </p:cNvSpPr>
          <p:nvPr/>
        </p:nvSpPr>
        <p:spPr>
          <a:xfrm>
            <a:off x="6686550" y="4375150"/>
            <a:ext cx="1009650" cy="349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40" b="1">
                <a:solidFill>
                  <a:srgbClr val="2F9D64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2F9D64"/>
                </a:solidFill>
                <a:latin typeface="Aptos"/>
                <a:ea typeface="Aptos"/>
                <a:cs typeface="Aptos"/>
              </a:rPr>
              <a:t>85.3</a:t>
            </a:r>
          </a:p>
        </p:txBody>
      </p:sp>
      <p:sp>
        <p:nvSpPr>
          <p:cNvPr id="81" name="矩形: 圓角 80">
            <a:extLst>
              <a:ext uri="{FF2B5EF4-FFF2-40B4-BE49-F238E27FC236}">
                <a16:creationId xmlns:a16="http://schemas.microsoft.com/office/drawing/2014/main" id="{30CD4653-41F1-4817-82A8-176282463065}"/>
              </a:ext>
            </a:extLst>
          </p:cNvPr>
          <p:cNvSpPr>
            <a:spLocks noGrp="1"/>
          </p:cNvSpPr>
          <p:nvPr/>
        </p:nvSpPr>
        <p:spPr>
          <a:xfrm>
            <a:off x="8210550" y="1981200"/>
            <a:ext cx="2819400" cy="2781300"/>
          </a:xfrm>
          <a:prstGeom prst="roundRect">
            <a:avLst>
              <a:gd name="adj" fmla="val 2740"/>
            </a:avLst>
          </a:prstGeom>
          <a:solidFill>
            <a:srgbClr val="F4F7FB"/>
          </a:solidFill>
          <a:ln w="9525">
            <a:solidFill>
              <a:srgbClr val="2F9D64"/>
            </a:solidFill>
            <a:prstDash val="solid"/>
          </a:ln>
        </p:spPr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0C2CE1FB-6011-47F0-BE3A-278D1F47ED20}"/>
              </a:ext>
            </a:extLst>
          </p:cNvPr>
          <p:cNvSpPr>
            <a:spLocks noGrp="1"/>
          </p:cNvSpPr>
          <p:nvPr/>
        </p:nvSpPr>
        <p:spPr>
          <a:xfrm>
            <a:off x="8458200" y="2209800"/>
            <a:ext cx="23241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1">
                <a:solidFill>
                  <a:srgbClr val="2F9D64"/>
                </a:solidFill>
                <a:latin typeface="Microsoft JhengHei"/>
                <a:ea typeface="Microsoft JhengHei"/>
                <a:cs typeface="Microsoft JhengHei"/>
              </a:rPr>
              <a:t>三個觀察</a:t>
            </a:r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E2BCBEA2-AC68-46C7-9BBF-AE8E811A2175}"/>
              </a:ext>
            </a:extLst>
          </p:cNvPr>
          <p:cNvSpPr>
            <a:spLocks noGrp="1"/>
          </p:cNvSpPr>
          <p:nvPr/>
        </p:nvSpPr>
        <p:spPr>
          <a:xfrm>
            <a:off x="8477250" y="2714625"/>
            <a:ext cx="85725" cy="85725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26D59A3C-B754-4AB8-B0F1-296179587B86}"/>
              </a:ext>
            </a:extLst>
          </p:cNvPr>
          <p:cNvSpPr>
            <a:spLocks noGrp="1"/>
          </p:cNvSpPr>
          <p:nvPr/>
        </p:nvSpPr>
        <p:spPr>
          <a:xfrm>
            <a:off x="8648700" y="2667000"/>
            <a:ext cx="1981200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Vanilla RAG 是強 baseline，不一定輸給複雜 Graph/Workflow RAG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91F7BA0C-5D1C-4A30-8063-2F7D704E33EE}"/>
              </a:ext>
            </a:extLst>
          </p:cNvPr>
          <p:cNvSpPr>
            <a:spLocks noGrp="1"/>
          </p:cNvSpPr>
          <p:nvPr/>
        </p:nvSpPr>
        <p:spPr>
          <a:xfrm>
            <a:off x="8477250" y="3238500"/>
            <a:ext cx="85725" cy="85725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E10A2A22-CA7B-4C90-A031-4E86A6B697A4}"/>
              </a:ext>
            </a:extLst>
          </p:cNvPr>
          <p:cNvSpPr>
            <a:spLocks noGrp="1"/>
          </p:cNvSpPr>
          <p:nvPr/>
        </p:nvSpPr>
        <p:spPr>
          <a:xfrm>
            <a:off x="8648700" y="3190875"/>
            <a:ext cx="1981200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 Naive 已超過多數既有方法</a:t>
            </a:r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779A8869-D22B-4649-AB9D-D895E99410CE}"/>
              </a:ext>
            </a:extLst>
          </p:cNvPr>
          <p:cNvSpPr>
            <a:spLocks noGrp="1"/>
          </p:cNvSpPr>
          <p:nvPr/>
        </p:nvSpPr>
        <p:spPr>
          <a:xfrm>
            <a:off x="8477250" y="3762375"/>
            <a:ext cx="85725" cy="85725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A26B9C8F-1F42-4B68-AD33-4DB5E472EA66}"/>
              </a:ext>
            </a:extLst>
          </p:cNvPr>
          <p:cNvSpPr>
            <a:spLocks noGrp="1"/>
          </p:cNvSpPr>
          <p:nvPr/>
        </p:nvSpPr>
        <p:spPr>
          <a:xfrm>
            <a:off x="8648700" y="3714750"/>
            <a:ext cx="1981200" cy="4857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 Full 的 hierarchical tools 帶來進一步提升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EB7324B-9043-43C3-9D91-C096A8D12215}"/>
              </a:ext>
            </a:extLst>
          </p:cNvPr>
          <p:cNvSpPr>
            <a:spLocks noGrp="1"/>
          </p:cNvSpPr>
          <p:nvPr/>
        </p:nvSpPr>
        <p:spPr>
          <a:xfrm>
            <a:off x="666750" y="5200650"/>
            <a:ext cx="100012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38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38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Key number: MuSiQue LLM-Acc 從 Naive RAG 52.8 提升到 A-RAG Full 74.1；2Wiki 從 50.2 提升到 89.7。</a:t>
            </a:r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E4A55761-9869-4041-9E01-0F0B87287DD0}"/>
              </a:ext>
            </a:extLst>
          </p:cNvPr>
          <p:cNvSpPr>
            <a:spLocks noGrp="1"/>
          </p:cNvSpPr>
          <p:nvPr/>
        </p:nvSpPr>
        <p:spPr>
          <a:xfrm>
            <a:off x="666750" y="5695950"/>
            <a:ext cx="100012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938" b="0">
                <a:solidFill>
                  <a:srgbClr val="8798AD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8798AD"/>
                </a:solidFill>
                <a:latin typeface="Microsoft JhengHei"/>
                <a:ea typeface="Microsoft JhengHei"/>
                <a:cs typeface="Microsoft JhengHei"/>
              </a:rPr>
              <a:t>表中數字為 GPT-5-mini backbone 的 LLM-Evaluation Accuracy。</a:t>
            </a:r>
          </a:p>
        </p:txBody>
      </p:sp>
    </p:spTree>
    <p:extLst>
      <p:ext uri="{BB962C8B-B14F-4D97-AF65-F5344CB8AC3E}">
        <p14:creationId xmlns:p14="http://schemas.microsoft.com/office/powerpoint/2010/main" val="10419067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矩形 96">
            <a:extLst>
              <a:ext uri="{FF2B5EF4-FFF2-40B4-BE49-F238E27FC236}">
                <a16:creationId xmlns:a16="http://schemas.microsoft.com/office/drawing/2014/main" id="{52B6729B-3BAB-4078-8EFA-874FDBCCB8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FE25D3-1DC9-4A87-8B49-0BC9B8C38F8B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B45BDF8-0B2F-475B-88DE-F308A80A26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D19FFC-756C-4C17-BCC0-07CF1D43011F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F13CDC5-E83E-4BE6-BCFF-A1D628981164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14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78E70D-85EA-414F-91ED-5DCFE5057E25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Ablation、Scaling 與 Context Efficiency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DD79D4-2FFF-438A-805E-FA7F8463C026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B05A96F-D330-4E7F-AF3E-6D065D7AF4BD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A-RAG 的優勢來自工具組合，也能利用更多 test-time compute。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F55F500F-CCAD-4DFF-A040-0C2A5BF17A72}"/>
              </a:ext>
            </a:extLst>
          </p:cNvPr>
          <p:cNvSpPr>
            <a:spLocks noGrp="1"/>
          </p:cNvSpPr>
          <p:nvPr/>
        </p:nvSpPr>
        <p:spPr>
          <a:xfrm>
            <a:off x="400050" y="2038350"/>
            <a:ext cx="1352550" cy="358140"/>
          </a:xfrm>
          <a:prstGeom prst="roundRect">
            <a:avLst>
              <a:gd name="adj" fmla="val 21277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006C8A9-352F-4AB4-BB2D-7CFAD8782DD4}"/>
              </a:ext>
            </a:extLst>
          </p:cNvPr>
          <p:cNvSpPr>
            <a:spLocks noGrp="1"/>
          </p:cNvSpPr>
          <p:nvPr/>
        </p:nvSpPr>
        <p:spPr>
          <a:xfrm>
            <a:off x="476250" y="2114550"/>
            <a:ext cx="12001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Ablation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BA7D3881-453A-4698-8371-C2F98BC935BB}"/>
              </a:ext>
            </a:extLst>
          </p:cNvPr>
          <p:cNvSpPr>
            <a:spLocks noGrp="1"/>
          </p:cNvSpPr>
          <p:nvPr/>
        </p:nvSpPr>
        <p:spPr>
          <a:xfrm>
            <a:off x="1752600" y="203835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DFBE682-DF18-429F-827B-52564D34CD4D}"/>
              </a:ext>
            </a:extLst>
          </p:cNvPr>
          <p:cNvSpPr>
            <a:spLocks noGrp="1"/>
          </p:cNvSpPr>
          <p:nvPr/>
        </p:nvSpPr>
        <p:spPr>
          <a:xfrm>
            <a:off x="1828800" y="211455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MuSiQue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EB0C7106-4256-475F-A632-554B333D2A00}"/>
              </a:ext>
            </a:extLst>
          </p:cNvPr>
          <p:cNvSpPr>
            <a:spLocks noGrp="1"/>
          </p:cNvSpPr>
          <p:nvPr/>
        </p:nvSpPr>
        <p:spPr>
          <a:xfrm>
            <a:off x="2743200" y="203835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27D5056-246F-4240-BCC2-4B8BCE653E69}"/>
              </a:ext>
            </a:extLst>
          </p:cNvPr>
          <p:cNvSpPr>
            <a:spLocks noGrp="1"/>
          </p:cNvSpPr>
          <p:nvPr/>
        </p:nvSpPr>
        <p:spPr>
          <a:xfrm>
            <a:off x="2819400" y="211455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Hotpot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DB30A584-6B33-4D45-BDEF-04F3CB4C5584}"/>
              </a:ext>
            </a:extLst>
          </p:cNvPr>
          <p:cNvSpPr>
            <a:spLocks noGrp="1"/>
          </p:cNvSpPr>
          <p:nvPr/>
        </p:nvSpPr>
        <p:spPr>
          <a:xfrm>
            <a:off x="3733800" y="203835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E99F40-E71D-44D8-9CAB-C36D76BDBE2A}"/>
              </a:ext>
            </a:extLst>
          </p:cNvPr>
          <p:cNvSpPr>
            <a:spLocks noGrp="1"/>
          </p:cNvSpPr>
          <p:nvPr/>
        </p:nvSpPr>
        <p:spPr>
          <a:xfrm>
            <a:off x="3810000" y="211455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2Wiki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7DB04329-D699-4275-BCA3-065FE59EB6FD}"/>
              </a:ext>
            </a:extLst>
          </p:cNvPr>
          <p:cNvSpPr>
            <a:spLocks noGrp="1"/>
          </p:cNvSpPr>
          <p:nvPr/>
        </p:nvSpPr>
        <p:spPr>
          <a:xfrm>
            <a:off x="400050" y="2396490"/>
            <a:ext cx="1352550" cy="358140"/>
          </a:xfrm>
          <a:prstGeom prst="roundRect">
            <a:avLst>
              <a:gd name="adj" fmla="val 21277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8CE60E-2264-4A2B-BE10-664FE5C05D08}"/>
              </a:ext>
            </a:extLst>
          </p:cNvPr>
          <p:cNvSpPr>
            <a:spLocks noGrp="1"/>
          </p:cNvSpPr>
          <p:nvPr/>
        </p:nvSpPr>
        <p:spPr>
          <a:xfrm>
            <a:off x="476250" y="2472690"/>
            <a:ext cx="12001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Full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A2562186-6A1E-4032-BB51-BB1CA3336CEF}"/>
              </a:ext>
            </a:extLst>
          </p:cNvPr>
          <p:cNvSpPr>
            <a:spLocks noGrp="1"/>
          </p:cNvSpPr>
          <p:nvPr/>
        </p:nvSpPr>
        <p:spPr>
          <a:xfrm>
            <a:off x="1752600" y="239649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D80F88C-D44B-4B74-8DF7-C349639767BD}"/>
              </a:ext>
            </a:extLst>
          </p:cNvPr>
          <p:cNvSpPr>
            <a:spLocks noGrp="1"/>
          </p:cNvSpPr>
          <p:nvPr/>
        </p:nvSpPr>
        <p:spPr>
          <a:xfrm>
            <a:off x="1828800" y="247269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2F9D6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9D64"/>
                </a:solidFill>
                <a:latin typeface="Aptos"/>
                <a:ea typeface="Aptos"/>
                <a:cs typeface="Aptos"/>
              </a:rPr>
              <a:t>74.1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2B47E015-A988-4177-A809-2E9181FAD4C6}"/>
              </a:ext>
            </a:extLst>
          </p:cNvPr>
          <p:cNvSpPr>
            <a:spLocks noGrp="1"/>
          </p:cNvSpPr>
          <p:nvPr/>
        </p:nvSpPr>
        <p:spPr>
          <a:xfrm>
            <a:off x="2743200" y="239649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134591D-BB0A-4ADB-9DE0-A35D0FFB12A4}"/>
              </a:ext>
            </a:extLst>
          </p:cNvPr>
          <p:cNvSpPr>
            <a:spLocks noGrp="1"/>
          </p:cNvSpPr>
          <p:nvPr/>
        </p:nvSpPr>
        <p:spPr>
          <a:xfrm>
            <a:off x="2819400" y="247269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2F9D6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9D64"/>
                </a:solidFill>
                <a:latin typeface="Aptos"/>
                <a:ea typeface="Aptos"/>
                <a:cs typeface="Aptos"/>
              </a:rPr>
              <a:t>94.5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F7BA85C4-C054-4B75-819E-F7CF1CD053EC}"/>
              </a:ext>
            </a:extLst>
          </p:cNvPr>
          <p:cNvSpPr>
            <a:spLocks noGrp="1"/>
          </p:cNvSpPr>
          <p:nvPr/>
        </p:nvSpPr>
        <p:spPr>
          <a:xfrm>
            <a:off x="3733800" y="239649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ED92D9A-8C31-4D86-83AE-922B3595A3AE}"/>
              </a:ext>
            </a:extLst>
          </p:cNvPr>
          <p:cNvSpPr>
            <a:spLocks noGrp="1"/>
          </p:cNvSpPr>
          <p:nvPr/>
        </p:nvSpPr>
        <p:spPr>
          <a:xfrm>
            <a:off x="3810000" y="247269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2F9D64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9D64"/>
                </a:solidFill>
                <a:latin typeface="Aptos"/>
                <a:ea typeface="Aptos"/>
                <a:cs typeface="Aptos"/>
              </a:rPr>
              <a:t>89.7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D9F3AE80-DA47-46B8-9855-919CB0E1C679}"/>
              </a:ext>
            </a:extLst>
          </p:cNvPr>
          <p:cNvSpPr>
            <a:spLocks noGrp="1"/>
          </p:cNvSpPr>
          <p:nvPr/>
        </p:nvSpPr>
        <p:spPr>
          <a:xfrm>
            <a:off x="400050" y="2754630"/>
            <a:ext cx="1352550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66B4F1D-A1EE-42ED-B167-D565EC20E621}"/>
              </a:ext>
            </a:extLst>
          </p:cNvPr>
          <p:cNvSpPr>
            <a:spLocks noGrp="1"/>
          </p:cNvSpPr>
          <p:nvPr/>
        </p:nvSpPr>
        <p:spPr>
          <a:xfrm>
            <a:off x="476250" y="2830830"/>
            <a:ext cx="12001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w/o KW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006C00DF-5EF8-45D6-A83C-36AFCB50477A}"/>
              </a:ext>
            </a:extLst>
          </p:cNvPr>
          <p:cNvSpPr>
            <a:spLocks noGrp="1"/>
          </p:cNvSpPr>
          <p:nvPr/>
        </p:nvSpPr>
        <p:spPr>
          <a:xfrm>
            <a:off x="1752600" y="275463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DBDDBAE-976C-441A-B9B5-7F3AF5FD0376}"/>
              </a:ext>
            </a:extLst>
          </p:cNvPr>
          <p:cNvSpPr>
            <a:spLocks noGrp="1"/>
          </p:cNvSpPr>
          <p:nvPr/>
        </p:nvSpPr>
        <p:spPr>
          <a:xfrm>
            <a:off x="1828800" y="283083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72.6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9AE63214-51FB-47C0-B001-33819F9568C1}"/>
              </a:ext>
            </a:extLst>
          </p:cNvPr>
          <p:cNvSpPr>
            <a:spLocks noGrp="1"/>
          </p:cNvSpPr>
          <p:nvPr/>
        </p:nvSpPr>
        <p:spPr>
          <a:xfrm>
            <a:off x="2743200" y="275463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EA239FE-FF65-4249-86A0-254B4B45A0FC}"/>
              </a:ext>
            </a:extLst>
          </p:cNvPr>
          <p:cNvSpPr>
            <a:spLocks noGrp="1"/>
          </p:cNvSpPr>
          <p:nvPr/>
        </p:nvSpPr>
        <p:spPr>
          <a:xfrm>
            <a:off x="2819400" y="283083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93.0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B73F3BDB-A7D0-4629-816E-24490E8C06FD}"/>
              </a:ext>
            </a:extLst>
          </p:cNvPr>
          <p:cNvSpPr>
            <a:spLocks noGrp="1"/>
          </p:cNvSpPr>
          <p:nvPr/>
        </p:nvSpPr>
        <p:spPr>
          <a:xfrm>
            <a:off x="3733800" y="275463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CB5CE54-CAAA-456C-936E-375EF8D961EF}"/>
              </a:ext>
            </a:extLst>
          </p:cNvPr>
          <p:cNvSpPr>
            <a:spLocks noGrp="1"/>
          </p:cNvSpPr>
          <p:nvPr/>
        </p:nvSpPr>
        <p:spPr>
          <a:xfrm>
            <a:off x="3810000" y="283083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88.9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ACA246B5-A2D9-41A5-B900-E4F9F867313F}"/>
              </a:ext>
            </a:extLst>
          </p:cNvPr>
          <p:cNvSpPr>
            <a:spLocks noGrp="1"/>
          </p:cNvSpPr>
          <p:nvPr/>
        </p:nvSpPr>
        <p:spPr>
          <a:xfrm>
            <a:off x="400050" y="3112770"/>
            <a:ext cx="1352550" cy="358140"/>
          </a:xfrm>
          <a:prstGeom prst="roundRect">
            <a:avLst>
              <a:gd name="adj" fmla="val 21277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2B8A5E2-8721-4DAB-8FC2-015D453C2D79}"/>
              </a:ext>
            </a:extLst>
          </p:cNvPr>
          <p:cNvSpPr>
            <a:spLocks noGrp="1"/>
          </p:cNvSpPr>
          <p:nvPr/>
        </p:nvSpPr>
        <p:spPr>
          <a:xfrm>
            <a:off x="476250" y="3188970"/>
            <a:ext cx="12001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w/o Semantic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B591C31F-2F4A-4EB2-BFD5-DAF768CF4B26}"/>
              </a:ext>
            </a:extLst>
          </p:cNvPr>
          <p:cNvSpPr>
            <a:spLocks noGrp="1"/>
          </p:cNvSpPr>
          <p:nvPr/>
        </p:nvSpPr>
        <p:spPr>
          <a:xfrm>
            <a:off x="1752600" y="311277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383319F-7AF9-4089-800B-8ACF7D51E5C5}"/>
              </a:ext>
            </a:extLst>
          </p:cNvPr>
          <p:cNvSpPr>
            <a:spLocks noGrp="1"/>
          </p:cNvSpPr>
          <p:nvPr/>
        </p:nvSpPr>
        <p:spPr>
          <a:xfrm>
            <a:off x="1828800" y="318897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69.4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59CE2428-1B80-4700-ADD8-E17A29DDD668}"/>
              </a:ext>
            </a:extLst>
          </p:cNvPr>
          <p:cNvSpPr>
            <a:spLocks noGrp="1"/>
          </p:cNvSpPr>
          <p:nvPr/>
        </p:nvSpPr>
        <p:spPr>
          <a:xfrm>
            <a:off x="2743200" y="311277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16E1608-C9F7-404E-8AC1-80AE8086FAF6}"/>
              </a:ext>
            </a:extLst>
          </p:cNvPr>
          <p:cNvSpPr>
            <a:spLocks noGrp="1"/>
          </p:cNvSpPr>
          <p:nvPr/>
        </p:nvSpPr>
        <p:spPr>
          <a:xfrm>
            <a:off x="2819400" y="318897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93.9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DE446488-0062-41BE-8F42-3447FD274F70}"/>
              </a:ext>
            </a:extLst>
          </p:cNvPr>
          <p:cNvSpPr>
            <a:spLocks noGrp="1"/>
          </p:cNvSpPr>
          <p:nvPr/>
        </p:nvSpPr>
        <p:spPr>
          <a:xfrm>
            <a:off x="3733800" y="311277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BCA8B595-C781-4A4B-85FD-298B771A787C}"/>
              </a:ext>
            </a:extLst>
          </p:cNvPr>
          <p:cNvSpPr>
            <a:spLocks noGrp="1"/>
          </p:cNvSpPr>
          <p:nvPr/>
        </p:nvSpPr>
        <p:spPr>
          <a:xfrm>
            <a:off x="3810000" y="318897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89.1</a:t>
            </a: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0D604825-EA56-4B84-9E72-375666E881C6}"/>
              </a:ext>
            </a:extLst>
          </p:cNvPr>
          <p:cNvSpPr>
            <a:spLocks noGrp="1"/>
          </p:cNvSpPr>
          <p:nvPr/>
        </p:nvSpPr>
        <p:spPr>
          <a:xfrm>
            <a:off x="400050" y="3470910"/>
            <a:ext cx="1352550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632857CD-2265-42FA-899B-96E1FFF6B474}"/>
              </a:ext>
            </a:extLst>
          </p:cNvPr>
          <p:cNvSpPr>
            <a:spLocks noGrp="1"/>
          </p:cNvSpPr>
          <p:nvPr/>
        </p:nvSpPr>
        <p:spPr>
          <a:xfrm>
            <a:off x="476250" y="3547110"/>
            <a:ext cx="120015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w/o Chunk</a:t>
            </a:r>
          </a:p>
        </p:txBody>
      </p:sp>
      <p:sp>
        <p:nvSpPr>
          <p:cNvPr id="43" name="矩形: 圓角 42">
            <a:extLst>
              <a:ext uri="{FF2B5EF4-FFF2-40B4-BE49-F238E27FC236}">
                <a16:creationId xmlns:a16="http://schemas.microsoft.com/office/drawing/2014/main" id="{32EC1892-58E4-4686-A2B7-9DD4B3C615A6}"/>
              </a:ext>
            </a:extLst>
          </p:cNvPr>
          <p:cNvSpPr>
            <a:spLocks noGrp="1"/>
          </p:cNvSpPr>
          <p:nvPr/>
        </p:nvSpPr>
        <p:spPr>
          <a:xfrm>
            <a:off x="1752600" y="347091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42E60262-DBE0-4DEA-BE42-0D67C7B5FEF8}"/>
              </a:ext>
            </a:extLst>
          </p:cNvPr>
          <p:cNvSpPr>
            <a:spLocks noGrp="1"/>
          </p:cNvSpPr>
          <p:nvPr/>
        </p:nvSpPr>
        <p:spPr>
          <a:xfrm>
            <a:off x="1828800" y="354711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73.6</a:t>
            </a:r>
          </a:p>
        </p:txBody>
      </p:sp>
      <p:sp>
        <p:nvSpPr>
          <p:cNvPr id="45" name="矩形: 圓角 44">
            <a:extLst>
              <a:ext uri="{FF2B5EF4-FFF2-40B4-BE49-F238E27FC236}">
                <a16:creationId xmlns:a16="http://schemas.microsoft.com/office/drawing/2014/main" id="{C05EE52C-D3D5-4F0B-8A13-898E0E5F6CE7}"/>
              </a:ext>
            </a:extLst>
          </p:cNvPr>
          <p:cNvSpPr>
            <a:spLocks noGrp="1"/>
          </p:cNvSpPr>
          <p:nvPr/>
        </p:nvSpPr>
        <p:spPr>
          <a:xfrm>
            <a:off x="2743200" y="347091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EA7C985-2B75-4F99-93A7-A51F31C329FC}"/>
              </a:ext>
            </a:extLst>
          </p:cNvPr>
          <p:cNvSpPr>
            <a:spLocks noGrp="1"/>
          </p:cNvSpPr>
          <p:nvPr/>
        </p:nvSpPr>
        <p:spPr>
          <a:xfrm>
            <a:off x="2819400" y="354711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93.6</a:t>
            </a:r>
          </a:p>
        </p:txBody>
      </p:sp>
      <p:sp>
        <p:nvSpPr>
          <p:cNvPr id="47" name="矩形: 圓角 46">
            <a:extLst>
              <a:ext uri="{FF2B5EF4-FFF2-40B4-BE49-F238E27FC236}">
                <a16:creationId xmlns:a16="http://schemas.microsoft.com/office/drawing/2014/main" id="{B77666D8-BE25-46C2-A928-7D97BF77CCEC}"/>
              </a:ext>
            </a:extLst>
          </p:cNvPr>
          <p:cNvSpPr>
            <a:spLocks noGrp="1"/>
          </p:cNvSpPr>
          <p:nvPr/>
        </p:nvSpPr>
        <p:spPr>
          <a:xfrm>
            <a:off x="3733800" y="3470910"/>
            <a:ext cx="990600" cy="358140"/>
          </a:xfrm>
          <a:prstGeom prst="roundRect">
            <a:avLst>
              <a:gd name="adj" fmla="val 21277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7F8E43F-7B47-42A6-A754-A491B8607C68}"/>
              </a:ext>
            </a:extLst>
          </p:cNvPr>
          <p:cNvSpPr>
            <a:spLocks noGrp="1"/>
          </p:cNvSpPr>
          <p:nvPr/>
        </p:nvSpPr>
        <p:spPr>
          <a:xfrm>
            <a:off x="3810000" y="3547110"/>
            <a:ext cx="838200" cy="24384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89.0</a:t>
            </a:r>
          </a:p>
        </p:txBody>
      </p:sp>
      <p:sp>
        <p:nvSpPr>
          <p:cNvPr id="49" name="矩形: 圓角 48">
            <a:extLst>
              <a:ext uri="{FF2B5EF4-FFF2-40B4-BE49-F238E27FC236}">
                <a16:creationId xmlns:a16="http://schemas.microsoft.com/office/drawing/2014/main" id="{488C2131-F563-4BBD-90D0-14AD3B7AB049}"/>
              </a:ext>
            </a:extLst>
          </p:cNvPr>
          <p:cNvSpPr>
            <a:spLocks noGrp="1"/>
          </p:cNvSpPr>
          <p:nvPr/>
        </p:nvSpPr>
        <p:spPr>
          <a:xfrm>
            <a:off x="5181600" y="2038350"/>
            <a:ext cx="2571750" cy="179070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 w="9525">
            <a:solidFill>
              <a:srgbClr val="D3A126"/>
            </a:solidFill>
            <a:prstDash val="solid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2674C4AC-1AC9-4C57-949C-A9EEA7BE0F7F}"/>
              </a:ext>
            </a:extLst>
          </p:cNvPr>
          <p:cNvSpPr>
            <a:spLocks noGrp="1"/>
          </p:cNvSpPr>
          <p:nvPr/>
        </p:nvSpPr>
        <p:spPr>
          <a:xfrm>
            <a:off x="5429250" y="2247900"/>
            <a:ext cx="2095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Test-time Scaling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57101CAD-C93F-4D56-B949-EA0BA691E9A3}"/>
              </a:ext>
            </a:extLst>
          </p:cNvPr>
          <p:cNvSpPr>
            <a:spLocks noGrp="1"/>
          </p:cNvSpPr>
          <p:nvPr/>
        </p:nvSpPr>
        <p:spPr>
          <a:xfrm>
            <a:off x="5429250" y="2705100"/>
            <a:ext cx="1905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50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max steps 5 → 20</a:t>
            </a: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7D6F58F7-97C9-443B-A63D-0B04B439E921}"/>
              </a:ext>
            </a:extLst>
          </p:cNvPr>
          <p:cNvSpPr>
            <a:spLocks noGrp="1"/>
          </p:cNvSpPr>
          <p:nvPr/>
        </p:nvSpPr>
        <p:spPr>
          <a:xfrm>
            <a:off x="5429250" y="3067050"/>
            <a:ext cx="666750" cy="171450"/>
          </a:xfrm>
          <a:prstGeom prst="rect">
            <a:avLst/>
          </a:prstGeom>
          <a:solidFill>
            <a:srgbClr val="3F79D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A5BC2A28-0D2A-46C4-80FF-35C15F8558C0}"/>
              </a:ext>
            </a:extLst>
          </p:cNvPr>
          <p:cNvSpPr>
            <a:spLocks noGrp="1"/>
          </p:cNvSpPr>
          <p:nvPr/>
        </p:nvSpPr>
        <p:spPr>
          <a:xfrm>
            <a:off x="5429250" y="3371850"/>
            <a:ext cx="1257300" cy="171450"/>
          </a:xfrm>
          <a:prstGeom prst="rect">
            <a:avLst/>
          </a:prstGeom>
          <a:solidFill>
            <a:srgbClr val="2F9D64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0F58DF18-66DA-417F-BADF-B784A7EEC819}"/>
              </a:ext>
            </a:extLst>
          </p:cNvPr>
          <p:cNvSpPr>
            <a:spLocks noGrp="1"/>
          </p:cNvSpPr>
          <p:nvPr/>
        </p:nvSpPr>
        <p:spPr>
          <a:xfrm>
            <a:off x="6191250" y="30384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GPT-4o-mini +4%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958CD8A-20E8-4143-B07A-B32164E65AFA}"/>
              </a:ext>
            </a:extLst>
          </p:cNvPr>
          <p:cNvSpPr>
            <a:spLocks noGrp="1"/>
          </p:cNvSpPr>
          <p:nvPr/>
        </p:nvSpPr>
        <p:spPr>
          <a:xfrm>
            <a:off x="6781800" y="3343275"/>
            <a:ext cx="8572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8" b="0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122033"/>
                </a:solidFill>
                <a:latin typeface="Aptos"/>
                <a:ea typeface="Aptos"/>
                <a:cs typeface="Aptos"/>
              </a:rPr>
              <a:t>GPT-5-mini +8%</a:t>
            </a:r>
          </a:p>
        </p:txBody>
      </p:sp>
      <p:sp>
        <p:nvSpPr>
          <p:cNvPr id="56" name="矩形: 圓角 55">
            <a:extLst>
              <a:ext uri="{FF2B5EF4-FFF2-40B4-BE49-F238E27FC236}">
                <a16:creationId xmlns:a16="http://schemas.microsoft.com/office/drawing/2014/main" id="{C91D43AC-5491-4D24-BB5A-6FDE6B15848A}"/>
              </a:ext>
            </a:extLst>
          </p:cNvPr>
          <p:cNvSpPr>
            <a:spLocks noGrp="1"/>
          </p:cNvSpPr>
          <p:nvPr/>
        </p:nvSpPr>
        <p:spPr>
          <a:xfrm>
            <a:off x="8191500" y="2038350"/>
            <a:ext cx="2705100" cy="1790700"/>
          </a:xfrm>
          <a:prstGeom prst="roundRect">
            <a:avLst>
              <a:gd name="adj" fmla="val 4255"/>
            </a:avLst>
          </a:prstGeom>
          <a:solidFill>
            <a:srgbClr val="F4F7FB"/>
          </a:solidFill>
          <a:ln w="9525">
            <a:solidFill>
              <a:srgbClr val="7A6FD3"/>
            </a:solidFill>
            <a:prstDash val="solid"/>
          </a:ln>
        </p:spPr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1EBBBAE-C468-44FA-9187-67E4976D7C8F}"/>
              </a:ext>
            </a:extLst>
          </p:cNvPr>
          <p:cNvSpPr>
            <a:spLocks noGrp="1"/>
          </p:cNvSpPr>
          <p:nvPr/>
        </p:nvSpPr>
        <p:spPr>
          <a:xfrm>
            <a:off x="8439150" y="2247900"/>
            <a:ext cx="2190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7A6FD3"/>
                </a:solidFill>
                <a:latin typeface="Microsoft JhengHei"/>
                <a:ea typeface="Microsoft JhengHei"/>
                <a:cs typeface="Microsoft JhengHei"/>
              </a:rPr>
              <a:t>Reasoning Effort</a:t>
            </a: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4042CE5B-2D8F-4D70-83EF-470D25DE6869}"/>
              </a:ext>
            </a:extLst>
          </p:cNvPr>
          <p:cNvSpPr>
            <a:spLocks noGrp="1"/>
          </p:cNvSpPr>
          <p:nvPr/>
        </p:nvSpPr>
        <p:spPr>
          <a:xfrm>
            <a:off x="8439150" y="2724150"/>
            <a:ext cx="200025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minimal → high</a:t>
            </a:r>
          </a:p>
          <a:p>
            <a:pPr algn="l">
              <a:buNone/>
              <a:defRPr sz="1650" b="1">
                <a:solidFill>
                  <a:srgbClr val="122033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22033"/>
                </a:solidFill>
                <a:latin typeface="Aptos"/>
                <a:ea typeface="Aptos"/>
                <a:cs typeface="Aptos"/>
              </a:rPr>
              <a:t>約 +25% performance</a:t>
            </a: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31F57A0E-2753-4C61-8162-373C2BDF2B0B}"/>
              </a:ext>
            </a:extLst>
          </p:cNvPr>
          <p:cNvSpPr>
            <a:spLocks noGrp="1"/>
          </p:cNvSpPr>
          <p:nvPr/>
        </p:nvSpPr>
        <p:spPr>
          <a:xfrm>
            <a:off x="8439150" y="3371850"/>
            <a:ext cx="2000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38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38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強 reasoning model 更能利用長程探索。</a:t>
            </a:r>
          </a:p>
        </p:txBody>
      </p:sp>
      <p:sp>
        <p:nvSpPr>
          <p:cNvPr id="60" name="矩形: 圓角 59">
            <a:extLst>
              <a:ext uri="{FF2B5EF4-FFF2-40B4-BE49-F238E27FC236}">
                <a16:creationId xmlns:a16="http://schemas.microsoft.com/office/drawing/2014/main" id="{EC421DD5-4B04-4E08-BBED-FEFB6B5D01FB}"/>
              </a:ext>
            </a:extLst>
          </p:cNvPr>
          <p:cNvSpPr>
            <a:spLocks noGrp="1"/>
          </p:cNvSpPr>
          <p:nvPr/>
        </p:nvSpPr>
        <p:spPr>
          <a:xfrm>
            <a:off x="400050" y="4305300"/>
            <a:ext cx="1657350" cy="276225"/>
          </a:xfrm>
          <a:prstGeom prst="roundRect">
            <a:avLst>
              <a:gd name="adj" fmla="val 27586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1BC37B80-EBE3-4DF3-AC06-07051177C033}"/>
              </a:ext>
            </a:extLst>
          </p:cNvPr>
          <p:cNvSpPr>
            <a:spLocks noGrp="1"/>
          </p:cNvSpPr>
          <p:nvPr/>
        </p:nvSpPr>
        <p:spPr>
          <a:xfrm>
            <a:off x="476250" y="438150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Retrieved tokens</a:t>
            </a:r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5BD7B4F0-EAD5-4B84-8E16-4C421A0D49D8}"/>
              </a:ext>
            </a:extLst>
          </p:cNvPr>
          <p:cNvSpPr>
            <a:spLocks noGrp="1"/>
          </p:cNvSpPr>
          <p:nvPr/>
        </p:nvSpPr>
        <p:spPr>
          <a:xfrm>
            <a:off x="2057400" y="4305300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596E82CB-327E-4073-855D-6E912E767C9C}"/>
              </a:ext>
            </a:extLst>
          </p:cNvPr>
          <p:cNvSpPr>
            <a:spLocks noGrp="1"/>
          </p:cNvSpPr>
          <p:nvPr/>
        </p:nvSpPr>
        <p:spPr>
          <a:xfrm>
            <a:off x="2133600" y="4381500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MuSiQue</a:t>
            </a:r>
          </a:p>
        </p:txBody>
      </p:sp>
      <p:sp>
        <p:nvSpPr>
          <p:cNvPr id="64" name="矩形: 圓角 63">
            <a:extLst>
              <a:ext uri="{FF2B5EF4-FFF2-40B4-BE49-F238E27FC236}">
                <a16:creationId xmlns:a16="http://schemas.microsoft.com/office/drawing/2014/main" id="{7A0C3C77-8339-4550-842B-B20F2792DF27}"/>
              </a:ext>
            </a:extLst>
          </p:cNvPr>
          <p:cNvSpPr>
            <a:spLocks noGrp="1"/>
          </p:cNvSpPr>
          <p:nvPr/>
        </p:nvSpPr>
        <p:spPr>
          <a:xfrm>
            <a:off x="3200400" y="4305300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F69A3B57-10E9-475A-B3D2-1C535CAD2C9E}"/>
              </a:ext>
            </a:extLst>
          </p:cNvPr>
          <p:cNvSpPr>
            <a:spLocks noGrp="1"/>
          </p:cNvSpPr>
          <p:nvPr/>
        </p:nvSpPr>
        <p:spPr>
          <a:xfrm>
            <a:off x="3276600" y="4381500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HotpotQA</a:t>
            </a:r>
          </a:p>
        </p:txBody>
      </p:sp>
      <p:sp>
        <p:nvSpPr>
          <p:cNvPr id="66" name="矩形: 圓角 65">
            <a:extLst>
              <a:ext uri="{FF2B5EF4-FFF2-40B4-BE49-F238E27FC236}">
                <a16:creationId xmlns:a16="http://schemas.microsoft.com/office/drawing/2014/main" id="{D12AC6D8-F038-4A90-91CD-B0605DD5DF36}"/>
              </a:ext>
            </a:extLst>
          </p:cNvPr>
          <p:cNvSpPr>
            <a:spLocks noGrp="1"/>
          </p:cNvSpPr>
          <p:nvPr/>
        </p:nvSpPr>
        <p:spPr>
          <a:xfrm>
            <a:off x="4343400" y="4305300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2DC2DD2E-D8E9-4F13-90BF-813E84BBC888}"/>
              </a:ext>
            </a:extLst>
          </p:cNvPr>
          <p:cNvSpPr>
            <a:spLocks noGrp="1"/>
          </p:cNvSpPr>
          <p:nvPr/>
        </p:nvSpPr>
        <p:spPr>
          <a:xfrm>
            <a:off x="4419600" y="4381500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2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2Wiki</a:t>
            </a:r>
          </a:p>
        </p:txBody>
      </p:sp>
      <p:sp>
        <p:nvSpPr>
          <p:cNvPr id="68" name="矩形: 圓角 67">
            <a:extLst>
              <a:ext uri="{FF2B5EF4-FFF2-40B4-BE49-F238E27FC236}">
                <a16:creationId xmlns:a16="http://schemas.microsoft.com/office/drawing/2014/main" id="{324CC63D-52CF-4DFC-9BEC-3B2B9CDCEE38}"/>
              </a:ext>
            </a:extLst>
          </p:cNvPr>
          <p:cNvSpPr>
            <a:spLocks noGrp="1"/>
          </p:cNvSpPr>
          <p:nvPr/>
        </p:nvSpPr>
        <p:spPr>
          <a:xfrm>
            <a:off x="400050" y="4581525"/>
            <a:ext cx="1657350" cy="276225"/>
          </a:xfrm>
          <a:prstGeom prst="roundRect">
            <a:avLst>
              <a:gd name="adj" fmla="val 27586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6F37E085-1D9D-49A8-AE7E-E1B68FB6A2E4}"/>
              </a:ext>
            </a:extLst>
          </p:cNvPr>
          <p:cNvSpPr>
            <a:spLocks noGrp="1"/>
          </p:cNvSpPr>
          <p:nvPr/>
        </p:nvSpPr>
        <p:spPr>
          <a:xfrm>
            <a:off x="476250" y="4657725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Naive RAG</a:t>
            </a:r>
          </a:p>
        </p:txBody>
      </p:sp>
      <p:sp>
        <p:nvSpPr>
          <p:cNvPr id="70" name="矩形: 圓角 69">
            <a:extLst>
              <a:ext uri="{FF2B5EF4-FFF2-40B4-BE49-F238E27FC236}">
                <a16:creationId xmlns:a16="http://schemas.microsoft.com/office/drawing/2014/main" id="{7C44EBB8-EE0A-421A-B54F-2337D38A0BC7}"/>
              </a:ext>
            </a:extLst>
          </p:cNvPr>
          <p:cNvSpPr>
            <a:spLocks noGrp="1"/>
          </p:cNvSpPr>
          <p:nvPr/>
        </p:nvSpPr>
        <p:spPr>
          <a:xfrm>
            <a:off x="2057400" y="4581525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6B9F543F-2F6E-4E22-B544-0DBE62B2B4FA}"/>
              </a:ext>
            </a:extLst>
          </p:cNvPr>
          <p:cNvSpPr>
            <a:spLocks noGrp="1"/>
          </p:cNvSpPr>
          <p:nvPr/>
        </p:nvSpPr>
        <p:spPr>
          <a:xfrm>
            <a:off x="2133600" y="4657725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5,387</a:t>
            </a:r>
          </a:p>
        </p:txBody>
      </p: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15528107-46FD-4866-B177-9D1F8BF4C1F6}"/>
              </a:ext>
            </a:extLst>
          </p:cNvPr>
          <p:cNvSpPr>
            <a:spLocks noGrp="1"/>
          </p:cNvSpPr>
          <p:nvPr/>
        </p:nvSpPr>
        <p:spPr>
          <a:xfrm>
            <a:off x="3200400" y="4581525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1E8A456-B2D9-4564-B941-45FBA4F32E18}"/>
              </a:ext>
            </a:extLst>
          </p:cNvPr>
          <p:cNvSpPr>
            <a:spLocks noGrp="1"/>
          </p:cNvSpPr>
          <p:nvPr/>
        </p:nvSpPr>
        <p:spPr>
          <a:xfrm>
            <a:off x="3276600" y="4657725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5,358</a:t>
            </a:r>
          </a:p>
        </p:txBody>
      </p:sp>
      <p:sp>
        <p:nvSpPr>
          <p:cNvPr id="74" name="矩形: 圓角 73">
            <a:extLst>
              <a:ext uri="{FF2B5EF4-FFF2-40B4-BE49-F238E27FC236}">
                <a16:creationId xmlns:a16="http://schemas.microsoft.com/office/drawing/2014/main" id="{63CAD18D-C808-4386-AADB-0AF3276B5FA8}"/>
              </a:ext>
            </a:extLst>
          </p:cNvPr>
          <p:cNvSpPr>
            <a:spLocks noGrp="1"/>
          </p:cNvSpPr>
          <p:nvPr/>
        </p:nvSpPr>
        <p:spPr>
          <a:xfrm>
            <a:off x="4343400" y="4581525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21C3ACAF-E0B3-45CA-9D23-7252A741EFCE}"/>
              </a:ext>
            </a:extLst>
          </p:cNvPr>
          <p:cNvSpPr>
            <a:spLocks noGrp="1"/>
          </p:cNvSpPr>
          <p:nvPr/>
        </p:nvSpPr>
        <p:spPr>
          <a:xfrm>
            <a:off x="4419600" y="4657725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5,506</a:t>
            </a:r>
          </a:p>
        </p:txBody>
      </p:sp>
      <p:sp>
        <p:nvSpPr>
          <p:cNvPr id="76" name="矩形: 圓角 75">
            <a:extLst>
              <a:ext uri="{FF2B5EF4-FFF2-40B4-BE49-F238E27FC236}">
                <a16:creationId xmlns:a16="http://schemas.microsoft.com/office/drawing/2014/main" id="{15547E17-839E-4486-A419-2E87175D805A}"/>
              </a:ext>
            </a:extLst>
          </p:cNvPr>
          <p:cNvSpPr>
            <a:spLocks noGrp="1"/>
          </p:cNvSpPr>
          <p:nvPr/>
        </p:nvSpPr>
        <p:spPr>
          <a:xfrm>
            <a:off x="400050" y="4857750"/>
            <a:ext cx="165735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E258D71-A53B-45A0-AFC6-A678E220EF26}"/>
              </a:ext>
            </a:extLst>
          </p:cNvPr>
          <p:cNvSpPr>
            <a:spLocks noGrp="1"/>
          </p:cNvSpPr>
          <p:nvPr/>
        </p:nvSpPr>
        <p:spPr>
          <a:xfrm>
            <a:off x="476250" y="4933950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Naive</a:t>
            </a:r>
          </a:p>
        </p:txBody>
      </p:sp>
      <p:sp>
        <p:nvSpPr>
          <p:cNvPr id="78" name="矩形: 圓角 77">
            <a:extLst>
              <a:ext uri="{FF2B5EF4-FFF2-40B4-BE49-F238E27FC236}">
                <a16:creationId xmlns:a16="http://schemas.microsoft.com/office/drawing/2014/main" id="{B473C0CE-889D-48D5-B97F-32752F055C76}"/>
              </a:ext>
            </a:extLst>
          </p:cNvPr>
          <p:cNvSpPr>
            <a:spLocks noGrp="1"/>
          </p:cNvSpPr>
          <p:nvPr/>
        </p:nvSpPr>
        <p:spPr>
          <a:xfrm>
            <a:off x="2057400" y="4857750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1A40D564-C50A-4F6C-817B-787AFF2AAD4E}"/>
              </a:ext>
            </a:extLst>
          </p:cNvPr>
          <p:cNvSpPr>
            <a:spLocks noGrp="1"/>
          </p:cNvSpPr>
          <p:nvPr/>
        </p:nvSpPr>
        <p:spPr>
          <a:xfrm>
            <a:off x="2133600" y="4933950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56,360</a:t>
            </a:r>
          </a:p>
        </p:txBody>
      </p:sp>
      <p:sp>
        <p:nvSpPr>
          <p:cNvPr id="80" name="矩形: 圓角 79">
            <a:extLst>
              <a:ext uri="{FF2B5EF4-FFF2-40B4-BE49-F238E27FC236}">
                <a16:creationId xmlns:a16="http://schemas.microsoft.com/office/drawing/2014/main" id="{FB90AED6-6A5A-4E22-9A54-AC4AF4BE907E}"/>
              </a:ext>
            </a:extLst>
          </p:cNvPr>
          <p:cNvSpPr>
            <a:spLocks noGrp="1"/>
          </p:cNvSpPr>
          <p:nvPr/>
        </p:nvSpPr>
        <p:spPr>
          <a:xfrm>
            <a:off x="3200400" y="4857750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217432E-C527-4F44-A190-227A20640A92}"/>
              </a:ext>
            </a:extLst>
          </p:cNvPr>
          <p:cNvSpPr>
            <a:spLocks noGrp="1"/>
          </p:cNvSpPr>
          <p:nvPr/>
        </p:nvSpPr>
        <p:spPr>
          <a:xfrm>
            <a:off x="3276600" y="4933950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27,455</a:t>
            </a:r>
          </a:p>
        </p:txBody>
      </p:sp>
      <p:sp>
        <p:nvSpPr>
          <p:cNvPr id="82" name="矩形: 圓角 81">
            <a:extLst>
              <a:ext uri="{FF2B5EF4-FFF2-40B4-BE49-F238E27FC236}">
                <a16:creationId xmlns:a16="http://schemas.microsoft.com/office/drawing/2014/main" id="{F52F2056-DD4A-40CA-83CA-98F8E12A9B9B}"/>
              </a:ext>
            </a:extLst>
          </p:cNvPr>
          <p:cNvSpPr>
            <a:spLocks noGrp="1"/>
          </p:cNvSpPr>
          <p:nvPr/>
        </p:nvSpPr>
        <p:spPr>
          <a:xfrm>
            <a:off x="4343400" y="4857750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FFCB7E07-4127-4BD9-9736-6643CC0FDBDD}"/>
              </a:ext>
            </a:extLst>
          </p:cNvPr>
          <p:cNvSpPr>
            <a:spLocks noGrp="1"/>
          </p:cNvSpPr>
          <p:nvPr/>
        </p:nvSpPr>
        <p:spPr>
          <a:xfrm>
            <a:off x="4419600" y="4933950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45,406</a:t>
            </a:r>
          </a:p>
        </p:txBody>
      </p:sp>
      <p:sp>
        <p:nvSpPr>
          <p:cNvPr id="84" name="矩形: 圓角 83">
            <a:extLst>
              <a:ext uri="{FF2B5EF4-FFF2-40B4-BE49-F238E27FC236}">
                <a16:creationId xmlns:a16="http://schemas.microsoft.com/office/drawing/2014/main" id="{442847E7-6B86-4F94-A169-FDABBB515F39}"/>
              </a:ext>
            </a:extLst>
          </p:cNvPr>
          <p:cNvSpPr>
            <a:spLocks noGrp="1"/>
          </p:cNvSpPr>
          <p:nvPr/>
        </p:nvSpPr>
        <p:spPr>
          <a:xfrm>
            <a:off x="400050" y="5133975"/>
            <a:ext cx="1657350" cy="276225"/>
          </a:xfrm>
          <a:prstGeom prst="roundRect">
            <a:avLst>
              <a:gd name="adj" fmla="val 27586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793E4EC3-0857-4C67-8130-BCAC2EAA40AB}"/>
              </a:ext>
            </a:extLst>
          </p:cNvPr>
          <p:cNvSpPr>
            <a:spLocks noGrp="1"/>
          </p:cNvSpPr>
          <p:nvPr/>
        </p:nvSpPr>
        <p:spPr>
          <a:xfrm>
            <a:off x="476250" y="5210175"/>
            <a:ext cx="15049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Full</a:t>
            </a:r>
          </a:p>
        </p:txBody>
      </p:sp>
      <p:sp>
        <p:nvSpPr>
          <p:cNvPr id="86" name="矩形: 圓角 85">
            <a:extLst>
              <a:ext uri="{FF2B5EF4-FFF2-40B4-BE49-F238E27FC236}">
                <a16:creationId xmlns:a16="http://schemas.microsoft.com/office/drawing/2014/main" id="{1892AF94-9542-4875-BC31-2032C0453B30}"/>
              </a:ext>
            </a:extLst>
          </p:cNvPr>
          <p:cNvSpPr>
            <a:spLocks noGrp="1"/>
          </p:cNvSpPr>
          <p:nvPr/>
        </p:nvSpPr>
        <p:spPr>
          <a:xfrm>
            <a:off x="2057400" y="5133975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5051A3AC-8D76-41EB-B80D-5DF0303A405E}"/>
              </a:ext>
            </a:extLst>
          </p:cNvPr>
          <p:cNvSpPr>
            <a:spLocks noGrp="1"/>
          </p:cNvSpPr>
          <p:nvPr/>
        </p:nvSpPr>
        <p:spPr>
          <a:xfrm>
            <a:off x="2133600" y="5210175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2F9F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9FB8"/>
                </a:solidFill>
                <a:latin typeface="Aptos"/>
                <a:ea typeface="Aptos"/>
                <a:cs typeface="Aptos"/>
              </a:rPr>
              <a:t>5,663</a:t>
            </a:r>
          </a:p>
        </p:txBody>
      </p:sp>
      <p:sp>
        <p:nvSpPr>
          <p:cNvPr id="88" name="矩形: 圓角 87">
            <a:extLst>
              <a:ext uri="{FF2B5EF4-FFF2-40B4-BE49-F238E27FC236}">
                <a16:creationId xmlns:a16="http://schemas.microsoft.com/office/drawing/2014/main" id="{1C2C333A-174F-4FE4-920D-1534C775106B}"/>
              </a:ext>
            </a:extLst>
          </p:cNvPr>
          <p:cNvSpPr>
            <a:spLocks noGrp="1"/>
          </p:cNvSpPr>
          <p:nvPr/>
        </p:nvSpPr>
        <p:spPr>
          <a:xfrm>
            <a:off x="3200400" y="5133975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2391E114-222C-47C4-8EBE-85846BCD11BB}"/>
              </a:ext>
            </a:extLst>
          </p:cNvPr>
          <p:cNvSpPr>
            <a:spLocks noGrp="1"/>
          </p:cNvSpPr>
          <p:nvPr/>
        </p:nvSpPr>
        <p:spPr>
          <a:xfrm>
            <a:off x="3276600" y="5210175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2F9F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9FB8"/>
                </a:solidFill>
                <a:latin typeface="Aptos"/>
                <a:ea typeface="Aptos"/>
                <a:cs typeface="Aptos"/>
              </a:rPr>
              <a:t>2,737</a:t>
            </a:r>
          </a:p>
        </p:txBody>
      </p:sp>
      <p:sp>
        <p:nvSpPr>
          <p:cNvPr id="90" name="矩形: 圓角 89">
            <a:extLst>
              <a:ext uri="{FF2B5EF4-FFF2-40B4-BE49-F238E27FC236}">
                <a16:creationId xmlns:a16="http://schemas.microsoft.com/office/drawing/2014/main" id="{57D499CF-F0E9-436D-91C9-DFD34F8070E4}"/>
              </a:ext>
            </a:extLst>
          </p:cNvPr>
          <p:cNvSpPr>
            <a:spLocks noGrp="1"/>
          </p:cNvSpPr>
          <p:nvPr/>
        </p:nvSpPr>
        <p:spPr>
          <a:xfrm>
            <a:off x="4343400" y="5133975"/>
            <a:ext cx="1143000" cy="276225"/>
          </a:xfrm>
          <a:prstGeom prst="roundRect">
            <a:avLst>
              <a:gd name="adj" fmla="val 27586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598956AE-E447-4048-9B3F-A519962E1E6F}"/>
              </a:ext>
            </a:extLst>
          </p:cNvPr>
          <p:cNvSpPr>
            <a:spLocks noGrp="1"/>
          </p:cNvSpPr>
          <p:nvPr/>
        </p:nvSpPr>
        <p:spPr>
          <a:xfrm>
            <a:off x="4419600" y="5210175"/>
            <a:ext cx="9906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788" b="1">
                <a:solidFill>
                  <a:srgbClr val="2F9FB8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2F9FB8"/>
                </a:solidFill>
                <a:latin typeface="Aptos"/>
                <a:ea typeface="Aptos"/>
                <a:cs typeface="Aptos"/>
              </a:rPr>
              <a:t>2,930</a:t>
            </a:r>
          </a:p>
        </p:txBody>
      </p:sp>
      <p:sp>
        <p:nvSpPr>
          <p:cNvPr id="92" name="矩形: 圓角 91">
            <a:extLst>
              <a:ext uri="{FF2B5EF4-FFF2-40B4-BE49-F238E27FC236}">
                <a16:creationId xmlns:a16="http://schemas.microsoft.com/office/drawing/2014/main" id="{4139DC01-7192-49A8-8FEE-40BCE84B0847}"/>
              </a:ext>
            </a:extLst>
          </p:cNvPr>
          <p:cNvSpPr>
            <a:spLocks noGrp="1"/>
          </p:cNvSpPr>
          <p:nvPr/>
        </p:nvSpPr>
        <p:spPr>
          <a:xfrm>
            <a:off x="5943600" y="4305300"/>
            <a:ext cx="4953000" cy="1104900"/>
          </a:xfrm>
          <a:prstGeom prst="roundRect">
            <a:avLst>
              <a:gd name="adj" fmla="val 6897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FD3EAF2-D006-462F-AF1D-92A8F54523B8}"/>
              </a:ext>
            </a:extLst>
          </p:cNvPr>
          <p:cNvSpPr>
            <a:spLocks noGrp="1"/>
          </p:cNvSpPr>
          <p:nvPr/>
        </p:nvSpPr>
        <p:spPr>
          <a:xfrm>
            <a:off x="6191250" y="4581525"/>
            <a:ext cx="85725" cy="85725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735337CF-22CD-4B6A-8019-B11E6E9F844E}"/>
              </a:ext>
            </a:extLst>
          </p:cNvPr>
          <p:cNvSpPr>
            <a:spLocks noGrp="1"/>
          </p:cNvSpPr>
          <p:nvPr/>
        </p:nvSpPr>
        <p:spPr>
          <a:xfrm>
            <a:off x="6362700" y="4533900"/>
            <a:ext cx="4171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A-RAG Naive 會過度讀取 context；Full 反而更省 token 且更準。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BA5E604B-C283-46F9-A37C-DB67430BE3FF}"/>
              </a:ext>
            </a:extLst>
          </p:cNvPr>
          <p:cNvSpPr>
            <a:spLocks noGrp="1"/>
          </p:cNvSpPr>
          <p:nvPr/>
        </p:nvSpPr>
        <p:spPr>
          <a:xfrm>
            <a:off x="6191250" y="4924425"/>
            <a:ext cx="85725" cy="85725"/>
          </a:xfrm>
          <a:prstGeom prst="rect">
            <a:avLst/>
          </a:prstGeom>
          <a:solidFill>
            <a:srgbClr val="2F9FB8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8B6B6B83-1950-413B-B19E-59A65BF6DB5F}"/>
              </a:ext>
            </a:extLst>
          </p:cNvPr>
          <p:cNvSpPr>
            <a:spLocks noGrp="1"/>
          </p:cNvSpPr>
          <p:nvPr/>
        </p:nvSpPr>
        <p:spPr>
          <a:xfrm>
            <a:off x="6362700" y="4876800"/>
            <a:ext cx="417195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990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Hierarchical interface 的價值在於逐步揭露資訊，而不是單純增加檢索量。</a:t>
            </a:r>
          </a:p>
        </p:txBody>
      </p:sp>
    </p:spTree>
    <p:extLst>
      <p:ext uri="{BB962C8B-B14F-4D97-AF65-F5344CB8AC3E}">
        <p14:creationId xmlns:p14="http://schemas.microsoft.com/office/powerpoint/2010/main" val="2123494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 45">
            <a:extLst>
              <a:ext uri="{FF2B5EF4-FFF2-40B4-BE49-F238E27FC236}">
                <a16:creationId xmlns:a16="http://schemas.microsoft.com/office/drawing/2014/main" id="{A007316D-D5CA-449C-8198-B00412C4A16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B14F8A-068C-4FAD-8B86-C4918B3B81D7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12077700" cy="6858000"/>
          </a:xfrm>
          <a:prstGeom prst="rect">
            <a:avLst/>
          </a:prstGeom>
          <a:solidFill>
            <a:srgbClr val="F6F8FB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C3A185-B0C2-42D9-9587-A69E17BD135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542CAAB-B1BF-4409-978B-8FB9A3DFFD59}"/>
              </a:ext>
            </a:extLst>
          </p:cNvPr>
          <p:cNvSpPr>
            <a:spLocks noGrp="1"/>
          </p:cNvSpPr>
          <p:nvPr/>
        </p:nvSpPr>
        <p:spPr>
          <a:xfrm>
            <a:off x="419100" y="228600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00" b="1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748F"/>
                </a:solidFill>
                <a:latin typeface="Aptos"/>
                <a:ea typeface="Aptos"/>
                <a:cs typeface="Aptos"/>
              </a:rPr>
              <a:t>A-RAG Paper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9CC6E63-8C19-4234-A848-DC572CC59692}"/>
              </a:ext>
            </a:extLst>
          </p:cNvPr>
          <p:cNvSpPr>
            <a:spLocks noGrp="1"/>
          </p:cNvSpPr>
          <p:nvPr/>
        </p:nvSpPr>
        <p:spPr>
          <a:xfrm>
            <a:off x="10572750" y="228600"/>
            <a:ext cx="1047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00" b="0">
                <a:solidFill>
                  <a:srgbClr val="8798A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798AD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51FB08A-BF0B-46A5-A8ED-A269B2944666}"/>
              </a:ext>
            </a:extLst>
          </p:cNvPr>
          <p:cNvSpPr>
            <a:spLocks noGrp="1"/>
          </p:cNvSpPr>
          <p:nvPr/>
        </p:nvSpPr>
        <p:spPr>
          <a:xfrm>
            <a:off x="419100" y="552450"/>
            <a:ext cx="7239000" cy="4953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限制、Follow-up 與結論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10BA785-F03B-45D7-9AC9-BE20380AC88D}"/>
              </a:ext>
            </a:extLst>
          </p:cNvPr>
          <p:cNvSpPr>
            <a:spLocks noGrp="1"/>
          </p:cNvSpPr>
          <p:nvPr/>
        </p:nvSpPr>
        <p:spPr>
          <a:xfrm>
            <a:off x="419100" y="1104900"/>
            <a:ext cx="7429500" cy="19050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7FCD003-C6FF-4264-84A9-99AFD264EDDC}"/>
              </a:ext>
            </a:extLst>
          </p:cNvPr>
          <p:cNvSpPr>
            <a:spLocks noGrp="1"/>
          </p:cNvSpPr>
          <p:nvPr/>
        </p:nvSpPr>
        <p:spPr>
          <a:xfrm>
            <a:off x="419100" y="1238250"/>
            <a:ext cx="876300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5F748F"/>
                </a:solidFill>
                <a:latin typeface="Microsoft JhengHei"/>
                <a:ea typeface="Microsoft JhengHei"/>
                <a:cs typeface="Microsoft JhengHei"/>
              </a:rPr>
              <a:t>A-RAG 證明 agent-friendly retrieval interface 有價值，但仍需要更多任務與工具設計驗證。</a:t>
            </a: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B38F9DCC-1AA6-4692-91CD-44533973668E}"/>
              </a:ext>
            </a:extLst>
          </p:cNvPr>
          <p:cNvSpPr>
            <a:spLocks noGrp="1"/>
          </p:cNvSpPr>
          <p:nvPr/>
        </p:nvSpPr>
        <p:spPr>
          <a:xfrm>
            <a:off x="514350" y="2000250"/>
            <a:ext cx="1714500" cy="528638"/>
          </a:xfrm>
          <a:prstGeom prst="roundRect">
            <a:avLst>
              <a:gd name="adj" fmla="val 14414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9C76D3-A13D-4087-BED7-E18BFCD6F894}"/>
              </a:ext>
            </a:extLst>
          </p:cNvPr>
          <p:cNvSpPr>
            <a:spLocks noGrp="1"/>
          </p:cNvSpPr>
          <p:nvPr/>
        </p:nvSpPr>
        <p:spPr>
          <a:xfrm>
            <a:off x="590550" y="2076450"/>
            <a:ext cx="15621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限制</a:t>
            </a:r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C562E82-16E1-4848-AD23-A117B08160C7}"/>
              </a:ext>
            </a:extLst>
          </p:cNvPr>
          <p:cNvSpPr>
            <a:spLocks noGrp="1"/>
          </p:cNvSpPr>
          <p:nvPr/>
        </p:nvSpPr>
        <p:spPr>
          <a:xfrm>
            <a:off x="2228850" y="2000250"/>
            <a:ext cx="3448050" cy="528638"/>
          </a:xfrm>
          <a:prstGeom prst="roundRect">
            <a:avLst>
              <a:gd name="adj" fmla="val 14414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B828D05-BB54-45E2-86AE-018B2BB754EF}"/>
              </a:ext>
            </a:extLst>
          </p:cNvPr>
          <p:cNvSpPr>
            <a:spLocks noGrp="1"/>
          </p:cNvSpPr>
          <p:nvPr/>
        </p:nvSpPr>
        <p:spPr>
          <a:xfrm>
            <a:off x="2305050" y="2076450"/>
            <a:ext cx="329565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說明</a:t>
            </a:r>
          </a:p>
        </p:txBody>
      </p:sp>
      <p:sp>
        <p:nvSpPr>
          <p:cNvPr id="13" name="矩形: 圓角 12">
            <a:extLst>
              <a:ext uri="{FF2B5EF4-FFF2-40B4-BE49-F238E27FC236}">
                <a16:creationId xmlns:a16="http://schemas.microsoft.com/office/drawing/2014/main" id="{CB774D0A-0BD6-4836-8A58-E0AAE77B07AF}"/>
              </a:ext>
            </a:extLst>
          </p:cNvPr>
          <p:cNvSpPr>
            <a:spLocks noGrp="1"/>
          </p:cNvSpPr>
          <p:nvPr/>
        </p:nvSpPr>
        <p:spPr>
          <a:xfrm>
            <a:off x="514350" y="2528888"/>
            <a:ext cx="1714500" cy="528638"/>
          </a:xfrm>
          <a:prstGeom prst="roundRect">
            <a:avLst>
              <a:gd name="adj" fmla="val 14414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04D2962-BB30-4DFA-9E52-2BBCDF3A6363}"/>
              </a:ext>
            </a:extLst>
          </p:cNvPr>
          <p:cNvSpPr>
            <a:spLocks noGrp="1"/>
          </p:cNvSpPr>
          <p:nvPr/>
        </p:nvSpPr>
        <p:spPr>
          <a:xfrm>
            <a:off x="590550" y="2605088"/>
            <a:ext cx="15621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Tool design 未完整枚舉</a:t>
            </a:r>
          </a:p>
        </p:txBody>
      </p:sp>
      <p:sp>
        <p:nvSpPr>
          <p:cNvPr id="15" name="矩形: 圓角 14">
            <a:extLst>
              <a:ext uri="{FF2B5EF4-FFF2-40B4-BE49-F238E27FC236}">
                <a16:creationId xmlns:a16="http://schemas.microsoft.com/office/drawing/2014/main" id="{32785A7B-EEBB-4C5A-B3EB-59D758F08B26}"/>
              </a:ext>
            </a:extLst>
          </p:cNvPr>
          <p:cNvSpPr>
            <a:spLocks noGrp="1"/>
          </p:cNvSpPr>
          <p:nvPr/>
        </p:nvSpPr>
        <p:spPr>
          <a:xfrm>
            <a:off x="2228850" y="2528888"/>
            <a:ext cx="3448050" cy="528638"/>
          </a:xfrm>
          <a:prstGeom prst="roundRect">
            <a:avLst>
              <a:gd name="adj" fmla="val 14414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1C14CBF-EDEE-4C2C-BAA1-95A72CCCF7F0}"/>
              </a:ext>
            </a:extLst>
          </p:cNvPr>
          <p:cNvSpPr>
            <a:spLocks noGrp="1"/>
          </p:cNvSpPr>
          <p:nvPr/>
        </p:nvSpPr>
        <p:spPr>
          <a:xfrm>
            <a:off x="2305050" y="2605088"/>
            <a:ext cx="329565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論文沒有系統比較更多工具組合與 tool descriptions</a:t>
            </a:r>
          </a:p>
        </p:txBody>
      </p:sp>
      <p:sp>
        <p:nvSpPr>
          <p:cNvPr id="17" name="矩形: 圓角 16">
            <a:extLst>
              <a:ext uri="{FF2B5EF4-FFF2-40B4-BE49-F238E27FC236}">
                <a16:creationId xmlns:a16="http://schemas.microsoft.com/office/drawing/2014/main" id="{5637ADE6-DBD4-42D0-B9B4-5CF29F5BCC9F}"/>
              </a:ext>
            </a:extLst>
          </p:cNvPr>
          <p:cNvSpPr>
            <a:spLocks noGrp="1"/>
          </p:cNvSpPr>
          <p:nvPr/>
        </p:nvSpPr>
        <p:spPr>
          <a:xfrm>
            <a:off x="514350" y="3057525"/>
            <a:ext cx="1714500" cy="528638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627EF5E-F05A-4CC5-89FF-45D6F282E839}"/>
              </a:ext>
            </a:extLst>
          </p:cNvPr>
          <p:cNvSpPr>
            <a:spLocks noGrp="1"/>
          </p:cNvSpPr>
          <p:nvPr/>
        </p:nvSpPr>
        <p:spPr>
          <a:xfrm>
            <a:off x="590550" y="3133725"/>
            <a:ext cx="15621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Frontier model 驗證不足</a:t>
            </a:r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FABC35FF-9354-48DB-88F1-CE3CC2D21F79}"/>
              </a:ext>
            </a:extLst>
          </p:cNvPr>
          <p:cNvSpPr>
            <a:spLocks noGrp="1"/>
          </p:cNvSpPr>
          <p:nvPr/>
        </p:nvSpPr>
        <p:spPr>
          <a:xfrm>
            <a:off x="2228850" y="3057525"/>
            <a:ext cx="3448050" cy="528638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811778-A493-4DE0-A759-CA845976B2C1}"/>
              </a:ext>
            </a:extLst>
          </p:cNvPr>
          <p:cNvSpPr>
            <a:spLocks noGrp="1"/>
          </p:cNvSpPr>
          <p:nvPr/>
        </p:nvSpPr>
        <p:spPr>
          <a:xfrm>
            <a:off x="2305050" y="3133725"/>
            <a:ext cx="329565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未完整驗證更大型模型，例如 GPT-5、Gemini-3</a:t>
            </a:r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D42A52B9-F685-467A-B960-DF1C34A89341}"/>
              </a:ext>
            </a:extLst>
          </p:cNvPr>
          <p:cNvSpPr>
            <a:spLocks noGrp="1"/>
          </p:cNvSpPr>
          <p:nvPr/>
        </p:nvSpPr>
        <p:spPr>
          <a:xfrm>
            <a:off x="514350" y="3586163"/>
            <a:ext cx="1714500" cy="528638"/>
          </a:xfrm>
          <a:prstGeom prst="roundRect">
            <a:avLst>
              <a:gd name="adj" fmla="val 14414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842BE6F-888C-46FC-9277-89818F085E9B}"/>
              </a:ext>
            </a:extLst>
          </p:cNvPr>
          <p:cNvSpPr>
            <a:spLocks noGrp="1"/>
          </p:cNvSpPr>
          <p:nvPr/>
        </p:nvSpPr>
        <p:spPr>
          <a:xfrm>
            <a:off x="590550" y="3662363"/>
            <a:ext cx="15621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任務範圍集中 QA</a:t>
            </a:r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523A94E-897A-4EF1-B1D2-A29F9ADE1C43}"/>
              </a:ext>
            </a:extLst>
          </p:cNvPr>
          <p:cNvSpPr>
            <a:spLocks noGrp="1"/>
          </p:cNvSpPr>
          <p:nvPr/>
        </p:nvSpPr>
        <p:spPr>
          <a:xfrm>
            <a:off x="2228850" y="3586163"/>
            <a:ext cx="3448050" cy="528638"/>
          </a:xfrm>
          <a:prstGeom prst="roundRect">
            <a:avLst>
              <a:gd name="adj" fmla="val 14414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FA9E2F-A06B-495F-A172-D0F98D804ECC}"/>
              </a:ext>
            </a:extLst>
          </p:cNvPr>
          <p:cNvSpPr>
            <a:spLocks noGrp="1"/>
          </p:cNvSpPr>
          <p:nvPr/>
        </p:nvSpPr>
        <p:spPr>
          <a:xfrm>
            <a:off x="2305050" y="3662363"/>
            <a:ext cx="329565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1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81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尚未證明可泛化到 fact verification、dialogue、long-form generation</a:t>
            </a:r>
          </a:p>
        </p:txBody>
      </p:sp>
      <p:sp>
        <p:nvSpPr>
          <p:cNvPr id="25" name="矩形: 圓角 24">
            <a:extLst>
              <a:ext uri="{FF2B5EF4-FFF2-40B4-BE49-F238E27FC236}">
                <a16:creationId xmlns:a16="http://schemas.microsoft.com/office/drawing/2014/main" id="{C94945B8-8479-4906-86BF-E1B0FEB0803B}"/>
              </a:ext>
            </a:extLst>
          </p:cNvPr>
          <p:cNvSpPr>
            <a:spLocks noGrp="1"/>
          </p:cNvSpPr>
          <p:nvPr/>
        </p:nvSpPr>
        <p:spPr>
          <a:xfrm>
            <a:off x="6191250" y="2000250"/>
            <a:ext cx="1619250" cy="528638"/>
          </a:xfrm>
          <a:prstGeom prst="roundRect">
            <a:avLst>
              <a:gd name="adj" fmla="val 14414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B53B0CB-2FD1-43B3-99C4-D7E066233187}"/>
              </a:ext>
            </a:extLst>
          </p:cNvPr>
          <p:cNvSpPr>
            <a:spLocks noGrp="1"/>
          </p:cNvSpPr>
          <p:nvPr/>
        </p:nvSpPr>
        <p:spPr>
          <a:xfrm>
            <a:off x="6267450" y="2076450"/>
            <a:ext cx="146685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可行 Follow-up</a:t>
            </a:r>
          </a:p>
        </p:txBody>
      </p:sp>
      <p:sp>
        <p:nvSpPr>
          <p:cNvPr id="27" name="矩形: 圓角 26">
            <a:extLst>
              <a:ext uri="{FF2B5EF4-FFF2-40B4-BE49-F238E27FC236}">
                <a16:creationId xmlns:a16="http://schemas.microsoft.com/office/drawing/2014/main" id="{E8E6B810-86A8-447D-BB6E-A2086FF2AACC}"/>
              </a:ext>
            </a:extLst>
          </p:cNvPr>
          <p:cNvSpPr>
            <a:spLocks noGrp="1"/>
          </p:cNvSpPr>
          <p:nvPr/>
        </p:nvSpPr>
        <p:spPr>
          <a:xfrm>
            <a:off x="7810500" y="2000250"/>
            <a:ext cx="3048000" cy="528638"/>
          </a:xfrm>
          <a:prstGeom prst="roundRect">
            <a:avLst>
              <a:gd name="adj" fmla="val 14414"/>
            </a:avLst>
          </a:prstGeom>
          <a:solidFill>
            <a:srgbClr val="EAF0F7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EAD2C29-28FC-4A17-AB7A-12B0AA49ED60}"/>
              </a:ext>
            </a:extLst>
          </p:cNvPr>
          <p:cNvSpPr>
            <a:spLocks noGrp="1"/>
          </p:cNvSpPr>
          <p:nvPr/>
        </p:nvSpPr>
        <p:spPr>
          <a:xfrm>
            <a:off x="7886700" y="2076450"/>
            <a:ext cx="28956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863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驗證方式</a:t>
            </a:r>
          </a:p>
        </p:txBody>
      </p:sp>
      <p:sp>
        <p:nvSpPr>
          <p:cNvPr id="29" name="矩形: 圓角 28">
            <a:extLst>
              <a:ext uri="{FF2B5EF4-FFF2-40B4-BE49-F238E27FC236}">
                <a16:creationId xmlns:a16="http://schemas.microsoft.com/office/drawing/2014/main" id="{35FB19C2-9459-43C6-94F0-8F9BA05BC472}"/>
              </a:ext>
            </a:extLst>
          </p:cNvPr>
          <p:cNvSpPr>
            <a:spLocks noGrp="1"/>
          </p:cNvSpPr>
          <p:nvPr/>
        </p:nvSpPr>
        <p:spPr>
          <a:xfrm>
            <a:off x="6191250" y="2528888"/>
            <a:ext cx="1619250" cy="528638"/>
          </a:xfrm>
          <a:prstGeom prst="roundRect">
            <a:avLst>
              <a:gd name="adj" fmla="val 14414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B837487-F9C1-4963-8338-66EFBA15B301}"/>
              </a:ext>
            </a:extLst>
          </p:cNvPr>
          <p:cNvSpPr>
            <a:spLocks noGrp="1"/>
          </p:cNvSpPr>
          <p:nvPr/>
        </p:nvSpPr>
        <p:spPr>
          <a:xfrm>
            <a:off x="6267450" y="2605088"/>
            <a:ext cx="146685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工具策略消融</a:t>
            </a:r>
          </a:p>
        </p:txBody>
      </p:sp>
      <p:sp>
        <p:nvSpPr>
          <p:cNvPr id="31" name="矩形: 圓角 30">
            <a:extLst>
              <a:ext uri="{FF2B5EF4-FFF2-40B4-BE49-F238E27FC236}">
                <a16:creationId xmlns:a16="http://schemas.microsoft.com/office/drawing/2014/main" id="{FC1442AA-B50A-46BF-ACA1-5C71AB7C7E5F}"/>
              </a:ext>
            </a:extLst>
          </p:cNvPr>
          <p:cNvSpPr>
            <a:spLocks noGrp="1"/>
          </p:cNvSpPr>
          <p:nvPr/>
        </p:nvSpPr>
        <p:spPr>
          <a:xfrm>
            <a:off x="7810500" y="2528888"/>
            <a:ext cx="3048000" cy="528638"/>
          </a:xfrm>
          <a:prstGeom prst="roundRect">
            <a:avLst>
              <a:gd name="adj" fmla="val 14414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C5A4761-6A98-42CB-8F82-23B55A76A459}"/>
              </a:ext>
            </a:extLst>
          </p:cNvPr>
          <p:cNvSpPr>
            <a:spLocks noGrp="1"/>
          </p:cNvSpPr>
          <p:nvPr/>
        </p:nvSpPr>
        <p:spPr>
          <a:xfrm>
            <a:off x="7886700" y="2605088"/>
            <a:ext cx="28956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比較不同 tool set / top-k / snippet length 對準確率與 token 的影響</a:t>
            </a:r>
          </a:p>
        </p:txBody>
      </p:sp>
      <p:sp>
        <p:nvSpPr>
          <p:cNvPr id="33" name="矩形: 圓角 32">
            <a:extLst>
              <a:ext uri="{FF2B5EF4-FFF2-40B4-BE49-F238E27FC236}">
                <a16:creationId xmlns:a16="http://schemas.microsoft.com/office/drawing/2014/main" id="{C4C73D58-C90B-4019-BDF0-4DE444FB95E2}"/>
              </a:ext>
            </a:extLst>
          </p:cNvPr>
          <p:cNvSpPr>
            <a:spLocks noGrp="1"/>
          </p:cNvSpPr>
          <p:nvPr/>
        </p:nvSpPr>
        <p:spPr>
          <a:xfrm>
            <a:off x="6191250" y="3057525"/>
            <a:ext cx="1619250" cy="528638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2636D22-35FA-4500-B0EC-1D1513AA0527}"/>
              </a:ext>
            </a:extLst>
          </p:cNvPr>
          <p:cNvSpPr>
            <a:spLocks noGrp="1"/>
          </p:cNvSpPr>
          <p:nvPr/>
        </p:nvSpPr>
        <p:spPr>
          <a:xfrm>
            <a:off x="6267450" y="3133725"/>
            <a:ext cx="146685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任務泛化測試</a:t>
            </a:r>
          </a:p>
        </p:txBody>
      </p:sp>
      <p:sp>
        <p:nvSpPr>
          <p:cNvPr id="35" name="矩形: 圓角 34">
            <a:extLst>
              <a:ext uri="{FF2B5EF4-FFF2-40B4-BE49-F238E27FC236}">
                <a16:creationId xmlns:a16="http://schemas.microsoft.com/office/drawing/2014/main" id="{93687011-1D70-40B0-BE91-0D05A872058A}"/>
              </a:ext>
            </a:extLst>
          </p:cNvPr>
          <p:cNvSpPr>
            <a:spLocks noGrp="1"/>
          </p:cNvSpPr>
          <p:nvPr/>
        </p:nvSpPr>
        <p:spPr>
          <a:xfrm>
            <a:off x="7810500" y="3057525"/>
            <a:ext cx="3048000" cy="528638"/>
          </a:xfrm>
          <a:prstGeom prst="roundRect">
            <a:avLst>
              <a:gd name="adj" fmla="val 14414"/>
            </a:avLst>
          </a:prstGeom>
          <a:solidFill>
            <a:srgbClr val="FFFFFF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4CB7872-6170-4B73-A92B-36A289CE872E}"/>
              </a:ext>
            </a:extLst>
          </p:cNvPr>
          <p:cNvSpPr>
            <a:spLocks noGrp="1"/>
          </p:cNvSpPr>
          <p:nvPr/>
        </p:nvSpPr>
        <p:spPr>
          <a:xfrm>
            <a:off x="7886700" y="3133725"/>
            <a:ext cx="28956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將 A-RAG 套到 fact verification 或 long-form report generation</a:t>
            </a:r>
          </a:p>
        </p:txBody>
      </p:sp>
      <p:sp>
        <p:nvSpPr>
          <p:cNvPr id="37" name="矩形: 圓角 36">
            <a:extLst>
              <a:ext uri="{FF2B5EF4-FFF2-40B4-BE49-F238E27FC236}">
                <a16:creationId xmlns:a16="http://schemas.microsoft.com/office/drawing/2014/main" id="{64039FC1-39D5-4035-818B-2C2EC3905669}"/>
              </a:ext>
            </a:extLst>
          </p:cNvPr>
          <p:cNvSpPr>
            <a:spLocks noGrp="1"/>
          </p:cNvSpPr>
          <p:nvPr/>
        </p:nvSpPr>
        <p:spPr>
          <a:xfrm>
            <a:off x="6191250" y="3586163"/>
            <a:ext cx="1619250" cy="528638"/>
          </a:xfrm>
          <a:prstGeom prst="roundRect">
            <a:avLst>
              <a:gd name="adj" fmla="val 14414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C6FCA1E-D1AD-47AF-AA84-84842C48F473}"/>
              </a:ext>
            </a:extLst>
          </p:cNvPr>
          <p:cNvSpPr>
            <a:spLocks noGrp="1"/>
          </p:cNvSpPr>
          <p:nvPr/>
        </p:nvSpPr>
        <p:spPr>
          <a:xfrm>
            <a:off x="6267450" y="3662363"/>
            <a:ext cx="146685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成本感知 agent</a:t>
            </a:r>
          </a:p>
        </p:txBody>
      </p:sp>
      <p:sp>
        <p:nvSpPr>
          <p:cNvPr id="39" name="矩形: 圓角 38">
            <a:extLst>
              <a:ext uri="{FF2B5EF4-FFF2-40B4-BE49-F238E27FC236}">
                <a16:creationId xmlns:a16="http://schemas.microsoft.com/office/drawing/2014/main" id="{6CF8B6FB-FD21-4C59-9515-FA46499499D6}"/>
              </a:ext>
            </a:extLst>
          </p:cNvPr>
          <p:cNvSpPr>
            <a:spLocks noGrp="1"/>
          </p:cNvSpPr>
          <p:nvPr/>
        </p:nvSpPr>
        <p:spPr>
          <a:xfrm>
            <a:off x="7810500" y="3586163"/>
            <a:ext cx="3048000" cy="528638"/>
          </a:xfrm>
          <a:prstGeom prst="roundRect">
            <a:avLst>
              <a:gd name="adj" fmla="val 14414"/>
            </a:avLst>
          </a:prstGeom>
          <a:solidFill>
            <a:srgbClr val="F7F9FC"/>
          </a:solidFill>
          <a:ln w="9525">
            <a:solidFill>
              <a:srgbClr val="C8D5E6"/>
            </a:solidFill>
            <a:prstDash val="solid"/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2A7235E0-5873-4480-B19B-128FD6FB196C}"/>
              </a:ext>
            </a:extLst>
          </p:cNvPr>
          <p:cNvSpPr>
            <a:spLocks noGrp="1"/>
          </p:cNvSpPr>
          <p:nvPr/>
        </p:nvSpPr>
        <p:spPr>
          <a:xfrm>
            <a:off x="7886700" y="3662363"/>
            <a:ext cx="2895600" cy="414338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780" b="0">
                <a:solidFill>
                  <a:srgbClr val="5F748F"/>
                </a:solidFill>
                <a:latin typeface="Aptos"/>
                <a:ea typeface="Aptos"/>
                <a:cs typeface="Aptos"/>
              </a:defRPr>
            </a:pPr>
            <a:r>
              <a:rPr sz="780" b="0">
                <a:solidFill>
                  <a:srgbClr val="5F748F"/>
                </a:solidFill>
                <a:latin typeface="Aptos"/>
                <a:ea typeface="Aptos"/>
                <a:cs typeface="Aptos"/>
              </a:rPr>
              <a:t>把 token budget 納入停止條件，測 accuracy-cost tradeoff</a:t>
            </a:r>
          </a:p>
        </p:txBody>
      </p:sp>
      <p:sp>
        <p:nvSpPr>
          <p:cNvPr id="41" name="矩形: 圓角 40">
            <a:extLst>
              <a:ext uri="{FF2B5EF4-FFF2-40B4-BE49-F238E27FC236}">
                <a16:creationId xmlns:a16="http://schemas.microsoft.com/office/drawing/2014/main" id="{8816FE6E-25C7-450F-B4CE-1487928ED266}"/>
              </a:ext>
            </a:extLst>
          </p:cNvPr>
          <p:cNvSpPr>
            <a:spLocks noGrp="1"/>
          </p:cNvSpPr>
          <p:nvPr/>
        </p:nvSpPr>
        <p:spPr>
          <a:xfrm>
            <a:off x="857250" y="4800600"/>
            <a:ext cx="9696450" cy="876300"/>
          </a:xfrm>
          <a:prstGeom prst="roundRect">
            <a:avLst>
              <a:gd name="adj" fmla="val 8696"/>
            </a:avLst>
          </a:prstGeom>
          <a:solidFill>
            <a:srgbClr val="F4F7FB"/>
          </a:solidFill>
          <a:ln w="9525">
            <a:solidFill>
              <a:srgbClr val="D3A126"/>
            </a:solidFill>
            <a:prstDash val="solid"/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740574BC-6E8C-4E82-985A-41EC49EE5991}"/>
              </a:ext>
            </a:extLst>
          </p:cNvPr>
          <p:cNvSpPr>
            <a:spLocks noGrp="1"/>
          </p:cNvSpPr>
          <p:nvPr/>
        </p:nvSpPr>
        <p:spPr>
          <a:xfrm>
            <a:off x="1143000" y="5010150"/>
            <a:ext cx="91440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00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D3A126"/>
                </a:solidFill>
                <a:latin typeface="Microsoft JhengHei"/>
                <a:ea typeface="Microsoft JhengHei"/>
                <a:cs typeface="Microsoft JhengHei"/>
              </a:rPr>
              <a:t>Takeaway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51E4156-4968-4D20-94F5-1C06DC6FA878}"/>
              </a:ext>
            </a:extLst>
          </p:cNvPr>
          <p:cNvSpPr>
            <a:spLocks noGrp="1"/>
          </p:cNvSpPr>
          <p:nvPr/>
        </p:nvSpPr>
        <p:spPr>
          <a:xfrm>
            <a:off x="1333500" y="5334000"/>
            <a:ext cx="876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1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未來 RAG 的關鍵不只是更複雜的檢索演算法，而是設計能讓 LLM agent 自主探索、逐步取證、有效停止的 retrieval interface。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D3F7AD61-5255-416D-8582-496D7AA23271}"/>
              </a:ext>
            </a:extLst>
          </p:cNvPr>
          <p:cNvSpPr>
            <a:spLocks noGrp="1"/>
          </p:cNvSpPr>
          <p:nvPr/>
        </p:nvSpPr>
        <p:spPr>
          <a:xfrm>
            <a:off x="1524000" y="6048375"/>
            <a:ext cx="85725" cy="85725"/>
          </a:xfrm>
          <a:prstGeom prst="rect">
            <a:avLst/>
          </a:prstGeom>
          <a:solidFill>
            <a:srgbClr val="D3A126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0948EFBD-2D85-4600-B013-8B0187B089DF}"/>
              </a:ext>
            </a:extLst>
          </p:cNvPr>
          <p:cNvSpPr>
            <a:spLocks noGrp="1"/>
          </p:cNvSpPr>
          <p:nvPr/>
        </p:nvSpPr>
        <p:spPr>
          <a:xfrm>
            <a:off x="1695450" y="6000750"/>
            <a:ext cx="7924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013" b="0">
                <a:solidFill>
                  <a:srgbClr val="122033"/>
                </a:solidFill>
                <a:latin typeface="Microsoft JhengHei"/>
                <a:ea typeface="Microsoft JhengHei"/>
                <a:cs typeface="Microsoft JhengHei"/>
              </a:rPr>
              <a:t>報告主線：static RAG pipeline → agentic retrieval interface → scalable test-time behavior</a:t>
            </a:r>
          </a:p>
        </p:txBody>
      </p:sp>
    </p:spTree>
    <p:extLst>
      <p:ext uri="{BB962C8B-B14F-4D97-AF65-F5344CB8AC3E}">
        <p14:creationId xmlns:p14="http://schemas.microsoft.com/office/powerpoint/2010/main" val="151719454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1307</Words>
  <Application>Microsoft Office PowerPoint</Application>
  <DocSecurity>0</DocSecurity>
  <PresentationFormat>寬螢幕</PresentationFormat>
  <Paragraphs>319</Paragraphs>
  <Slides>15</Slides>
  <Notes>15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19" baseType="lpstr">
      <vt:lpstr>Aptos</vt:lpstr>
      <vt:lpstr>Microsoft JhengHei</vt:lpstr>
      <vt:lpstr>Calibri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翊銘 吳</cp:lastModifiedBy>
  <cp:revision>1</cp:revision>
  <dcterms:created xsi:type="dcterms:W3CDTF">2026-05-30T15:19:55Z</dcterms:created>
  <dcterms:modified xsi:type="dcterms:W3CDTF">2026-05-31T06:59:31Z</dcterms:modified>
</cp:coreProperties>
</file>