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3" r:id="rId14"/>
    <p:sldId id="269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82B809-792D-4451-B8AE-B9FAFF34B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278D475-9425-4631-AAFF-AD53815F78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597F015-70D1-4187-B717-CDC8C227B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A4855-92A5-4ADB-8EB0-795B3C30ED2D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68E6C44-A672-4248-8FDB-B952B2BA4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DDBB3D4-B0BD-43E7-94BC-0B4CF63ED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D2417-0C40-4954-B5C4-3C274BB704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2689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F843FB-799E-44C0-94B9-9F2A31C93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4E615C8-9D8F-466A-B520-7F6ED49FD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12AD55C-E450-44CF-9FAD-B348A9585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A4855-92A5-4ADB-8EB0-795B3C30ED2D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9045AD9-06BB-4A44-90EA-04F042C97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CAD1A17-1535-49C8-ABC0-6919CBFD8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D2417-0C40-4954-B5C4-3C274BB704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2215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5CAC33-253F-482A-BDD8-72A437B3B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29635F4-7B47-4CA6-9CD1-975B94736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C872C26-B4D2-4D92-B252-3BAA5F6FF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A4855-92A5-4ADB-8EB0-795B3C30ED2D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53816FC-79CA-4B21-9F61-07055CBA7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CFE0558-4640-4797-85D6-282D291E9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D2417-0C40-4954-B5C4-3C274BB704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8970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C785B2-569E-47E0-ABB9-9AE007CA2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7D4D812-7555-4DE6-8157-9AD9015D0C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031BA42-AFF7-4ED5-AA2A-5C1DC963B3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919F96C-14A7-4544-B35D-5024EE47F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A4855-92A5-4ADB-8EB0-795B3C30ED2D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5090060-0E68-45F9-8B4B-E17FE79AC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AF16643-B436-44CE-9C49-3D2B87AB8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D2417-0C40-4954-B5C4-3C274BB704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6041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F032D0-A4D2-4A2E-9611-CF781EAB8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D570108-0AA7-4D3E-9930-63D59EBE1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CC667A4-698F-45D5-B6FF-8FBA55A08A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397FF34-913C-497E-BF74-84D4B09F5F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0884E98-1108-4198-A6BB-6D19EBD1D9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6D45E10-ACE4-425E-92DA-E85E1BD0A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A4855-92A5-4ADB-8EB0-795B3C30ED2D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8D8DD97-F949-499E-8253-385CCEFBD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4D1630B-5EA9-4D9B-87BE-777BFE3F4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D2417-0C40-4954-B5C4-3C274BB704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2589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9F4BCF-3972-484A-9275-A980240C6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1F4261F-A772-41CC-BB0E-BE03C7CBA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A4855-92A5-4ADB-8EB0-795B3C30ED2D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526D228-7A8B-4C6E-B8E2-9202E6C41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7D3814C-656D-4530-902C-C0FF31C6F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D2417-0C40-4954-B5C4-3C274BB704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4636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E80926A-FDBC-4E1C-97C3-7B983B9AE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A4855-92A5-4ADB-8EB0-795B3C30ED2D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2D11310-FFB5-4655-B72F-C4EA94E3E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CC62384-C69F-4854-892D-BA077CFA9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D2417-0C40-4954-B5C4-3C274BB704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8141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EC7DF8-FC0F-4FD0-AFCD-F5F5BE645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4A7A8F1-3188-4C65-969A-5C5A66C4E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4BFB8A1-5872-4E9E-A20F-489580B90F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F72728B-DE99-4E6B-91E8-CF5F63829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A4855-92A5-4ADB-8EB0-795B3C30ED2D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0A96B20-6BB0-4FBF-B6D6-8CDE55369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824D6A0-09BB-4014-9B56-3755F8375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D2417-0C40-4954-B5C4-3C274BB704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1843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4E46CA-93FE-48F1-ACCA-8AAB36E22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EFF1C42-030F-4921-863A-1A69872FB3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1735924-CC52-454B-9B18-5CFB8E2A4D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2BA3CFD-9DA4-442B-B8E0-9D71CE0E9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A4855-92A5-4ADB-8EB0-795B3C30ED2D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DB3B717-3178-4C52-87CE-A7A8455A6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DE2FEFF-1037-46EB-8097-6506B41B7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D2417-0C40-4954-B5C4-3C274BB704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1053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EAD58F-E723-4BC7-8207-3DBDD2911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8475828-4C41-4227-BFAA-896CBAE654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F3586A2-319B-4D2F-9BED-F1A3F0BB5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A4855-92A5-4ADB-8EB0-795B3C30ED2D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F912632-E069-41D2-A74C-7CDF70A43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F5F6AC4-6EBF-494A-A24E-B3C3E16D5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D2417-0C40-4954-B5C4-3C274BB704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829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F08212E-448B-441C-BCAD-30B37B5227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89A879A-349F-4A18-BC93-45331ECC52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4CAA30C-926A-470B-91C9-C985FC608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A4855-92A5-4ADB-8EB0-795B3C30ED2D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A38BFD8-F122-49D5-88A9-022177DC5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671C10C-7031-426F-BCA0-32C2AFA58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D2417-0C40-4954-B5C4-3C274BB704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0163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11915731-5D4F-421D-8CE9-DC4C566B3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C8C8485-73DA-4F06-88B8-842D2F8FE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2EE34A6-09AE-4AF1-8494-0EC40BD75B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FA4855-92A5-4ADB-8EB0-795B3C30ED2D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D8BB66D-2690-4835-B370-75F851215F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6E8A3DE-C360-4F69-A33B-75BCFB7EB1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FD2417-0C40-4954-B5C4-3C274BB704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3344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894E3FB-4ECD-4E8C-BF68-A902ABDC6F3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001F8F-AF07-43B4-9FC4-A9B9EF845672}"/>
              </a:ext>
            </a:extLst>
          </p:cNvPr>
          <p:cNvSpPr/>
          <p:nvPr/>
        </p:nvSpPr>
        <p:spPr>
          <a:xfrm>
            <a:off x="114300" y="0"/>
            <a:ext cx="12077700" cy="6858000"/>
          </a:xfrm>
          <a:prstGeom prst="rect">
            <a:avLst/>
          </a:prstGeom>
          <a:solidFill>
            <a:srgbClr val="F6F8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FB81BC6-D982-4411-98FF-0DE59D8E78DB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0E70EAA-ACFD-41DB-B61D-797F07B19933}"/>
              </a:ext>
            </a:extLst>
          </p:cNvPr>
          <p:cNvSpPr txBox="1"/>
          <p:nvPr/>
        </p:nvSpPr>
        <p:spPr>
          <a:xfrm>
            <a:off x="419100" y="228600"/>
            <a:ext cx="180975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900">
                <a:solidFill>
                  <a:srgbClr val="5F748F"/>
                </a:solidFill>
                <a:latin typeface="Aptos"/>
              </a:rPr>
              <a:t>A-RAG Paper Report</a:t>
            </a:r>
            <a:endParaRPr lang="zh-TW" altLang="en-US" sz="900">
              <a:solidFill>
                <a:srgbClr val="5F748F"/>
              </a:solidFill>
              <a:latin typeface="Aptos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9FC8FB0-E3FD-4B4A-A718-F18C098CABE4}"/>
              </a:ext>
            </a:extLst>
          </p:cNvPr>
          <p:cNvSpPr txBox="1"/>
          <p:nvPr/>
        </p:nvSpPr>
        <p:spPr>
          <a:xfrm>
            <a:off x="10572750" y="228600"/>
            <a:ext cx="104775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900">
                <a:solidFill>
                  <a:srgbClr val="8798AD"/>
                </a:solidFill>
                <a:latin typeface="Aptos"/>
              </a:rPr>
              <a:t>01 / 14</a:t>
            </a:r>
            <a:endParaRPr lang="zh-TW" altLang="en-US" sz="900">
              <a:solidFill>
                <a:srgbClr val="8798AD"/>
              </a:solidFill>
              <a:latin typeface="Apto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1D54C45-8D8F-4BAB-8078-FF867CA4FF71}"/>
              </a:ext>
            </a:extLst>
          </p:cNvPr>
          <p:cNvSpPr txBox="1"/>
          <p:nvPr/>
        </p:nvSpPr>
        <p:spPr>
          <a:xfrm>
            <a:off x="419100" y="552450"/>
            <a:ext cx="89535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資料集與實驗範圍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6155EAF-AE40-4A2B-B4A2-36480CC24376}"/>
              </a:ext>
            </a:extLst>
          </p:cNvPr>
          <p:cNvSpPr/>
          <p:nvPr/>
        </p:nvSpPr>
        <p:spPr>
          <a:xfrm>
            <a:off x="419100" y="1104900"/>
            <a:ext cx="7429500" cy="1905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116C8B2-7914-494B-8360-3EE307B00D30}"/>
              </a:ext>
            </a:extLst>
          </p:cNvPr>
          <p:cNvSpPr txBox="1"/>
          <p:nvPr/>
        </p:nvSpPr>
        <p:spPr>
          <a:xfrm>
            <a:off x="419100" y="1238250"/>
            <a:ext cx="9652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先以三個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multi-hop QA 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資料集建立可比較、可穩定重跑的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100 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題實驗範圍。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30781812-DA9C-4F47-863C-49658B8D3BA7}"/>
              </a:ext>
            </a:extLst>
          </p:cNvPr>
          <p:cNvSpPr/>
          <p:nvPr/>
        </p:nvSpPr>
        <p:spPr>
          <a:xfrm>
            <a:off x="660400" y="1981200"/>
            <a:ext cx="1651000" cy="5461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FB224C2-09C5-4DB1-998A-7575023C3B74}"/>
              </a:ext>
            </a:extLst>
          </p:cNvPr>
          <p:cNvSpPr txBox="1"/>
          <p:nvPr/>
        </p:nvSpPr>
        <p:spPr>
          <a:xfrm>
            <a:off x="711200" y="2044700"/>
            <a:ext cx="1549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60" b="1">
                <a:solidFill>
                  <a:srgbClr val="122033"/>
                </a:solidFill>
                <a:latin typeface="Microsoft JhengHei" panose="020B0604030504040204" pitchFamily="34" charset="-120"/>
              </a:rPr>
              <a:t>Dataset</a:t>
            </a:r>
            <a:endParaRPr lang="zh-TW" altLang="en-US" sz="860" b="1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8F1BBFA5-CAAB-4748-9A92-4390BE9C4677}"/>
              </a:ext>
            </a:extLst>
          </p:cNvPr>
          <p:cNvSpPr/>
          <p:nvPr/>
        </p:nvSpPr>
        <p:spPr>
          <a:xfrm>
            <a:off x="2311400" y="1981200"/>
            <a:ext cx="1079500" cy="5461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118C8F7-D9B9-4B13-BD5A-1F16C614F222}"/>
              </a:ext>
            </a:extLst>
          </p:cNvPr>
          <p:cNvSpPr txBox="1"/>
          <p:nvPr/>
        </p:nvSpPr>
        <p:spPr>
          <a:xfrm>
            <a:off x="2362200" y="2044700"/>
            <a:ext cx="9779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zh-TW" altLang="en-US" sz="860" b="1">
                <a:solidFill>
                  <a:srgbClr val="122033"/>
                </a:solidFill>
                <a:latin typeface="Microsoft JhengHei" panose="020B0604030504040204" pitchFamily="34" charset="-120"/>
              </a:rPr>
              <a:t>目前題數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B8950E46-EFF1-41C1-82C0-A5A164B22BD3}"/>
              </a:ext>
            </a:extLst>
          </p:cNvPr>
          <p:cNvSpPr/>
          <p:nvPr/>
        </p:nvSpPr>
        <p:spPr>
          <a:xfrm>
            <a:off x="3390900" y="1981200"/>
            <a:ext cx="5778500" cy="5461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404A32A-C911-493E-B49A-7BDAE547BC3F}"/>
              </a:ext>
            </a:extLst>
          </p:cNvPr>
          <p:cNvSpPr txBox="1"/>
          <p:nvPr/>
        </p:nvSpPr>
        <p:spPr>
          <a:xfrm>
            <a:off x="3441700" y="2044700"/>
            <a:ext cx="5676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zh-TW" altLang="en-US" sz="860" b="1">
                <a:solidFill>
                  <a:srgbClr val="122033"/>
                </a:solidFill>
                <a:latin typeface="Microsoft JhengHei" panose="020B0604030504040204" pitchFamily="34" charset="-120"/>
              </a:rPr>
              <a:t>選用理由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DD741AE8-608E-462B-83E5-1DC4521BAE2C}"/>
              </a:ext>
            </a:extLst>
          </p:cNvPr>
          <p:cNvSpPr/>
          <p:nvPr/>
        </p:nvSpPr>
        <p:spPr>
          <a:xfrm>
            <a:off x="660400" y="2527300"/>
            <a:ext cx="1651000" cy="5461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4FD83AF8-CE79-49B0-849F-4F60F25824F2}"/>
              </a:ext>
            </a:extLst>
          </p:cNvPr>
          <p:cNvSpPr txBox="1"/>
          <p:nvPr/>
        </p:nvSpPr>
        <p:spPr>
          <a:xfrm>
            <a:off x="711200" y="2590800"/>
            <a:ext cx="1549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60">
                <a:solidFill>
                  <a:srgbClr val="5F748F"/>
                </a:solidFill>
                <a:latin typeface="Aptos"/>
              </a:rPr>
              <a:t>MuSiQue</a:t>
            </a:r>
            <a:endParaRPr lang="zh-TW" altLang="en-US" sz="860">
              <a:solidFill>
                <a:srgbClr val="5F748F"/>
              </a:solidFill>
              <a:latin typeface="Aptos"/>
            </a:endParaRP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F4DCE153-A28B-408E-BAB8-49F95FF77F1A}"/>
              </a:ext>
            </a:extLst>
          </p:cNvPr>
          <p:cNvSpPr/>
          <p:nvPr/>
        </p:nvSpPr>
        <p:spPr>
          <a:xfrm>
            <a:off x="2311400" y="2527300"/>
            <a:ext cx="1079500" cy="5461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A9AB9B8C-4E91-428D-9A3B-0F32EED77C3F}"/>
              </a:ext>
            </a:extLst>
          </p:cNvPr>
          <p:cNvSpPr txBox="1"/>
          <p:nvPr/>
        </p:nvSpPr>
        <p:spPr>
          <a:xfrm>
            <a:off x="2362200" y="2590800"/>
            <a:ext cx="977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60">
                <a:solidFill>
                  <a:srgbClr val="5F748F"/>
                </a:solidFill>
                <a:latin typeface="Aptos"/>
              </a:rPr>
              <a:t>100</a:t>
            </a:r>
            <a:endParaRPr lang="zh-TW" altLang="en-US" sz="860">
              <a:solidFill>
                <a:srgbClr val="5F748F"/>
              </a:solidFill>
              <a:latin typeface="Aptos"/>
            </a:endParaRP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77EE26C5-17E5-4F50-B9C0-F1D12B61469D}"/>
              </a:ext>
            </a:extLst>
          </p:cNvPr>
          <p:cNvSpPr/>
          <p:nvPr/>
        </p:nvSpPr>
        <p:spPr>
          <a:xfrm>
            <a:off x="3390900" y="2527300"/>
            <a:ext cx="5778500" cy="5461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5265AF68-0ECF-4153-8728-F72A57F4BCEA}"/>
              </a:ext>
            </a:extLst>
          </p:cNvPr>
          <p:cNvSpPr txBox="1"/>
          <p:nvPr/>
        </p:nvSpPr>
        <p:spPr>
          <a:xfrm>
            <a:off x="3441700" y="2590800"/>
            <a:ext cx="5676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zh-TW" altLang="en-US" sz="860">
                <a:solidFill>
                  <a:srgbClr val="5F748F"/>
                </a:solidFill>
                <a:latin typeface="Aptos"/>
              </a:rPr>
              <a:t>多跳組合推理；最能測出 </a:t>
            </a:r>
            <a:r>
              <a:rPr lang="en-US" altLang="zh-TW" sz="860">
                <a:solidFill>
                  <a:srgbClr val="5F748F"/>
                </a:solidFill>
                <a:latin typeface="Aptos"/>
              </a:rPr>
              <a:t>iterative retrieval </a:t>
            </a:r>
            <a:r>
              <a:rPr lang="zh-TW" altLang="en-US" sz="860">
                <a:solidFill>
                  <a:srgbClr val="5F748F"/>
                </a:solidFill>
                <a:latin typeface="Aptos"/>
              </a:rPr>
              <a:t>的價值</a:t>
            </a: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6CA639D3-67C5-40EC-B773-315F275651CD}"/>
              </a:ext>
            </a:extLst>
          </p:cNvPr>
          <p:cNvSpPr/>
          <p:nvPr/>
        </p:nvSpPr>
        <p:spPr>
          <a:xfrm>
            <a:off x="660400" y="3073400"/>
            <a:ext cx="1651000" cy="5461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26D46057-78E2-415F-93A2-579A2843C7C5}"/>
              </a:ext>
            </a:extLst>
          </p:cNvPr>
          <p:cNvSpPr txBox="1"/>
          <p:nvPr/>
        </p:nvSpPr>
        <p:spPr>
          <a:xfrm>
            <a:off x="711200" y="3136900"/>
            <a:ext cx="1549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60">
                <a:solidFill>
                  <a:srgbClr val="5F748F"/>
                </a:solidFill>
                <a:latin typeface="Aptos"/>
              </a:rPr>
              <a:t>HotpotQA</a:t>
            </a:r>
            <a:endParaRPr lang="zh-TW" altLang="en-US" sz="860">
              <a:solidFill>
                <a:srgbClr val="5F748F"/>
              </a:solidFill>
              <a:latin typeface="Aptos"/>
            </a:endParaRP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0F275D14-B560-4C2E-A11D-95CDB47F8038}"/>
              </a:ext>
            </a:extLst>
          </p:cNvPr>
          <p:cNvSpPr/>
          <p:nvPr/>
        </p:nvSpPr>
        <p:spPr>
          <a:xfrm>
            <a:off x="2311400" y="3073400"/>
            <a:ext cx="1079500" cy="5461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0449C385-C57D-4D06-8385-94CCB76A5267}"/>
              </a:ext>
            </a:extLst>
          </p:cNvPr>
          <p:cNvSpPr txBox="1"/>
          <p:nvPr/>
        </p:nvSpPr>
        <p:spPr>
          <a:xfrm>
            <a:off x="2362200" y="3136900"/>
            <a:ext cx="977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60">
                <a:solidFill>
                  <a:srgbClr val="5F748F"/>
                </a:solidFill>
                <a:latin typeface="Aptos"/>
              </a:rPr>
              <a:t>100</a:t>
            </a:r>
            <a:endParaRPr lang="zh-TW" altLang="en-US" sz="860">
              <a:solidFill>
                <a:srgbClr val="5F748F"/>
              </a:solidFill>
              <a:latin typeface="Aptos"/>
            </a:endParaRP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441F2175-4911-4BA2-AA5E-D35AECDE5917}"/>
              </a:ext>
            </a:extLst>
          </p:cNvPr>
          <p:cNvSpPr/>
          <p:nvPr/>
        </p:nvSpPr>
        <p:spPr>
          <a:xfrm>
            <a:off x="3390900" y="3073400"/>
            <a:ext cx="5778500" cy="5461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85794DA5-A92B-4DBD-82FC-E9DFCBEE5E7A}"/>
              </a:ext>
            </a:extLst>
          </p:cNvPr>
          <p:cNvSpPr txBox="1"/>
          <p:nvPr/>
        </p:nvSpPr>
        <p:spPr>
          <a:xfrm>
            <a:off x="3441700" y="3136900"/>
            <a:ext cx="5676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zh-TW" altLang="en-US" sz="860">
                <a:solidFill>
                  <a:srgbClr val="5F748F"/>
                </a:solidFill>
                <a:latin typeface="Aptos"/>
              </a:rPr>
              <a:t>經典 </a:t>
            </a:r>
            <a:r>
              <a:rPr lang="en-US" altLang="zh-TW" sz="860">
                <a:solidFill>
                  <a:srgbClr val="5F748F"/>
                </a:solidFill>
                <a:latin typeface="Aptos"/>
              </a:rPr>
              <a:t>multi-hop QA</a:t>
            </a:r>
            <a:r>
              <a:rPr lang="zh-TW" altLang="en-US" sz="860">
                <a:solidFill>
                  <a:srgbClr val="5F748F"/>
                </a:solidFill>
                <a:latin typeface="Aptos"/>
              </a:rPr>
              <a:t>；與論文主表可直接對照</a:t>
            </a: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EF871CEE-F326-49AE-BEEC-DD61A2E6142C}"/>
              </a:ext>
            </a:extLst>
          </p:cNvPr>
          <p:cNvSpPr/>
          <p:nvPr/>
        </p:nvSpPr>
        <p:spPr>
          <a:xfrm>
            <a:off x="660400" y="3619500"/>
            <a:ext cx="1651000" cy="5461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1AA53134-6C19-4802-BD44-ABA3E11F32F3}"/>
              </a:ext>
            </a:extLst>
          </p:cNvPr>
          <p:cNvSpPr txBox="1"/>
          <p:nvPr/>
        </p:nvSpPr>
        <p:spPr>
          <a:xfrm>
            <a:off x="711200" y="3683000"/>
            <a:ext cx="1549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60">
                <a:solidFill>
                  <a:srgbClr val="5F748F"/>
                </a:solidFill>
                <a:latin typeface="Aptos"/>
              </a:rPr>
              <a:t>2WikiMultiHop</a:t>
            </a:r>
            <a:endParaRPr lang="zh-TW" altLang="en-US" sz="860">
              <a:solidFill>
                <a:srgbClr val="5F748F"/>
              </a:solidFill>
              <a:latin typeface="Aptos"/>
            </a:endParaRPr>
          </a:p>
        </p:txBody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0D78C313-5633-49B3-A580-0BCACAF7FB7D}"/>
              </a:ext>
            </a:extLst>
          </p:cNvPr>
          <p:cNvSpPr/>
          <p:nvPr/>
        </p:nvSpPr>
        <p:spPr>
          <a:xfrm>
            <a:off x="2311400" y="3619500"/>
            <a:ext cx="1079500" cy="5461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0785DA00-F0F3-4DEB-8BE0-50808CE4856E}"/>
              </a:ext>
            </a:extLst>
          </p:cNvPr>
          <p:cNvSpPr txBox="1"/>
          <p:nvPr/>
        </p:nvSpPr>
        <p:spPr>
          <a:xfrm>
            <a:off x="2362200" y="3683000"/>
            <a:ext cx="977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60">
                <a:solidFill>
                  <a:srgbClr val="5F748F"/>
                </a:solidFill>
                <a:latin typeface="Aptos"/>
              </a:rPr>
              <a:t>100</a:t>
            </a:r>
            <a:endParaRPr lang="zh-TW" altLang="en-US" sz="860">
              <a:solidFill>
                <a:srgbClr val="5F748F"/>
              </a:solidFill>
              <a:latin typeface="Aptos"/>
            </a:endParaRPr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F7534683-229C-4568-B66F-DFA59BB80DDC}"/>
              </a:ext>
            </a:extLst>
          </p:cNvPr>
          <p:cNvSpPr/>
          <p:nvPr/>
        </p:nvSpPr>
        <p:spPr>
          <a:xfrm>
            <a:off x="3390900" y="3619500"/>
            <a:ext cx="5778500" cy="5461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D20E62FD-D6C6-4F9D-8974-1955CA7A338D}"/>
              </a:ext>
            </a:extLst>
          </p:cNvPr>
          <p:cNvSpPr txBox="1"/>
          <p:nvPr/>
        </p:nvSpPr>
        <p:spPr>
          <a:xfrm>
            <a:off x="3441700" y="3683000"/>
            <a:ext cx="5676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zh-TW" altLang="en-US" sz="860">
                <a:solidFill>
                  <a:srgbClr val="5F748F"/>
                </a:solidFill>
                <a:latin typeface="Aptos"/>
              </a:rPr>
              <a:t>跨實體</a:t>
            </a:r>
            <a:r>
              <a:rPr lang="en-US" altLang="zh-TW" sz="860">
                <a:solidFill>
                  <a:srgbClr val="5F748F"/>
                </a:solidFill>
                <a:latin typeface="Aptos"/>
              </a:rPr>
              <a:t>/</a:t>
            </a:r>
            <a:r>
              <a:rPr lang="zh-TW" altLang="en-US" sz="860">
                <a:solidFill>
                  <a:srgbClr val="5F748F"/>
                </a:solidFill>
                <a:latin typeface="Aptos"/>
              </a:rPr>
              <a:t>跨頁推理；檢驗 </a:t>
            </a:r>
            <a:r>
              <a:rPr lang="en-US" altLang="zh-TW" sz="860">
                <a:solidFill>
                  <a:srgbClr val="5F748F"/>
                </a:solidFill>
                <a:latin typeface="Aptos"/>
              </a:rPr>
              <a:t>chunk_read </a:t>
            </a:r>
            <a:r>
              <a:rPr lang="zh-TW" altLang="en-US" sz="860">
                <a:solidFill>
                  <a:srgbClr val="5F748F"/>
                </a:solidFill>
                <a:latin typeface="Aptos"/>
              </a:rPr>
              <a:t>是否補足證據</a:t>
            </a:r>
          </a:p>
        </p:txBody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C77B5305-B46F-45DF-8DF3-265E6ED2CB76}"/>
              </a:ext>
            </a:extLst>
          </p:cNvPr>
          <p:cNvSpPr/>
          <p:nvPr/>
        </p:nvSpPr>
        <p:spPr>
          <a:xfrm>
            <a:off x="7937500" y="1981200"/>
            <a:ext cx="2984500" cy="24130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1BC800F-624B-4EB2-942B-B3DD215FCB85}"/>
              </a:ext>
            </a:extLst>
          </p:cNvPr>
          <p:cNvSpPr/>
          <p:nvPr/>
        </p:nvSpPr>
        <p:spPr>
          <a:xfrm>
            <a:off x="7937500" y="1981200"/>
            <a:ext cx="50800" cy="2413000"/>
          </a:xfrm>
          <a:prstGeom prst="rect">
            <a:avLst/>
          </a:prstGeom>
          <a:solidFill>
            <a:srgbClr val="D3A12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8223B117-2D2D-4C98-9C88-19B552CFFE7C}"/>
              </a:ext>
            </a:extLst>
          </p:cNvPr>
          <p:cNvSpPr txBox="1"/>
          <p:nvPr/>
        </p:nvSpPr>
        <p:spPr>
          <a:xfrm>
            <a:off x="8128000" y="2133600"/>
            <a:ext cx="26035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1280" b="1">
                <a:solidFill>
                  <a:srgbClr val="D3A126"/>
                </a:solidFill>
                <a:latin typeface="Microsoft JhengHei" panose="020B0604030504040204" pitchFamily="34" charset="-120"/>
              </a:rPr>
              <a:t>為什麼先不跑 </a:t>
            </a:r>
            <a:r>
              <a:rPr lang="en-US" altLang="zh-TW" sz="1280" b="1">
                <a:solidFill>
                  <a:srgbClr val="D3A126"/>
                </a:solidFill>
                <a:latin typeface="Microsoft JhengHei" panose="020B0604030504040204" pitchFamily="34" charset="-120"/>
              </a:rPr>
              <a:t>Medical / Novel</a:t>
            </a:r>
            <a:endParaRPr lang="zh-TW" altLang="en-US" sz="1280" b="1">
              <a:solidFill>
                <a:srgbClr val="D3A126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868E651-D86A-46A4-B95B-885EBB6861F0}"/>
              </a:ext>
            </a:extLst>
          </p:cNvPr>
          <p:cNvSpPr/>
          <p:nvPr/>
        </p:nvSpPr>
        <p:spPr>
          <a:xfrm>
            <a:off x="8229600" y="2733040"/>
            <a:ext cx="86360" cy="8636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528344C5-E9D1-4E56-8775-65760379D03A}"/>
              </a:ext>
            </a:extLst>
          </p:cNvPr>
          <p:cNvSpPr txBox="1"/>
          <p:nvPr/>
        </p:nvSpPr>
        <p:spPr>
          <a:xfrm>
            <a:off x="8401050" y="2667000"/>
            <a:ext cx="2286000" cy="88229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950">
                <a:solidFill>
                  <a:srgbClr val="122033"/>
                </a:solidFill>
                <a:latin typeface="Microsoft JhengHei" panose="020B0604030504040204" pitchFamily="34" charset="-120"/>
              </a:rPr>
              <a:t>先控制變因：三組都屬 </a:t>
            </a:r>
            <a:r>
              <a:rPr lang="en-US" altLang="zh-TW" sz="950">
                <a:solidFill>
                  <a:srgbClr val="122033"/>
                </a:solidFill>
                <a:latin typeface="Microsoft JhengHei" panose="020B0604030504040204" pitchFamily="34" charset="-120"/>
              </a:rPr>
              <a:t>open-domain multi-hop QA</a:t>
            </a:r>
            <a:endParaRPr lang="zh-TW" altLang="en-US" sz="9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3B35029-4F16-4A78-9CC9-89C87310B50F}"/>
              </a:ext>
            </a:extLst>
          </p:cNvPr>
          <p:cNvSpPr/>
          <p:nvPr/>
        </p:nvSpPr>
        <p:spPr>
          <a:xfrm>
            <a:off x="8229600" y="3190240"/>
            <a:ext cx="86360" cy="8636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5725E2DB-E1A9-499D-B923-71ABF14BDE74}"/>
              </a:ext>
            </a:extLst>
          </p:cNvPr>
          <p:cNvSpPr txBox="1"/>
          <p:nvPr/>
        </p:nvSpPr>
        <p:spPr>
          <a:xfrm>
            <a:off x="8401050" y="3124200"/>
            <a:ext cx="2286000" cy="88229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950">
                <a:solidFill>
                  <a:srgbClr val="122033"/>
                </a:solidFill>
                <a:latin typeface="Microsoft JhengHei" panose="020B0604030504040204" pitchFamily="34" charset="-120"/>
              </a:rPr>
              <a:t>Medical / Novel </a:t>
            </a:r>
            <a:r>
              <a:rPr lang="zh-TW" altLang="en-US" sz="950">
                <a:solidFill>
                  <a:srgbClr val="122033"/>
                </a:solidFill>
                <a:latin typeface="Microsoft JhengHei" panose="020B0604030504040204" pitchFamily="34" charset="-120"/>
              </a:rPr>
              <a:t>任務型態不同，放進第一輪會稀釋主線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A43AC04-CF9F-4640-B6FC-71A21DEF1F85}"/>
              </a:ext>
            </a:extLst>
          </p:cNvPr>
          <p:cNvSpPr/>
          <p:nvPr/>
        </p:nvSpPr>
        <p:spPr>
          <a:xfrm>
            <a:off x="8229600" y="3647440"/>
            <a:ext cx="86360" cy="8636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6B9EA337-3F14-4B7A-8274-BAC533CE3731}"/>
              </a:ext>
            </a:extLst>
          </p:cNvPr>
          <p:cNvSpPr txBox="1"/>
          <p:nvPr/>
        </p:nvSpPr>
        <p:spPr>
          <a:xfrm>
            <a:off x="8401050" y="3581400"/>
            <a:ext cx="2286000" cy="12003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950">
                <a:solidFill>
                  <a:srgbClr val="122033"/>
                </a:solidFill>
                <a:latin typeface="Microsoft JhengHei" panose="020B0604030504040204" pitchFamily="34" charset="-120"/>
              </a:rPr>
              <a:t>三資料集跑通後，再擴充到 </a:t>
            </a:r>
            <a:r>
              <a:rPr lang="en-US" altLang="zh-TW" sz="950">
                <a:solidFill>
                  <a:srgbClr val="122033"/>
                </a:solidFill>
                <a:latin typeface="Microsoft JhengHei" panose="020B0604030504040204" pitchFamily="34" charset="-120"/>
              </a:rPr>
              <a:t>domain-specific </a:t>
            </a:r>
            <a:r>
              <a:rPr lang="zh-TW" altLang="en-US" sz="950">
                <a:solidFill>
                  <a:srgbClr val="122033"/>
                </a:solidFill>
                <a:latin typeface="Microsoft JhengHei" panose="020B0604030504040204" pitchFamily="34" charset="-120"/>
              </a:rPr>
              <a:t>與 </a:t>
            </a:r>
            <a:r>
              <a:rPr lang="en-US" altLang="zh-TW" sz="950">
                <a:solidFill>
                  <a:srgbClr val="122033"/>
                </a:solidFill>
                <a:latin typeface="Microsoft JhengHei" panose="020B0604030504040204" pitchFamily="34" charset="-120"/>
              </a:rPr>
              <a:t>long-form corpus</a:t>
            </a:r>
            <a:endParaRPr lang="zh-TW" altLang="en-US" sz="9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5FC5A991-928F-4497-9EFB-36EC0B41C532}"/>
              </a:ext>
            </a:extLst>
          </p:cNvPr>
          <p:cNvSpPr txBox="1"/>
          <p:nvPr/>
        </p:nvSpPr>
        <p:spPr>
          <a:xfrm>
            <a:off x="781050" y="5448300"/>
            <a:ext cx="942975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實驗定位：</a:t>
            </a:r>
            <a:r>
              <a:rPr lang="en-US" altLang="zh-TW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official repo sanity + </a:t>
            </a:r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三資料集小樣本比較，不宣稱完整 </a:t>
            </a:r>
            <a:r>
              <a:rPr lang="en-US" altLang="zh-TW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benchmark reproduction</a:t>
            </a:r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165418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F915994-A62F-4AEF-9927-640428455F5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1F4EDDE-64EF-40D9-B0E6-432CD956FA2A}"/>
              </a:ext>
            </a:extLst>
          </p:cNvPr>
          <p:cNvSpPr/>
          <p:nvPr/>
        </p:nvSpPr>
        <p:spPr>
          <a:xfrm>
            <a:off x="140426" y="0"/>
            <a:ext cx="12077700" cy="6858000"/>
          </a:xfrm>
          <a:prstGeom prst="rect">
            <a:avLst/>
          </a:prstGeom>
          <a:solidFill>
            <a:srgbClr val="F6F8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2BB6B3B-2C5F-4F08-85B9-90E7C0FAD2B2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74169EF-7542-4399-A825-65D566078EB3}"/>
              </a:ext>
            </a:extLst>
          </p:cNvPr>
          <p:cNvSpPr txBox="1"/>
          <p:nvPr/>
        </p:nvSpPr>
        <p:spPr>
          <a:xfrm>
            <a:off x="419100" y="228600"/>
            <a:ext cx="180975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900">
                <a:solidFill>
                  <a:srgbClr val="5F748F"/>
                </a:solidFill>
                <a:latin typeface="Aptos"/>
              </a:rPr>
              <a:t>A-RAG Paper Report</a:t>
            </a:r>
            <a:endParaRPr lang="zh-TW" altLang="en-US" sz="900">
              <a:solidFill>
                <a:srgbClr val="5F748F"/>
              </a:solidFill>
              <a:latin typeface="Aptos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77B808D-6C82-46B8-B5CC-99B5B9DB954D}"/>
              </a:ext>
            </a:extLst>
          </p:cNvPr>
          <p:cNvSpPr txBox="1"/>
          <p:nvPr/>
        </p:nvSpPr>
        <p:spPr>
          <a:xfrm>
            <a:off x="10572750" y="228600"/>
            <a:ext cx="104775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900">
                <a:solidFill>
                  <a:srgbClr val="8798AD"/>
                </a:solidFill>
                <a:latin typeface="Aptos"/>
              </a:rPr>
              <a:t>02 / 14</a:t>
            </a:r>
            <a:endParaRPr lang="zh-TW" altLang="en-US" sz="900" dirty="0">
              <a:solidFill>
                <a:srgbClr val="8798AD"/>
              </a:solidFill>
              <a:latin typeface="Apto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808CE43-74C5-411C-A21E-F14F04389A11}"/>
              </a:ext>
            </a:extLst>
          </p:cNvPr>
          <p:cNvSpPr txBox="1"/>
          <p:nvPr/>
        </p:nvSpPr>
        <p:spPr>
          <a:xfrm>
            <a:off x="419100" y="552450"/>
            <a:ext cx="89535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官方 </a:t>
            </a:r>
            <a:r>
              <a:rPr lang="en-US" altLang="zh-TW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GitHub </a:t>
            </a:r>
            <a:r>
              <a:rPr lang="zh-TW" altLang="en-US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資料流程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F0967F8-9B09-4F57-995C-3A8C4E40FD1F}"/>
              </a:ext>
            </a:extLst>
          </p:cNvPr>
          <p:cNvSpPr/>
          <p:nvPr/>
        </p:nvSpPr>
        <p:spPr>
          <a:xfrm>
            <a:off x="419100" y="1104900"/>
            <a:ext cx="7429500" cy="1905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98DFA2D-0ED9-430D-ADD8-648E761C05C2}"/>
              </a:ext>
            </a:extLst>
          </p:cNvPr>
          <p:cNvSpPr txBox="1"/>
          <p:nvPr/>
        </p:nvSpPr>
        <p:spPr>
          <a:xfrm>
            <a:off x="419100" y="1238250"/>
            <a:ext cx="9652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1120" dirty="0">
                <a:solidFill>
                  <a:srgbClr val="5F748F"/>
                </a:solidFill>
                <a:latin typeface="Microsoft JhengHei" panose="020B0604030504040204" pitchFamily="34" charset="-120"/>
              </a:rPr>
              <a:t>本次直接使用 </a:t>
            </a:r>
            <a:r>
              <a:rPr lang="en-US" altLang="zh-TW" sz="1120" dirty="0">
                <a:solidFill>
                  <a:srgbClr val="5F748F"/>
                </a:solidFill>
                <a:latin typeface="Microsoft JhengHei" panose="020B0604030504040204" pitchFamily="34" charset="-120"/>
              </a:rPr>
              <a:t>official A-RAG repo </a:t>
            </a:r>
            <a:r>
              <a:rPr lang="zh-TW" altLang="en-US" sz="1120" dirty="0">
                <a:solidFill>
                  <a:srgbClr val="5F748F"/>
                </a:solidFill>
                <a:latin typeface="Microsoft JhengHei" panose="020B0604030504040204" pitchFamily="34" charset="-120"/>
              </a:rPr>
              <a:t>的資料格式與 </a:t>
            </a:r>
            <a:r>
              <a:rPr lang="en-US" altLang="zh-TW" sz="1120" dirty="0">
                <a:solidFill>
                  <a:srgbClr val="5F748F"/>
                </a:solidFill>
                <a:latin typeface="Microsoft JhengHei" panose="020B0604030504040204" pitchFamily="34" charset="-120"/>
              </a:rPr>
              <a:t>CLI </a:t>
            </a:r>
            <a:r>
              <a:rPr lang="zh-TW" altLang="en-US" sz="1120" dirty="0">
                <a:solidFill>
                  <a:srgbClr val="5F748F"/>
                </a:solidFill>
                <a:latin typeface="Microsoft JhengHei" panose="020B0604030504040204" pitchFamily="34" charset="-120"/>
              </a:rPr>
              <a:t>流程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CFBE047F-AE92-4850-9DF6-323FE43BDF07}"/>
              </a:ext>
            </a:extLst>
          </p:cNvPr>
          <p:cNvSpPr/>
          <p:nvPr/>
        </p:nvSpPr>
        <p:spPr>
          <a:xfrm>
            <a:off x="939800" y="2095500"/>
            <a:ext cx="2095500" cy="9144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ABBB130-D281-41B6-8429-9027F7419694}"/>
              </a:ext>
            </a:extLst>
          </p:cNvPr>
          <p:cNvSpPr txBox="1"/>
          <p:nvPr/>
        </p:nvSpPr>
        <p:spPr>
          <a:xfrm>
            <a:off x="1066800" y="2222500"/>
            <a:ext cx="18415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1020" b="1">
                <a:solidFill>
                  <a:srgbClr val="122033"/>
                </a:solidFill>
                <a:latin typeface="Aptos"/>
              </a:rPr>
              <a:t>chunks.json</a:t>
            </a:r>
            <a:endParaRPr lang="zh-TW" altLang="en-US" sz="1020" b="1">
              <a:solidFill>
                <a:srgbClr val="122033"/>
              </a:solidFill>
              <a:latin typeface="Aptos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4BE8672-F1F2-4D9F-AFE2-5E529F5A8262}"/>
              </a:ext>
            </a:extLst>
          </p:cNvPr>
          <p:cNvSpPr txBox="1"/>
          <p:nvPr/>
        </p:nvSpPr>
        <p:spPr>
          <a:xfrm>
            <a:off x="1066800" y="2514600"/>
            <a:ext cx="18415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80">
                <a:solidFill>
                  <a:srgbClr val="5F748F"/>
                </a:solidFill>
                <a:latin typeface="Microsoft JhengHei" panose="020B0604030504040204" pitchFamily="34" charset="-120"/>
              </a:rPr>
              <a:t>corpus chunks / chunk ids</a:t>
            </a:r>
            <a:endParaRPr lang="zh-TW" altLang="en-US" sz="880">
              <a:solidFill>
                <a:srgbClr val="5F748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45ABCD1-EBF5-474B-AF2E-F9E53558D928}"/>
              </a:ext>
            </a:extLst>
          </p:cNvPr>
          <p:cNvSpPr/>
          <p:nvPr/>
        </p:nvSpPr>
        <p:spPr>
          <a:xfrm>
            <a:off x="3111500" y="2533650"/>
            <a:ext cx="685800" cy="3810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等腰三角形 13">
            <a:extLst>
              <a:ext uri="{FF2B5EF4-FFF2-40B4-BE49-F238E27FC236}">
                <a16:creationId xmlns:a16="http://schemas.microsoft.com/office/drawing/2014/main" id="{6AB868BA-31CA-44BF-BAA3-A9409B74CF32}"/>
              </a:ext>
            </a:extLst>
          </p:cNvPr>
          <p:cNvSpPr/>
          <p:nvPr/>
        </p:nvSpPr>
        <p:spPr>
          <a:xfrm>
            <a:off x="3759200" y="2476500"/>
            <a:ext cx="152400" cy="152400"/>
          </a:xfrm>
          <a:prstGeom prst="triangle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2E574352-E41B-40A0-8887-2848FA8056FE}"/>
              </a:ext>
            </a:extLst>
          </p:cNvPr>
          <p:cNvSpPr/>
          <p:nvPr/>
        </p:nvSpPr>
        <p:spPr>
          <a:xfrm>
            <a:off x="3873500" y="2095500"/>
            <a:ext cx="2095500" cy="9144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04F880F9-12EE-4760-80A0-20B4D33874E0}"/>
              </a:ext>
            </a:extLst>
          </p:cNvPr>
          <p:cNvSpPr txBox="1"/>
          <p:nvPr/>
        </p:nvSpPr>
        <p:spPr>
          <a:xfrm>
            <a:off x="4000500" y="2222500"/>
            <a:ext cx="18415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1020" b="1">
                <a:solidFill>
                  <a:srgbClr val="122033"/>
                </a:solidFill>
                <a:latin typeface="Aptos"/>
              </a:rPr>
              <a:t>questions.json</a:t>
            </a:r>
            <a:endParaRPr lang="zh-TW" altLang="en-US" sz="1020" b="1">
              <a:solidFill>
                <a:srgbClr val="122033"/>
              </a:solidFill>
              <a:latin typeface="Aptos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71F7A0B0-3EA3-47B9-ABDC-C29A17B2B293}"/>
              </a:ext>
            </a:extLst>
          </p:cNvPr>
          <p:cNvSpPr txBox="1"/>
          <p:nvPr/>
        </p:nvSpPr>
        <p:spPr>
          <a:xfrm>
            <a:off x="4000500" y="2514600"/>
            <a:ext cx="18415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80">
                <a:solidFill>
                  <a:srgbClr val="5F748F"/>
                </a:solidFill>
                <a:latin typeface="Microsoft JhengHei" panose="020B0604030504040204" pitchFamily="34" charset="-120"/>
              </a:rPr>
              <a:t>question + answer fields</a:t>
            </a:r>
            <a:endParaRPr lang="zh-TW" altLang="en-US" sz="880">
              <a:solidFill>
                <a:srgbClr val="5F748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64C1312-46C0-4DF5-BD63-82FCD4D4060B}"/>
              </a:ext>
            </a:extLst>
          </p:cNvPr>
          <p:cNvSpPr/>
          <p:nvPr/>
        </p:nvSpPr>
        <p:spPr>
          <a:xfrm>
            <a:off x="6045200" y="2533650"/>
            <a:ext cx="685800" cy="3810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等腰三角形 18">
            <a:extLst>
              <a:ext uri="{FF2B5EF4-FFF2-40B4-BE49-F238E27FC236}">
                <a16:creationId xmlns:a16="http://schemas.microsoft.com/office/drawing/2014/main" id="{70DE0102-54E6-4B2C-B5AA-4B3F08D49B4D}"/>
              </a:ext>
            </a:extLst>
          </p:cNvPr>
          <p:cNvSpPr/>
          <p:nvPr/>
        </p:nvSpPr>
        <p:spPr>
          <a:xfrm>
            <a:off x="6692900" y="2476500"/>
            <a:ext cx="152400" cy="152400"/>
          </a:xfrm>
          <a:prstGeom prst="triangle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6BE844C8-8188-4226-9C19-93C6DE16D8A5}"/>
              </a:ext>
            </a:extLst>
          </p:cNvPr>
          <p:cNvSpPr/>
          <p:nvPr/>
        </p:nvSpPr>
        <p:spPr>
          <a:xfrm>
            <a:off x="6807200" y="2095500"/>
            <a:ext cx="2095500" cy="9144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964DD472-4289-4CB3-8D65-8964D3E7D190}"/>
              </a:ext>
            </a:extLst>
          </p:cNvPr>
          <p:cNvSpPr txBox="1"/>
          <p:nvPr/>
        </p:nvSpPr>
        <p:spPr>
          <a:xfrm>
            <a:off x="6934200" y="2222500"/>
            <a:ext cx="18415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1020" b="1">
                <a:solidFill>
                  <a:srgbClr val="122033"/>
                </a:solidFill>
                <a:latin typeface="Aptos"/>
              </a:rPr>
              <a:t>index/</a:t>
            </a:r>
            <a:endParaRPr lang="zh-TW" altLang="en-US" sz="1020" b="1">
              <a:solidFill>
                <a:srgbClr val="122033"/>
              </a:solidFill>
              <a:latin typeface="Aptos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E8044567-9BE3-4E55-BDF6-FAA29533AD47}"/>
              </a:ext>
            </a:extLst>
          </p:cNvPr>
          <p:cNvSpPr txBox="1"/>
          <p:nvPr/>
        </p:nvSpPr>
        <p:spPr>
          <a:xfrm>
            <a:off x="6934200" y="2514600"/>
            <a:ext cx="18415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80">
                <a:solidFill>
                  <a:srgbClr val="5F748F"/>
                </a:solidFill>
                <a:latin typeface="Microsoft JhengHei" panose="020B0604030504040204" pitchFamily="34" charset="-120"/>
              </a:rPr>
              <a:t>semantic search index</a:t>
            </a:r>
            <a:endParaRPr lang="zh-TW" altLang="en-US" sz="880">
              <a:solidFill>
                <a:srgbClr val="5F748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C00F580A-2392-4E8A-A426-B7FE708D0A83}"/>
              </a:ext>
            </a:extLst>
          </p:cNvPr>
          <p:cNvSpPr/>
          <p:nvPr/>
        </p:nvSpPr>
        <p:spPr>
          <a:xfrm>
            <a:off x="939800" y="3733800"/>
            <a:ext cx="2286000" cy="9144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6E2D6CD9-3D1A-494E-BA98-C5CFFA7EF0E6}"/>
              </a:ext>
            </a:extLst>
          </p:cNvPr>
          <p:cNvSpPr txBox="1"/>
          <p:nvPr/>
        </p:nvSpPr>
        <p:spPr>
          <a:xfrm>
            <a:off x="1066800" y="3860800"/>
            <a:ext cx="2032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1020" b="1">
                <a:solidFill>
                  <a:srgbClr val="122033"/>
                </a:solidFill>
                <a:latin typeface="Aptos"/>
              </a:rPr>
              <a:t>build_index.py</a:t>
            </a:r>
            <a:endParaRPr lang="zh-TW" altLang="en-US" sz="1020" b="1">
              <a:solidFill>
                <a:srgbClr val="122033"/>
              </a:solidFill>
              <a:latin typeface="Aptos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5AD333B1-96C2-4FE6-A266-7AD9EB6F823C}"/>
              </a:ext>
            </a:extLst>
          </p:cNvPr>
          <p:cNvSpPr txBox="1"/>
          <p:nvPr/>
        </p:nvSpPr>
        <p:spPr>
          <a:xfrm>
            <a:off x="1066800" y="4152900"/>
            <a:ext cx="20320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zh-TW" altLang="en-US" sz="880">
                <a:solidFill>
                  <a:srgbClr val="5F748F"/>
                </a:solidFill>
                <a:latin typeface="Microsoft JhengHei" panose="020B0604030504040204" pitchFamily="34" charset="-120"/>
              </a:rPr>
              <a:t>建立 </a:t>
            </a:r>
            <a:r>
              <a:rPr lang="en-US" altLang="zh-TW" sz="880">
                <a:solidFill>
                  <a:srgbClr val="5F748F"/>
                </a:solidFill>
                <a:latin typeface="Microsoft JhengHei" panose="020B0604030504040204" pitchFamily="34" charset="-120"/>
              </a:rPr>
              <a:t>sentence embedding index</a:t>
            </a:r>
            <a:endParaRPr lang="zh-TW" altLang="en-US" sz="880">
              <a:solidFill>
                <a:srgbClr val="5F748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F763940-7381-4ED8-83CC-5A5EB8EBFB17}"/>
              </a:ext>
            </a:extLst>
          </p:cNvPr>
          <p:cNvSpPr/>
          <p:nvPr/>
        </p:nvSpPr>
        <p:spPr>
          <a:xfrm>
            <a:off x="3302000" y="4171950"/>
            <a:ext cx="457200" cy="3810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等腰三角形 26">
            <a:extLst>
              <a:ext uri="{FF2B5EF4-FFF2-40B4-BE49-F238E27FC236}">
                <a16:creationId xmlns:a16="http://schemas.microsoft.com/office/drawing/2014/main" id="{3413A74E-13EC-4E6D-8CE8-D64FD6A05512}"/>
              </a:ext>
            </a:extLst>
          </p:cNvPr>
          <p:cNvSpPr/>
          <p:nvPr/>
        </p:nvSpPr>
        <p:spPr>
          <a:xfrm>
            <a:off x="3721100" y="4114800"/>
            <a:ext cx="152400" cy="152400"/>
          </a:xfrm>
          <a:prstGeom prst="triangle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3D3510FD-DB12-4809-A8F6-3278E038026D}"/>
              </a:ext>
            </a:extLst>
          </p:cNvPr>
          <p:cNvSpPr/>
          <p:nvPr/>
        </p:nvSpPr>
        <p:spPr>
          <a:xfrm>
            <a:off x="3835400" y="3733800"/>
            <a:ext cx="2286000" cy="9144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295EFF22-2C03-4ED8-A038-9D81521C2287}"/>
              </a:ext>
            </a:extLst>
          </p:cNvPr>
          <p:cNvSpPr txBox="1"/>
          <p:nvPr/>
        </p:nvSpPr>
        <p:spPr>
          <a:xfrm>
            <a:off x="3962400" y="3860800"/>
            <a:ext cx="2032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1020" b="1">
                <a:solidFill>
                  <a:srgbClr val="122033"/>
                </a:solidFill>
                <a:latin typeface="Aptos"/>
              </a:rPr>
              <a:t>batch_runner.py</a:t>
            </a:r>
            <a:endParaRPr lang="zh-TW" altLang="en-US" sz="1020" b="1">
              <a:solidFill>
                <a:srgbClr val="122033"/>
              </a:solidFill>
              <a:latin typeface="Aptos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6D50C217-6CF0-4171-ACD0-5636626C1FC1}"/>
              </a:ext>
            </a:extLst>
          </p:cNvPr>
          <p:cNvSpPr txBox="1"/>
          <p:nvPr/>
        </p:nvSpPr>
        <p:spPr>
          <a:xfrm>
            <a:off x="3962400" y="4152900"/>
            <a:ext cx="20320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zh-TW" altLang="en-US" sz="880">
                <a:solidFill>
                  <a:srgbClr val="5F748F"/>
                </a:solidFill>
                <a:latin typeface="Microsoft JhengHei" panose="020B0604030504040204" pitchFamily="34" charset="-120"/>
              </a:rPr>
              <a:t>逐題執行 </a:t>
            </a:r>
            <a:r>
              <a:rPr lang="en-US" altLang="zh-TW" sz="880">
                <a:solidFill>
                  <a:srgbClr val="5F748F"/>
                </a:solidFill>
                <a:latin typeface="Microsoft JhengHei" panose="020B0604030504040204" pitchFamily="34" charset="-120"/>
              </a:rPr>
              <a:t>agent loop</a:t>
            </a:r>
            <a:endParaRPr lang="zh-TW" altLang="en-US" sz="880">
              <a:solidFill>
                <a:srgbClr val="5F748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6058EFE-E4CC-40C6-9666-8557539E684D}"/>
              </a:ext>
            </a:extLst>
          </p:cNvPr>
          <p:cNvSpPr/>
          <p:nvPr/>
        </p:nvSpPr>
        <p:spPr>
          <a:xfrm>
            <a:off x="6197600" y="4171950"/>
            <a:ext cx="457200" cy="3810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等腰三角形 31">
            <a:extLst>
              <a:ext uri="{FF2B5EF4-FFF2-40B4-BE49-F238E27FC236}">
                <a16:creationId xmlns:a16="http://schemas.microsoft.com/office/drawing/2014/main" id="{5B2E9BCB-6A7D-401D-BE1A-95F0BC1A5B13}"/>
              </a:ext>
            </a:extLst>
          </p:cNvPr>
          <p:cNvSpPr/>
          <p:nvPr/>
        </p:nvSpPr>
        <p:spPr>
          <a:xfrm>
            <a:off x="6616700" y="4114800"/>
            <a:ext cx="152400" cy="152400"/>
          </a:xfrm>
          <a:prstGeom prst="triangle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2EF4DC6C-CFE5-4B52-A8F8-AC870387A548}"/>
              </a:ext>
            </a:extLst>
          </p:cNvPr>
          <p:cNvSpPr/>
          <p:nvPr/>
        </p:nvSpPr>
        <p:spPr>
          <a:xfrm>
            <a:off x="6731000" y="3733800"/>
            <a:ext cx="2286000" cy="9144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6A7FED02-5CF4-4CBB-A1DA-FAE80818C80C}"/>
              </a:ext>
            </a:extLst>
          </p:cNvPr>
          <p:cNvSpPr txBox="1"/>
          <p:nvPr/>
        </p:nvSpPr>
        <p:spPr>
          <a:xfrm>
            <a:off x="6858000" y="3860800"/>
            <a:ext cx="2032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1020" b="1">
                <a:solidFill>
                  <a:srgbClr val="122033"/>
                </a:solidFill>
                <a:latin typeface="Aptos"/>
              </a:rPr>
              <a:t>eval.py</a:t>
            </a:r>
            <a:endParaRPr lang="zh-TW" altLang="en-US" sz="1020" b="1">
              <a:solidFill>
                <a:srgbClr val="122033"/>
              </a:solidFill>
              <a:latin typeface="Aptos"/>
            </a:endParaRP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31A88651-4264-4084-B73C-99E8623BB141}"/>
              </a:ext>
            </a:extLst>
          </p:cNvPr>
          <p:cNvSpPr txBox="1"/>
          <p:nvPr/>
        </p:nvSpPr>
        <p:spPr>
          <a:xfrm>
            <a:off x="6858000" y="4152900"/>
            <a:ext cx="20320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zh-TW" altLang="en-US" sz="880">
                <a:solidFill>
                  <a:srgbClr val="5F748F"/>
                </a:solidFill>
                <a:latin typeface="Microsoft JhengHei" panose="020B0604030504040204" pitchFamily="34" charset="-120"/>
              </a:rPr>
              <a:t>計算 </a:t>
            </a:r>
            <a:r>
              <a:rPr lang="en-US" altLang="zh-TW" sz="880">
                <a:solidFill>
                  <a:srgbClr val="5F748F"/>
                </a:solidFill>
                <a:latin typeface="Microsoft JhengHei" panose="020B0604030504040204" pitchFamily="34" charset="-120"/>
              </a:rPr>
              <a:t>LLM / contain accuracy</a:t>
            </a:r>
            <a:endParaRPr lang="zh-TW" altLang="en-US" sz="880">
              <a:solidFill>
                <a:srgbClr val="5F748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6" name="矩形: 圓角 35">
            <a:extLst>
              <a:ext uri="{FF2B5EF4-FFF2-40B4-BE49-F238E27FC236}">
                <a16:creationId xmlns:a16="http://schemas.microsoft.com/office/drawing/2014/main" id="{B741ADD7-DBFD-4FF6-A4E2-7FC18822037E}"/>
              </a:ext>
            </a:extLst>
          </p:cNvPr>
          <p:cNvSpPr/>
          <p:nvPr/>
        </p:nvSpPr>
        <p:spPr>
          <a:xfrm>
            <a:off x="9251406" y="2095500"/>
            <a:ext cx="2667000" cy="25527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32B5823-057D-4B09-B5E2-05C658420EB5}"/>
              </a:ext>
            </a:extLst>
          </p:cNvPr>
          <p:cNvSpPr/>
          <p:nvPr/>
        </p:nvSpPr>
        <p:spPr>
          <a:xfrm>
            <a:off x="9187906" y="2183306"/>
            <a:ext cx="50800" cy="2552700"/>
          </a:xfrm>
          <a:prstGeom prst="rect">
            <a:avLst/>
          </a:prstGeom>
          <a:solidFill>
            <a:srgbClr val="2F9D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55DC2BE6-1F68-4257-BA2C-104DB818BBD8}"/>
              </a:ext>
            </a:extLst>
          </p:cNvPr>
          <p:cNvSpPr txBox="1"/>
          <p:nvPr/>
        </p:nvSpPr>
        <p:spPr>
          <a:xfrm>
            <a:off x="9258663" y="2430313"/>
            <a:ext cx="2286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1280" b="1">
                <a:solidFill>
                  <a:srgbClr val="2F9D64"/>
                </a:solidFill>
                <a:latin typeface="Microsoft JhengHei" panose="020B0604030504040204" pitchFamily="34" charset="-120"/>
              </a:rPr>
              <a:t>重點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E03B958-65FC-4268-A7EC-E3DE2B844598}"/>
              </a:ext>
            </a:extLst>
          </p:cNvPr>
          <p:cNvSpPr/>
          <p:nvPr/>
        </p:nvSpPr>
        <p:spPr>
          <a:xfrm>
            <a:off x="9467306" y="2947846"/>
            <a:ext cx="86360" cy="8636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46D44B0D-B9AC-47DB-B559-B191D961CC7E}"/>
              </a:ext>
            </a:extLst>
          </p:cNvPr>
          <p:cNvSpPr txBox="1"/>
          <p:nvPr/>
        </p:nvSpPr>
        <p:spPr>
          <a:xfrm>
            <a:off x="9638756" y="2881806"/>
            <a:ext cx="1968500" cy="12003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950">
                <a:solidFill>
                  <a:srgbClr val="122033"/>
                </a:solidFill>
                <a:latin typeface="Microsoft JhengHei" panose="020B0604030504040204" pitchFamily="34" charset="-120"/>
              </a:rPr>
              <a:t>資料夾保留官方格式：</a:t>
            </a:r>
            <a:r>
              <a:rPr lang="en-US" altLang="zh-TW" sz="950">
                <a:solidFill>
                  <a:srgbClr val="122033"/>
                </a:solidFill>
                <a:latin typeface="Microsoft JhengHei" panose="020B0604030504040204" pitchFamily="34" charset="-120"/>
              </a:rPr>
              <a:t>chunks.json / questions.json / index-minilm</a:t>
            </a:r>
            <a:endParaRPr lang="zh-TW" altLang="en-US" sz="9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22D62A6-7822-47DD-BEFF-BE482C8955A9}"/>
              </a:ext>
            </a:extLst>
          </p:cNvPr>
          <p:cNvSpPr/>
          <p:nvPr/>
        </p:nvSpPr>
        <p:spPr>
          <a:xfrm>
            <a:off x="9467306" y="3392346"/>
            <a:ext cx="86360" cy="8636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39952368-7E90-464A-8259-B8ADAC7BCB85}"/>
              </a:ext>
            </a:extLst>
          </p:cNvPr>
          <p:cNvSpPr txBox="1"/>
          <p:nvPr/>
        </p:nvSpPr>
        <p:spPr>
          <a:xfrm>
            <a:off x="9638756" y="3354107"/>
            <a:ext cx="1968500" cy="88229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950">
                <a:solidFill>
                  <a:srgbClr val="122033"/>
                </a:solidFill>
                <a:latin typeface="Microsoft JhengHei" panose="020B0604030504040204" pitchFamily="34" charset="-120"/>
              </a:rPr>
              <a:t>流程保留官方分工：</a:t>
            </a:r>
            <a:r>
              <a:rPr lang="en-US" altLang="zh-TW" sz="950">
                <a:solidFill>
                  <a:srgbClr val="122033"/>
                </a:solidFill>
                <a:latin typeface="Microsoft JhengHei" panose="020B0604030504040204" pitchFamily="34" charset="-120"/>
              </a:rPr>
              <a:t>indexing → batch run → evaluation</a:t>
            </a:r>
            <a:endParaRPr lang="zh-TW" altLang="en-US" sz="9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3E3CFB7-85B2-4D67-8498-336588AF4B1D}"/>
              </a:ext>
            </a:extLst>
          </p:cNvPr>
          <p:cNvSpPr/>
          <p:nvPr/>
        </p:nvSpPr>
        <p:spPr>
          <a:xfrm>
            <a:off x="9467306" y="3836846"/>
            <a:ext cx="86360" cy="8636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8F60BF78-B5B3-47FA-9C4F-174A1755A570}"/>
              </a:ext>
            </a:extLst>
          </p:cNvPr>
          <p:cNvSpPr txBox="1"/>
          <p:nvPr/>
        </p:nvSpPr>
        <p:spPr>
          <a:xfrm>
            <a:off x="9638756" y="3770806"/>
            <a:ext cx="1968500" cy="88229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950">
                <a:solidFill>
                  <a:srgbClr val="122033"/>
                </a:solidFill>
                <a:latin typeface="Microsoft JhengHei" panose="020B0604030504040204" pitchFamily="34" charset="-120"/>
              </a:rPr>
              <a:t>修改只在 </a:t>
            </a:r>
            <a:r>
              <a:rPr lang="en-US" altLang="zh-TW" sz="950">
                <a:solidFill>
                  <a:srgbClr val="122033"/>
                </a:solidFill>
                <a:latin typeface="Microsoft JhengHei" panose="020B0604030504040204" pitchFamily="34" charset="-120"/>
              </a:rPr>
              <a:t>local config / endpoint / subset </a:t>
            </a:r>
            <a:r>
              <a:rPr lang="zh-TW" altLang="en-US" sz="950">
                <a:solidFill>
                  <a:srgbClr val="122033"/>
                </a:solidFill>
                <a:latin typeface="Microsoft JhengHei" panose="020B0604030504040204" pitchFamily="34" charset="-120"/>
              </a:rPr>
              <a:t>規模</a:t>
            </a:r>
          </a:p>
        </p:txBody>
      </p:sp>
    </p:spTree>
    <p:extLst>
      <p:ext uri="{BB962C8B-B14F-4D97-AF65-F5344CB8AC3E}">
        <p14:creationId xmlns:p14="http://schemas.microsoft.com/office/powerpoint/2010/main" val="2124341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BB0399F-9542-4201-BD63-4833765CCB5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4AEE4DF-2E08-46AF-B721-D09C26A74675}"/>
              </a:ext>
            </a:extLst>
          </p:cNvPr>
          <p:cNvSpPr/>
          <p:nvPr/>
        </p:nvSpPr>
        <p:spPr>
          <a:xfrm>
            <a:off x="114300" y="0"/>
            <a:ext cx="12077700" cy="6858000"/>
          </a:xfrm>
          <a:prstGeom prst="rect">
            <a:avLst/>
          </a:prstGeom>
          <a:solidFill>
            <a:srgbClr val="F6F8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2C8A716-8173-4623-A6BA-6E8936FC410E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45EA889-217A-4B53-92EF-BB24F64B6C0B}"/>
              </a:ext>
            </a:extLst>
          </p:cNvPr>
          <p:cNvSpPr txBox="1"/>
          <p:nvPr/>
        </p:nvSpPr>
        <p:spPr>
          <a:xfrm>
            <a:off x="419100" y="228600"/>
            <a:ext cx="180975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900">
                <a:solidFill>
                  <a:srgbClr val="5F748F"/>
                </a:solidFill>
                <a:latin typeface="Aptos"/>
              </a:rPr>
              <a:t>A-RAG Paper Report</a:t>
            </a:r>
            <a:endParaRPr lang="zh-TW" altLang="en-US" sz="900">
              <a:solidFill>
                <a:srgbClr val="5F748F"/>
              </a:solidFill>
              <a:latin typeface="Aptos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6209496-18BD-4A18-9604-E64178232185}"/>
              </a:ext>
            </a:extLst>
          </p:cNvPr>
          <p:cNvSpPr txBox="1"/>
          <p:nvPr/>
        </p:nvSpPr>
        <p:spPr>
          <a:xfrm>
            <a:off x="10572750" y="228600"/>
            <a:ext cx="104775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900">
                <a:solidFill>
                  <a:srgbClr val="8798AD"/>
                </a:solidFill>
                <a:latin typeface="Aptos"/>
              </a:rPr>
              <a:t>03 / 14</a:t>
            </a:r>
            <a:endParaRPr lang="zh-TW" altLang="en-US" sz="900">
              <a:solidFill>
                <a:srgbClr val="8798AD"/>
              </a:solidFill>
              <a:latin typeface="Apto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B7D4206-8B6E-47D9-8860-F1F282E9AFFF}"/>
              </a:ext>
            </a:extLst>
          </p:cNvPr>
          <p:cNvSpPr txBox="1"/>
          <p:nvPr/>
        </p:nvSpPr>
        <p:spPr>
          <a:xfrm>
            <a:off x="419100" y="552450"/>
            <a:ext cx="89535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實驗設定與參數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13B6660-222B-4B0C-AB24-19C7ACA845A5}"/>
              </a:ext>
            </a:extLst>
          </p:cNvPr>
          <p:cNvSpPr/>
          <p:nvPr/>
        </p:nvSpPr>
        <p:spPr>
          <a:xfrm>
            <a:off x="419100" y="1104900"/>
            <a:ext cx="7429500" cy="1905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ADB7EB7-AAFB-4FD5-9FDF-AE122E566AFE}"/>
              </a:ext>
            </a:extLst>
          </p:cNvPr>
          <p:cNvSpPr txBox="1"/>
          <p:nvPr/>
        </p:nvSpPr>
        <p:spPr>
          <a:xfrm>
            <a:off x="419100" y="1238250"/>
            <a:ext cx="9652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本次三資料集正式結果共用同一組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local config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，方便做橫向比較。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85DB1CEC-A400-47FA-958B-0C8B1075A15F}"/>
              </a:ext>
            </a:extLst>
          </p:cNvPr>
          <p:cNvSpPr/>
          <p:nvPr/>
        </p:nvSpPr>
        <p:spPr>
          <a:xfrm>
            <a:off x="622300" y="1930400"/>
            <a:ext cx="1752600" cy="4191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033BD34-49BA-43FF-88F1-676253064DD2}"/>
              </a:ext>
            </a:extLst>
          </p:cNvPr>
          <p:cNvSpPr txBox="1"/>
          <p:nvPr/>
        </p:nvSpPr>
        <p:spPr>
          <a:xfrm>
            <a:off x="673100" y="1993900"/>
            <a:ext cx="1651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zh-TW" altLang="en-US" sz="850" b="1">
                <a:solidFill>
                  <a:srgbClr val="122033"/>
                </a:solidFill>
                <a:latin typeface="Microsoft JhengHei" panose="020B0604030504040204" pitchFamily="34" charset="-120"/>
              </a:rPr>
              <a:t>類別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BE743CF4-1305-4F7C-96CF-F8869CFC3877}"/>
              </a:ext>
            </a:extLst>
          </p:cNvPr>
          <p:cNvSpPr/>
          <p:nvPr/>
        </p:nvSpPr>
        <p:spPr>
          <a:xfrm>
            <a:off x="2374900" y="1930400"/>
            <a:ext cx="5461000" cy="4191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BC4DADDD-4FED-45CA-A0BF-B1BD70175B91}"/>
              </a:ext>
            </a:extLst>
          </p:cNvPr>
          <p:cNvSpPr txBox="1"/>
          <p:nvPr/>
        </p:nvSpPr>
        <p:spPr>
          <a:xfrm>
            <a:off x="2425700" y="1993900"/>
            <a:ext cx="5359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zh-TW" altLang="en-US" sz="850" b="1">
                <a:solidFill>
                  <a:srgbClr val="122033"/>
                </a:solidFill>
                <a:latin typeface="Microsoft JhengHei" panose="020B0604030504040204" pitchFamily="34" charset="-120"/>
              </a:rPr>
              <a:t>設定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F5598C0A-7961-415B-AD78-205C55800A6E}"/>
              </a:ext>
            </a:extLst>
          </p:cNvPr>
          <p:cNvSpPr/>
          <p:nvPr/>
        </p:nvSpPr>
        <p:spPr>
          <a:xfrm>
            <a:off x="622300" y="2349500"/>
            <a:ext cx="1752600" cy="4191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E190104-DFE7-4493-8AD2-891A79FF7E8D}"/>
              </a:ext>
            </a:extLst>
          </p:cNvPr>
          <p:cNvSpPr txBox="1"/>
          <p:nvPr/>
        </p:nvSpPr>
        <p:spPr>
          <a:xfrm>
            <a:off x="673100" y="2413000"/>
            <a:ext cx="1651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50">
                <a:solidFill>
                  <a:srgbClr val="5F748F"/>
                </a:solidFill>
                <a:latin typeface="Aptos"/>
              </a:rPr>
              <a:t>model</a:t>
            </a:r>
            <a:endParaRPr lang="zh-TW" altLang="en-US" sz="850">
              <a:solidFill>
                <a:srgbClr val="5F748F"/>
              </a:solidFill>
              <a:latin typeface="Aptos"/>
            </a:endParaRP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3207DF71-A12D-405C-A0EA-B3A263F071C6}"/>
              </a:ext>
            </a:extLst>
          </p:cNvPr>
          <p:cNvSpPr/>
          <p:nvPr/>
        </p:nvSpPr>
        <p:spPr>
          <a:xfrm>
            <a:off x="2374900" y="2349500"/>
            <a:ext cx="5461000" cy="4191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7E152B23-EC4A-4D09-B568-54604A66A0D0}"/>
              </a:ext>
            </a:extLst>
          </p:cNvPr>
          <p:cNvSpPr txBox="1"/>
          <p:nvPr/>
        </p:nvSpPr>
        <p:spPr>
          <a:xfrm>
            <a:off x="2425700" y="2413000"/>
            <a:ext cx="5359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50">
                <a:solidFill>
                  <a:srgbClr val="5F748F"/>
                </a:solidFill>
                <a:latin typeface="Aptos"/>
              </a:rPr>
              <a:t>google/gemini-3.5-flash</a:t>
            </a:r>
            <a:endParaRPr lang="zh-TW" altLang="en-US" sz="850">
              <a:solidFill>
                <a:srgbClr val="5F748F"/>
              </a:solidFill>
              <a:latin typeface="Aptos"/>
            </a:endParaRP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45ECE7F4-5529-4007-93F2-16906EC959D7}"/>
              </a:ext>
            </a:extLst>
          </p:cNvPr>
          <p:cNvSpPr/>
          <p:nvPr/>
        </p:nvSpPr>
        <p:spPr>
          <a:xfrm>
            <a:off x="622300" y="2768600"/>
            <a:ext cx="1752600" cy="4191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320FFB60-9390-4CBC-A152-D64734161441}"/>
              </a:ext>
            </a:extLst>
          </p:cNvPr>
          <p:cNvSpPr txBox="1"/>
          <p:nvPr/>
        </p:nvSpPr>
        <p:spPr>
          <a:xfrm>
            <a:off x="673100" y="2832100"/>
            <a:ext cx="1651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50">
                <a:solidFill>
                  <a:srgbClr val="5F748F"/>
                </a:solidFill>
                <a:latin typeface="Aptos"/>
              </a:rPr>
              <a:t>endpoint</a:t>
            </a:r>
            <a:endParaRPr lang="zh-TW" altLang="en-US" sz="850">
              <a:solidFill>
                <a:srgbClr val="5F748F"/>
              </a:solidFill>
              <a:latin typeface="Aptos"/>
            </a:endParaRP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AAC7F0A7-BF74-4CE1-8932-D52CD11E5568}"/>
              </a:ext>
            </a:extLst>
          </p:cNvPr>
          <p:cNvSpPr/>
          <p:nvPr/>
        </p:nvSpPr>
        <p:spPr>
          <a:xfrm>
            <a:off x="2374900" y="2768600"/>
            <a:ext cx="5461000" cy="4191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6076E0B3-CA8D-46D7-963A-956CC80E9F5A}"/>
              </a:ext>
            </a:extLst>
          </p:cNvPr>
          <p:cNvSpPr txBox="1"/>
          <p:nvPr/>
        </p:nvSpPr>
        <p:spPr>
          <a:xfrm>
            <a:off x="2425700" y="2832100"/>
            <a:ext cx="5359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50">
                <a:solidFill>
                  <a:srgbClr val="5F748F"/>
                </a:solidFill>
                <a:latin typeface="Aptos"/>
              </a:rPr>
              <a:t>http://127.0.0.1:8787/v1</a:t>
            </a:r>
            <a:endParaRPr lang="zh-TW" altLang="en-US" sz="850">
              <a:solidFill>
                <a:srgbClr val="5F748F"/>
              </a:solidFill>
              <a:latin typeface="Aptos"/>
            </a:endParaRP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60332608-7777-491B-986D-E1CD5FD1BF8B}"/>
              </a:ext>
            </a:extLst>
          </p:cNvPr>
          <p:cNvSpPr/>
          <p:nvPr/>
        </p:nvSpPr>
        <p:spPr>
          <a:xfrm>
            <a:off x="622300" y="3187700"/>
            <a:ext cx="1752600" cy="4191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D751BD04-7E7E-4990-B893-E2472A626B9A}"/>
              </a:ext>
            </a:extLst>
          </p:cNvPr>
          <p:cNvSpPr txBox="1"/>
          <p:nvPr/>
        </p:nvSpPr>
        <p:spPr>
          <a:xfrm>
            <a:off x="673100" y="3251200"/>
            <a:ext cx="1651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50">
                <a:solidFill>
                  <a:srgbClr val="5F748F"/>
                </a:solidFill>
                <a:latin typeface="Aptos"/>
              </a:rPr>
              <a:t>embedding</a:t>
            </a:r>
            <a:endParaRPr lang="zh-TW" altLang="en-US" sz="850">
              <a:solidFill>
                <a:srgbClr val="5F748F"/>
              </a:solidFill>
              <a:latin typeface="Aptos"/>
            </a:endParaRP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D0FEAF36-2CD0-4805-B97D-C578F61D8849}"/>
              </a:ext>
            </a:extLst>
          </p:cNvPr>
          <p:cNvSpPr/>
          <p:nvPr/>
        </p:nvSpPr>
        <p:spPr>
          <a:xfrm>
            <a:off x="2374900" y="3187700"/>
            <a:ext cx="5461000" cy="4191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97388B6A-677C-4B39-89FB-72FC2B0DC312}"/>
              </a:ext>
            </a:extLst>
          </p:cNvPr>
          <p:cNvSpPr txBox="1"/>
          <p:nvPr/>
        </p:nvSpPr>
        <p:spPr>
          <a:xfrm>
            <a:off x="2425700" y="3251200"/>
            <a:ext cx="5359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50">
                <a:solidFill>
                  <a:srgbClr val="5F748F"/>
                </a:solidFill>
                <a:latin typeface="Aptos"/>
              </a:rPr>
              <a:t>sentence-transformers/all-MiniLM-L6-v2</a:t>
            </a:r>
            <a:endParaRPr lang="zh-TW" altLang="en-US" sz="850">
              <a:solidFill>
                <a:srgbClr val="5F748F"/>
              </a:solidFill>
              <a:latin typeface="Aptos"/>
            </a:endParaRP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26A0EEFE-D401-4E1A-B29F-9C15308D5D03}"/>
              </a:ext>
            </a:extLst>
          </p:cNvPr>
          <p:cNvSpPr/>
          <p:nvPr/>
        </p:nvSpPr>
        <p:spPr>
          <a:xfrm>
            <a:off x="622300" y="3606800"/>
            <a:ext cx="1752600" cy="4191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43778C2F-77E7-4501-A086-FEA634CAFF41}"/>
              </a:ext>
            </a:extLst>
          </p:cNvPr>
          <p:cNvSpPr txBox="1"/>
          <p:nvPr/>
        </p:nvSpPr>
        <p:spPr>
          <a:xfrm>
            <a:off x="673100" y="3670300"/>
            <a:ext cx="1651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50">
                <a:solidFill>
                  <a:srgbClr val="5F748F"/>
                </a:solidFill>
                <a:latin typeface="Aptos"/>
              </a:rPr>
              <a:t>index backend</a:t>
            </a:r>
            <a:endParaRPr lang="zh-TW" altLang="en-US" sz="850">
              <a:solidFill>
                <a:srgbClr val="5F748F"/>
              </a:solidFill>
              <a:latin typeface="Aptos"/>
            </a:endParaRP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EEC91FD1-3A12-4703-9DC8-111F36EEE9C2}"/>
              </a:ext>
            </a:extLst>
          </p:cNvPr>
          <p:cNvSpPr/>
          <p:nvPr/>
        </p:nvSpPr>
        <p:spPr>
          <a:xfrm>
            <a:off x="2374900" y="3606800"/>
            <a:ext cx="5461000" cy="4191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DBC9A549-E6AB-4C4D-A76C-EC0115DD041B}"/>
              </a:ext>
            </a:extLst>
          </p:cNvPr>
          <p:cNvSpPr txBox="1"/>
          <p:nvPr/>
        </p:nvSpPr>
        <p:spPr>
          <a:xfrm>
            <a:off x="2425700" y="3670300"/>
            <a:ext cx="5359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50">
                <a:solidFill>
                  <a:srgbClr val="5F748F"/>
                </a:solidFill>
                <a:latin typeface="Aptos"/>
              </a:rPr>
              <a:t>sentence_transformers / index-minilm</a:t>
            </a:r>
            <a:endParaRPr lang="zh-TW" altLang="en-US" sz="850">
              <a:solidFill>
                <a:srgbClr val="5F748F"/>
              </a:solidFill>
              <a:latin typeface="Aptos"/>
            </a:endParaRPr>
          </a:p>
        </p:txBody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66661DEA-D869-4A95-8B8B-D64659AC35D1}"/>
              </a:ext>
            </a:extLst>
          </p:cNvPr>
          <p:cNvSpPr/>
          <p:nvPr/>
        </p:nvSpPr>
        <p:spPr>
          <a:xfrm>
            <a:off x="622300" y="4025900"/>
            <a:ext cx="1752600" cy="4191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A47552E3-BA43-48BA-81D6-8E8E3A5393D3}"/>
              </a:ext>
            </a:extLst>
          </p:cNvPr>
          <p:cNvSpPr txBox="1"/>
          <p:nvPr/>
        </p:nvSpPr>
        <p:spPr>
          <a:xfrm>
            <a:off x="673100" y="4089400"/>
            <a:ext cx="1651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50">
                <a:solidFill>
                  <a:srgbClr val="5F748F"/>
                </a:solidFill>
                <a:latin typeface="Aptos"/>
              </a:rPr>
              <a:t>max_loops</a:t>
            </a:r>
            <a:endParaRPr lang="zh-TW" altLang="en-US" sz="850">
              <a:solidFill>
                <a:srgbClr val="5F748F"/>
              </a:solidFill>
              <a:latin typeface="Aptos"/>
            </a:endParaRPr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390EDDF5-0E08-45FD-975E-6860F1D9309B}"/>
              </a:ext>
            </a:extLst>
          </p:cNvPr>
          <p:cNvSpPr/>
          <p:nvPr/>
        </p:nvSpPr>
        <p:spPr>
          <a:xfrm>
            <a:off x="2374900" y="4025900"/>
            <a:ext cx="5461000" cy="4191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6EFFE690-92F1-437A-A714-38EDE82B93C1}"/>
              </a:ext>
            </a:extLst>
          </p:cNvPr>
          <p:cNvSpPr txBox="1"/>
          <p:nvPr/>
        </p:nvSpPr>
        <p:spPr>
          <a:xfrm>
            <a:off x="2425700" y="4089400"/>
            <a:ext cx="5359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50">
                <a:solidFill>
                  <a:srgbClr val="5F748F"/>
                </a:solidFill>
                <a:latin typeface="Aptos"/>
              </a:rPr>
              <a:t>8</a:t>
            </a:r>
            <a:endParaRPr lang="zh-TW" altLang="en-US" sz="850">
              <a:solidFill>
                <a:srgbClr val="5F748F"/>
              </a:solidFill>
              <a:latin typeface="Aptos"/>
            </a:endParaRPr>
          </a:p>
        </p:txBody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5119BF73-7A34-4EC1-8FB0-5368D97B96F5}"/>
              </a:ext>
            </a:extLst>
          </p:cNvPr>
          <p:cNvSpPr/>
          <p:nvPr/>
        </p:nvSpPr>
        <p:spPr>
          <a:xfrm>
            <a:off x="622300" y="4445000"/>
            <a:ext cx="1752600" cy="4191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2D641D8A-5AD8-480B-B66F-4EA6121E38ED}"/>
              </a:ext>
            </a:extLst>
          </p:cNvPr>
          <p:cNvSpPr txBox="1"/>
          <p:nvPr/>
        </p:nvSpPr>
        <p:spPr>
          <a:xfrm>
            <a:off x="673100" y="4508500"/>
            <a:ext cx="16510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50">
                <a:solidFill>
                  <a:srgbClr val="5F748F"/>
                </a:solidFill>
                <a:latin typeface="Aptos"/>
              </a:rPr>
              <a:t>max_token_budget</a:t>
            </a:r>
            <a:endParaRPr lang="zh-TW" altLang="en-US" sz="850">
              <a:solidFill>
                <a:srgbClr val="5F748F"/>
              </a:solidFill>
              <a:latin typeface="Aptos"/>
            </a:endParaRPr>
          </a:p>
        </p:txBody>
      </p:sp>
      <p:sp>
        <p:nvSpPr>
          <p:cNvPr id="36" name="矩形: 圓角 35">
            <a:extLst>
              <a:ext uri="{FF2B5EF4-FFF2-40B4-BE49-F238E27FC236}">
                <a16:creationId xmlns:a16="http://schemas.microsoft.com/office/drawing/2014/main" id="{D82AE36D-2241-41C6-A716-7B304ABF1792}"/>
              </a:ext>
            </a:extLst>
          </p:cNvPr>
          <p:cNvSpPr/>
          <p:nvPr/>
        </p:nvSpPr>
        <p:spPr>
          <a:xfrm>
            <a:off x="2374900" y="4445000"/>
            <a:ext cx="5461000" cy="4191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70D0CEDB-75EE-4379-BACA-FB971C118B6E}"/>
              </a:ext>
            </a:extLst>
          </p:cNvPr>
          <p:cNvSpPr txBox="1"/>
          <p:nvPr/>
        </p:nvSpPr>
        <p:spPr>
          <a:xfrm>
            <a:off x="2425700" y="4508500"/>
            <a:ext cx="5359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50">
                <a:solidFill>
                  <a:srgbClr val="5F748F"/>
                </a:solidFill>
                <a:latin typeface="Aptos"/>
              </a:rPr>
              <a:t>32000</a:t>
            </a:r>
            <a:endParaRPr lang="zh-TW" altLang="en-US" sz="850">
              <a:solidFill>
                <a:srgbClr val="5F748F"/>
              </a:solidFill>
              <a:latin typeface="Aptos"/>
            </a:endParaRPr>
          </a:p>
        </p:txBody>
      </p:sp>
      <p:sp>
        <p:nvSpPr>
          <p:cNvPr id="38" name="矩形: 圓角 37">
            <a:extLst>
              <a:ext uri="{FF2B5EF4-FFF2-40B4-BE49-F238E27FC236}">
                <a16:creationId xmlns:a16="http://schemas.microsoft.com/office/drawing/2014/main" id="{D8A35424-EF49-4AF6-9791-0E85E1F69BBD}"/>
              </a:ext>
            </a:extLst>
          </p:cNvPr>
          <p:cNvSpPr/>
          <p:nvPr/>
        </p:nvSpPr>
        <p:spPr>
          <a:xfrm>
            <a:off x="622300" y="4864100"/>
            <a:ext cx="1752600" cy="4191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F9E4753C-73F6-4163-BB4F-EF28D91ED452}"/>
              </a:ext>
            </a:extLst>
          </p:cNvPr>
          <p:cNvSpPr txBox="1"/>
          <p:nvPr/>
        </p:nvSpPr>
        <p:spPr>
          <a:xfrm>
            <a:off x="673100" y="4927600"/>
            <a:ext cx="1651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50">
                <a:solidFill>
                  <a:srgbClr val="5F748F"/>
                </a:solidFill>
                <a:latin typeface="Aptos"/>
              </a:rPr>
              <a:t>subset</a:t>
            </a:r>
            <a:endParaRPr lang="zh-TW" altLang="en-US" sz="850">
              <a:solidFill>
                <a:srgbClr val="5F748F"/>
              </a:solidFill>
              <a:latin typeface="Aptos"/>
            </a:endParaRPr>
          </a:p>
        </p:txBody>
      </p:sp>
      <p:sp>
        <p:nvSpPr>
          <p:cNvPr id="40" name="矩形: 圓角 39">
            <a:extLst>
              <a:ext uri="{FF2B5EF4-FFF2-40B4-BE49-F238E27FC236}">
                <a16:creationId xmlns:a16="http://schemas.microsoft.com/office/drawing/2014/main" id="{27B13EB8-420B-49E3-88A0-D2E4620E836F}"/>
              </a:ext>
            </a:extLst>
          </p:cNvPr>
          <p:cNvSpPr/>
          <p:nvPr/>
        </p:nvSpPr>
        <p:spPr>
          <a:xfrm>
            <a:off x="2374900" y="4864100"/>
            <a:ext cx="5461000" cy="4191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1B5FC600-CFF5-4C02-9816-DE02DFBADC2F}"/>
              </a:ext>
            </a:extLst>
          </p:cNvPr>
          <p:cNvSpPr txBox="1"/>
          <p:nvPr/>
        </p:nvSpPr>
        <p:spPr>
          <a:xfrm>
            <a:off x="2425700" y="4927600"/>
            <a:ext cx="5359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50">
                <a:solidFill>
                  <a:srgbClr val="5F748F"/>
                </a:solidFill>
                <a:latin typeface="Aptos"/>
              </a:rPr>
              <a:t>100 questions per dataset</a:t>
            </a:r>
            <a:endParaRPr lang="zh-TW" altLang="en-US" sz="850">
              <a:solidFill>
                <a:srgbClr val="5F748F"/>
              </a:solidFill>
              <a:latin typeface="Aptos"/>
            </a:endParaRPr>
          </a:p>
        </p:txBody>
      </p:sp>
      <p:sp>
        <p:nvSpPr>
          <p:cNvPr id="42" name="矩形: 圓角 41">
            <a:extLst>
              <a:ext uri="{FF2B5EF4-FFF2-40B4-BE49-F238E27FC236}">
                <a16:creationId xmlns:a16="http://schemas.microsoft.com/office/drawing/2014/main" id="{98C6DF32-7E80-42DE-811A-569CD62F14E9}"/>
              </a:ext>
            </a:extLst>
          </p:cNvPr>
          <p:cNvSpPr/>
          <p:nvPr/>
        </p:nvSpPr>
        <p:spPr>
          <a:xfrm>
            <a:off x="7899400" y="1930400"/>
            <a:ext cx="2870200" cy="29464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17E35D1-25B1-40F1-BA43-F6DB6F012FE6}"/>
              </a:ext>
            </a:extLst>
          </p:cNvPr>
          <p:cNvSpPr/>
          <p:nvPr/>
        </p:nvSpPr>
        <p:spPr>
          <a:xfrm>
            <a:off x="7899400" y="1930400"/>
            <a:ext cx="50800" cy="2946400"/>
          </a:xfrm>
          <a:prstGeom prst="rect">
            <a:avLst/>
          </a:prstGeom>
          <a:solidFill>
            <a:srgbClr val="2F9D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F53EDA29-5005-4832-A8CB-2A3A574E3042}"/>
              </a:ext>
            </a:extLst>
          </p:cNvPr>
          <p:cNvSpPr txBox="1"/>
          <p:nvPr/>
        </p:nvSpPr>
        <p:spPr>
          <a:xfrm>
            <a:off x="8089900" y="2082800"/>
            <a:ext cx="24892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1280" b="1">
                <a:solidFill>
                  <a:srgbClr val="2F9D64"/>
                </a:solidFill>
                <a:latin typeface="Microsoft JhengHei" panose="020B0604030504040204" pitchFamily="34" charset="-120"/>
              </a:rPr>
              <a:t>Evaluation </a:t>
            </a:r>
            <a:r>
              <a:rPr lang="zh-TW" altLang="en-US" sz="1280" b="1">
                <a:solidFill>
                  <a:srgbClr val="2F9D64"/>
                </a:solidFill>
                <a:latin typeface="Microsoft JhengHei" panose="020B0604030504040204" pitchFamily="34" charset="-120"/>
              </a:rPr>
              <a:t>指標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81FF786-9615-45FE-B030-8601B2F375AB}"/>
              </a:ext>
            </a:extLst>
          </p:cNvPr>
          <p:cNvSpPr/>
          <p:nvPr/>
        </p:nvSpPr>
        <p:spPr>
          <a:xfrm>
            <a:off x="8191500" y="2707640"/>
            <a:ext cx="86360" cy="8636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7EBF9645-6E02-47AE-86D7-06FEB57F9437}"/>
              </a:ext>
            </a:extLst>
          </p:cNvPr>
          <p:cNvSpPr txBox="1"/>
          <p:nvPr/>
        </p:nvSpPr>
        <p:spPr>
          <a:xfrm>
            <a:off x="8362950" y="2641600"/>
            <a:ext cx="2032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1000">
                <a:solidFill>
                  <a:srgbClr val="122033"/>
                </a:solidFill>
                <a:latin typeface="Microsoft JhengHei" panose="020B0604030504040204" pitchFamily="34" charset="-120"/>
              </a:rPr>
              <a:t>LLM Accuracy</a:t>
            </a:r>
            <a:endParaRPr lang="zh-TW" altLang="en-US" sz="100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761C36B6-99DB-4704-B06B-3873E312821C}"/>
              </a:ext>
            </a:extLst>
          </p:cNvPr>
          <p:cNvSpPr/>
          <p:nvPr/>
        </p:nvSpPr>
        <p:spPr>
          <a:xfrm>
            <a:off x="8191500" y="3063240"/>
            <a:ext cx="86360" cy="8636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F1161D68-AAEA-4ABD-A7E4-9C775D5BDA67}"/>
              </a:ext>
            </a:extLst>
          </p:cNvPr>
          <p:cNvSpPr txBox="1"/>
          <p:nvPr/>
        </p:nvSpPr>
        <p:spPr>
          <a:xfrm>
            <a:off x="8362950" y="2997200"/>
            <a:ext cx="2032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1000">
                <a:solidFill>
                  <a:srgbClr val="122033"/>
                </a:solidFill>
                <a:latin typeface="Microsoft JhengHei" panose="020B0604030504040204" pitchFamily="34" charset="-120"/>
              </a:rPr>
              <a:t>Contain Accuracy</a:t>
            </a:r>
            <a:endParaRPr lang="zh-TW" altLang="en-US" sz="100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7725061D-949C-4F6A-8A56-61CAC2F3FB1C}"/>
              </a:ext>
            </a:extLst>
          </p:cNvPr>
          <p:cNvSpPr/>
          <p:nvPr/>
        </p:nvSpPr>
        <p:spPr>
          <a:xfrm>
            <a:off x="8191500" y="3418840"/>
            <a:ext cx="86360" cy="8636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73C786FE-BA97-4A63-9523-F8D0663B13B6}"/>
              </a:ext>
            </a:extLst>
          </p:cNvPr>
          <p:cNvSpPr txBox="1"/>
          <p:nvPr/>
        </p:nvSpPr>
        <p:spPr>
          <a:xfrm>
            <a:off x="8362950" y="3352800"/>
            <a:ext cx="2032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1000">
                <a:solidFill>
                  <a:srgbClr val="122033"/>
                </a:solidFill>
                <a:latin typeface="Microsoft JhengHei" panose="020B0604030504040204" pitchFamily="34" charset="-120"/>
              </a:rPr>
              <a:t>Avg Loops</a:t>
            </a:r>
            <a:endParaRPr lang="zh-TW" altLang="en-US" sz="100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8A43A991-7161-4F48-BA08-EDA224B70C38}"/>
              </a:ext>
            </a:extLst>
          </p:cNvPr>
          <p:cNvSpPr/>
          <p:nvPr/>
        </p:nvSpPr>
        <p:spPr>
          <a:xfrm>
            <a:off x="8191500" y="3774440"/>
            <a:ext cx="86360" cy="8636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1C6DEAA3-47A1-4F34-9E2D-3A8E33482383}"/>
              </a:ext>
            </a:extLst>
          </p:cNvPr>
          <p:cNvSpPr txBox="1"/>
          <p:nvPr/>
        </p:nvSpPr>
        <p:spPr>
          <a:xfrm>
            <a:off x="8362950" y="3708400"/>
            <a:ext cx="20320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1000">
                <a:solidFill>
                  <a:srgbClr val="122033"/>
                </a:solidFill>
                <a:latin typeface="Microsoft JhengHei" panose="020B0604030504040204" pitchFamily="34" charset="-120"/>
              </a:rPr>
              <a:t>Avg Retrieved Tokens</a:t>
            </a:r>
            <a:endParaRPr lang="zh-TW" altLang="en-US" sz="100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07B4AD21-4CEA-452D-B5CA-7D3CE15553A3}"/>
              </a:ext>
            </a:extLst>
          </p:cNvPr>
          <p:cNvSpPr/>
          <p:nvPr/>
        </p:nvSpPr>
        <p:spPr>
          <a:xfrm>
            <a:off x="8191500" y="4130040"/>
            <a:ext cx="86360" cy="8636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313008FC-8D8B-405D-9CEA-17582422DEF7}"/>
              </a:ext>
            </a:extLst>
          </p:cNvPr>
          <p:cNvSpPr txBox="1"/>
          <p:nvPr/>
        </p:nvSpPr>
        <p:spPr>
          <a:xfrm>
            <a:off x="8362950" y="4064000"/>
            <a:ext cx="2032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1000">
                <a:solidFill>
                  <a:srgbClr val="122033"/>
                </a:solidFill>
                <a:latin typeface="Microsoft JhengHei" panose="020B0604030504040204" pitchFamily="34" charset="-120"/>
              </a:rPr>
              <a:t>Avg Cost / Q</a:t>
            </a:r>
            <a:endParaRPr lang="zh-TW" altLang="en-US" sz="100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D1CE4613-8176-4D17-8CF4-BD2FBACCC2EA}"/>
              </a:ext>
            </a:extLst>
          </p:cNvPr>
          <p:cNvSpPr txBox="1"/>
          <p:nvPr/>
        </p:nvSpPr>
        <p:spPr>
          <a:xfrm>
            <a:off x="781050" y="5435600"/>
            <a:ext cx="942975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1180" b="1">
                <a:solidFill>
                  <a:srgbClr val="122033"/>
                </a:solidFill>
                <a:latin typeface="Microsoft JhengHei" panose="020B0604030504040204" pitchFamily="34" charset="-120"/>
              </a:rPr>
              <a:t>Retrieved tokens </a:t>
            </a:r>
            <a:r>
              <a:rPr lang="zh-TW" altLang="en-US" sz="1180" b="1">
                <a:solidFill>
                  <a:srgbClr val="122033"/>
                </a:solidFill>
                <a:latin typeface="Microsoft JhengHei" panose="020B0604030504040204" pitchFamily="34" charset="-120"/>
              </a:rPr>
              <a:t>是系統累計的檢索 </a:t>
            </a:r>
            <a:r>
              <a:rPr lang="en-US" altLang="zh-TW" sz="1180" b="1">
                <a:solidFill>
                  <a:srgbClr val="122033"/>
                </a:solidFill>
                <a:latin typeface="Microsoft JhengHei" panose="020B0604030504040204" pitchFamily="34" charset="-120"/>
              </a:rPr>
              <a:t>token</a:t>
            </a:r>
            <a:r>
              <a:rPr lang="zh-TW" altLang="en-US" sz="1180" b="1">
                <a:solidFill>
                  <a:srgbClr val="122033"/>
                </a:solidFill>
                <a:latin typeface="Microsoft JhengHei" panose="020B0604030504040204" pitchFamily="34" charset="-120"/>
              </a:rPr>
              <a:t>，不是完整 </a:t>
            </a:r>
            <a:r>
              <a:rPr lang="en-US" altLang="zh-TW" sz="1180" b="1">
                <a:solidFill>
                  <a:srgbClr val="122033"/>
                </a:solidFill>
                <a:latin typeface="Microsoft JhengHei" panose="020B0604030504040204" pitchFamily="34" charset="-120"/>
              </a:rPr>
              <a:t>Gemini API prompt / completion token breakdown</a:t>
            </a:r>
            <a:r>
              <a:rPr lang="zh-TW" altLang="en-US" sz="1180" b="1">
                <a:solidFill>
                  <a:srgbClr val="122033"/>
                </a:solidFill>
                <a:latin typeface="Microsoft JhengHei" panose="020B0604030504040204" pitchFamily="34" charset="-12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727378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F78BECE-B2F1-44B1-8954-DB06D96B3F1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C0CCA6D-DA4F-4366-88DA-45AFDB34F27E}"/>
              </a:ext>
            </a:extLst>
          </p:cNvPr>
          <p:cNvSpPr/>
          <p:nvPr/>
        </p:nvSpPr>
        <p:spPr>
          <a:xfrm>
            <a:off x="114300" y="0"/>
            <a:ext cx="12077700" cy="6858000"/>
          </a:xfrm>
          <a:prstGeom prst="rect">
            <a:avLst/>
          </a:prstGeom>
          <a:solidFill>
            <a:srgbClr val="F6F8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3C44C9E-12D0-4014-9CDE-DAF02C029552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47F698A-3924-4ED9-AB4D-62F0DD892CE8}"/>
              </a:ext>
            </a:extLst>
          </p:cNvPr>
          <p:cNvSpPr txBox="1"/>
          <p:nvPr/>
        </p:nvSpPr>
        <p:spPr>
          <a:xfrm>
            <a:off x="419100" y="228600"/>
            <a:ext cx="180975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900">
                <a:solidFill>
                  <a:srgbClr val="5F748F"/>
                </a:solidFill>
                <a:latin typeface="Aptos"/>
              </a:rPr>
              <a:t>A-RAG Paper Report</a:t>
            </a:r>
            <a:endParaRPr lang="zh-TW" altLang="en-US" sz="900">
              <a:solidFill>
                <a:srgbClr val="5F748F"/>
              </a:solidFill>
              <a:latin typeface="Aptos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C5FB48B-20FF-4DAE-8B13-DCB99D0589D3}"/>
              </a:ext>
            </a:extLst>
          </p:cNvPr>
          <p:cNvSpPr txBox="1"/>
          <p:nvPr/>
        </p:nvSpPr>
        <p:spPr>
          <a:xfrm>
            <a:off x="10572750" y="228600"/>
            <a:ext cx="104775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900">
                <a:solidFill>
                  <a:srgbClr val="8798AD"/>
                </a:solidFill>
                <a:latin typeface="Aptos"/>
              </a:rPr>
              <a:t>04 / 14</a:t>
            </a:r>
            <a:endParaRPr lang="zh-TW" altLang="en-US" sz="900">
              <a:solidFill>
                <a:srgbClr val="8798AD"/>
              </a:solidFill>
              <a:latin typeface="Apto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6AE77D8-15AA-48EB-9646-B3F03693E6CD}"/>
              </a:ext>
            </a:extLst>
          </p:cNvPr>
          <p:cNvSpPr txBox="1"/>
          <p:nvPr/>
        </p:nvSpPr>
        <p:spPr>
          <a:xfrm>
            <a:off x="419100" y="552450"/>
            <a:ext cx="89535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主結果表：</a:t>
            </a:r>
            <a:r>
              <a:rPr lang="en-US" altLang="zh-TW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LLM Accuracy</a:t>
            </a:r>
            <a:endParaRPr lang="zh-TW" altLang="en-US" sz="2100" b="1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693D7CC-6A1B-422C-BEB0-FA62DC20C3C0}"/>
              </a:ext>
            </a:extLst>
          </p:cNvPr>
          <p:cNvSpPr/>
          <p:nvPr/>
        </p:nvSpPr>
        <p:spPr>
          <a:xfrm>
            <a:off x="419100" y="1104900"/>
            <a:ext cx="7429500" cy="1905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E57608B-B410-41B0-890F-3B732B72A33B}"/>
              </a:ext>
            </a:extLst>
          </p:cNvPr>
          <p:cNvSpPr txBox="1"/>
          <p:nvPr/>
        </p:nvSpPr>
        <p:spPr>
          <a:xfrm>
            <a:off x="419100" y="1238250"/>
            <a:ext cx="9652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論文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GPT-5-mini 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主表與本地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Gemini 100 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題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subset 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的三資料集結果放在同一頁比較。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5A6C2D07-ECD6-499C-969D-C150E5F68A3F}"/>
              </a:ext>
            </a:extLst>
          </p:cNvPr>
          <p:cNvSpPr/>
          <p:nvPr/>
        </p:nvSpPr>
        <p:spPr>
          <a:xfrm>
            <a:off x="546100" y="1905000"/>
            <a:ext cx="2413000" cy="4826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9DEE05B-434D-41E2-8F2D-4F69BA3F308B}"/>
              </a:ext>
            </a:extLst>
          </p:cNvPr>
          <p:cNvSpPr txBox="1"/>
          <p:nvPr/>
        </p:nvSpPr>
        <p:spPr>
          <a:xfrm>
            <a:off x="596900" y="1968500"/>
            <a:ext cx="2311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70" b="1">
                <a:solidFill>
                  <a:srgbClr val="122033"/>
                </a:solidFill>
                <a:latin typeface="Microsoft JhengHei" panose="020B0604030504040204" pitchFamily="34" charset="-120"/>
              </a:rPr>
              <a:t>Setting</a:t>
            </a:r>
            <a:endParaRPr lang="zh-TW" altLang="en-US" sz="870" b="1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2EC07444-02C7-4CC2-B656-43A5557B8424}"/>
              </a:ext>
            </a:extLst>
          </p:cNvPr>
          <p:cNvSpPr/>
          <p:nvPr/>
        </p:nvSpPr>
        <p:spPr>
          <a:xfrm>
            <a:off x="2959100" y="1905000"/>
            <a:ext cx="1270000" cy="4826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031C9D5-42D4-476E-B325-FCB65A461E32}"/>
              </a:ext>
            </a:extLst>
          </p:cNvPr>
          <p:cNvSpPr txBox="1"/>
          <p:nvPr/>
        </p:nvSpPr>
        <p:spPr>
          <a:xfrm>
            <a:off x="3009900" y="1968500"/>
            <a:ext cx="1168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70" b="1">
                <a:solidFill>
                  <a:srgbClr val="122033"/>
                </a:solidFill>
                <a:latin typeface="Microsoft JhengHei" panose="020B0604030504040204" pitchFamily="34" charset="-120"/>
              </a:rPr>
              <a:t>MuSiQue</a:t>
            </a:r>
            <a:endParaRPr lang="zh-TW" altLang="en-US" sz="870" b="1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CF605D94-15A2-4239-B301-1F01D52FF968}"/>
              </a:ext>
            </a:extLst>
          </p:cNvPr>
          <p:cNvSpPr/>
          <p:nvPr/>
        </p:nvSpPr>
        <p:spPr>
          <a:xfrm>
            <a:off x="4229100" y="1905000"/>
            <a:ext cx="1270000" cy="4826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EF94FB3A-F381-4836-8F0B-0B9974CD94A4}"/>
              </a:ext>
            </a:extLst>
          </p:cNvPr>
          <p:cNvSpPr txBox="1"/>
          <p:nvPr/>
        </p:nvSpPr>
        <p:spPr>
          <a:xfrm>
            <a:off x="4279900" y="1968500"/>
            <a:ext cx="1168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70" b="1">
                <a:solidFill>
                  <a:srgbClr val="122033"/>
                </a:solidFill>
                <a:latin typeface="Microsoft JhengHei" panose="020B0604030504040204" pitchFamily="34" charset="-120"/>
              </a:rPr>
              <a:t>HotpotQA</a:t>
            </a:r>
            <a:endParaRPr lang="zh-TW" altLang="en-US" sz="870" b="1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EE3D9572-8E48-4DE0-B92E-9BAD95F052E2}"/>
              </a:ext>
            </a:extLst>
          </p:cNvPr>
          <p:cNvSpPr/>
          <p:nvPr/>
        </p:nvSpPr>
        <p:spPr>
          <a:xfrm>
            <a:off x="5499100" y="1905000"/>
            <a:ext cx="1270000" cy="4826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7B423BCC-E464-4B49-83F3-0AC29CDEB2BC}"/>
              </a:ext>
            </a:extLst>
          </p:cNvPr>
          <p:cNvSpPr txBox="1"/>
          <p:nvPr/>
        </p:nvSpPr>
        <p:spPr>
          <a:xfrm>
            <a:off x="5549900" y="1968500"/>
            <a:ext cx="1168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70" b="1">
                <a:solidFill>
                  <a:srgbClr val="122033"/>
                </a:solidFill>
                <a:latin typeface="Microsoft JhengHei" panose="020B0604030504040204" pitchFamily="34" charset="-120"/>
              </a:rPr>
              <a:t>2Wiki</a:t>
            </a:r>
            <a:endParaRPr lang="zh-TW" altLang="en-US" sz="870" b="1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BFB67213-A249-47E7-9AB3-4F6FF4FE3D43}"/>
              </a:ext>
            </a:extLst>
          </p:cNvPr>
          <p:cNvSpPr/>
          <p:nvPr/>
        </p:nvSpPr>
        <p:spPr>
          <a:xfrm>
            <a:off x="546100" y="2387600"/>
            <a:ext cx="2413000" cy="4826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138C2660-170B-4DBB-8C9C-26B0A380DF2D}"/>
              </a:ext>
            </a:extLst>
          </p:cNvPr>
          <p:cNvSpPr txBox="1"/>
          <p:nvPr/>
        </p:nvSpPr>
        <p:spPr>
          <a:xfrm>
            <a:off x="596900" y="2451100"/>
            <a:ext cx="2311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70">
                <a:solidFill>
                  <a:srgbClr val="5F748F"/>
                </a:solidFill>
                <a:latin typeface="Aptos"/>
              </a:rPr>
              <a:t>Paper Naive RAG</a:t>
            </a:r>
            <a:endParaRPr lang="zh-TW" altLang="en-US" sz="870">
              <a:solidFill>
                <a:srgbClr val="5F748F"/>
              </a:solidFill>
              <a:latin typeface="Aptos"/>
            </a:endParaRP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CC876930-3B47-45E5-8600-A95ACFBDC232}"/>
              </a:ext>
            </a:extLst>
          </p:cNvPr>
          <p:cNvSpPr/>
          <p:nvPr/>
        </p:nvSpPr>
        <p:spPr>
          <a:xfrm>
            <a:off x="2959100" y="2387600"/>
            <a:ext cx="1270000" cy="4826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CA2A93E5-9AA1-493C-9132-054671B9DF49}"/>
              </a:ext>
            </a:extLst>
          </p:cNvPr>
          <p:cNvSpPr txBox="1"/>
          <p:nvPr/>
        </p:nvSpPr>
        <p:spPr>
          <a:xfrm>
            <a:off x="3009900" y="2451100"/>
            <a:ext cx="1168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70">
                <a:solidFill>
                  <a:srgbClr val="5F748F"/>
                </a:solidFill>
                <a:latin typeface="Aptos"/>
              </a:rPr>
              <a:t>52.8</a:t>
            </a:r>
            <a:endParaRPr lang="zh-TW" altLang="en-US" sz="870">
              <a:solidFill>
                <a:srgbClr val="5F748F"/>
              </a:solidFill>
              <a:latin typeface="Aptos"/>
            </a:endParaRP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00860783-9C04-4591-A707-E8F1003BCAA8}"/>
              </a:ext>
            </a:extLst>
          </p:cNvPr>
          <p:cNvSpPr/>
          <p:nvPr/>
        </p:nvSpPr>
        <p:spPr>
          <a:xfrm>
            <a:off x="4229100" y="2387600"/>
            <a:ext cx="1270000" cy="4826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6DFFAECD-3E2E-403D-9395-4C76737C6F99}"/>
              </a:ext>
            </a:extLst>
          </p:cNvPr>
          <p:cNvSpPr txBox="1"/>
          <p:nvPr/>
        </p:nvSpPr>
        <p:spPr>
          <a:xfrm>
            <a:off x="4279900" y="2451100"/>
            <a:ext cx="1168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70">
                <a:solidFill>
                  <a:srgbClr val="5F748F"/>
                </a:solidFill>
                <a:latin typeface="Aptos"/>
              </a:rPr>
              <a:t>81.2</a:t>
            </a:r>
            <a:endParaRPr lang="zh-TW" altLang="en-US" sz="870">
              <a:solidFill>
                <a:srgbClr val="5F748F"/>
              </a:solidFill>
              <a:latin typeface="Aptos"/>
            </a:endParaRP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E56F8349-E506-46DB-88E5-ED8505598D5C}"/>
              </a:ext>
            </a:extLst>
          </p:cNvPr>
          <p:cNvSpPr/>
          <p:nvPr/>
        </p:nvSpPr>
        <p:spPr>
          <a:xfrm>
            <a:off x="5499100" y="2387600"/>
            <a:ext cx="1270000" cy="4826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6AE7AB38-111D-4BAC-BF80-306BCA265205}"/>
              </a:ext>
            </a:extLst>
          </p:cNvPr>
          <p:cNvSpPr txBox="1"/>
          <p:nvPr/>
        </p:nvSpPr>
        <p:spPr>
          <a:xfrm>
            <a:off x="5549900" y="2451100"/>
            <a:ext cx="1168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70">
                <a:solidFill>
                  <a:srgbClr val="5F748F"/>
                </a:solidFill>
                <a:latin typeface="Aptos"/>
              </a:rPr>
              <a:t>50.2</a:t>
            </a:r>
            <a:endParaRPr lang="zh-TW" altLang="en-US" sz="870">
              <a:solidFill>
                <a:srgbClr val="5F748F"/>
              </a:solidFill>
              <a:latin typeface="Aptos"/>
            </a:endParaRP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8DE8ED1B-8BA8-40CB-80A1-3020DC47B9D9}"/>
              </a:ext>
            </a:extLst>
          </p:cNvPr>
          <p:cNvSpPr/>
          <p:nvPr/>
        </p:nvSpPr>
        <p:spPr>
          <a:xfrm>
            <a:off x="546100" y="2870200"/>
            <a:ext cx="2413000" cy="4826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8A1182CC-27A5-4EA8-9C3E-4D957C25D2AC}"/>
              </a:ext>
            </a:extLst>
          </p:cNvPr>
          <p:cNvSpPr txBox="1"/>
          <p:nvPr/>
        </p:nvSpPr>
        <p:spPr>
          <a:xfrm>
            <a:off x="596900" y="2933700"/>
            <a:ext cx="2311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70">
                <a:solidFill>
                  <a:srgbClr val="5F748F"/>
                </a:solidFill>
                <a:latin typeface="Aptos"/>
              </a:rPr>
              <a:t>Paper A-RAG Naive</a:t>
            </a:r>
            <a:endParaRPr lang="zh-TW" altLang="en-US" sz="870">
              <a:solidFill>
                <a:srgbClr val="5F748F"/>
              </a:solidFill>
              <a:latin typeface="Aptos"/>
            </a:endParaRP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62880781-34B0-4A01-B0A3-EE8600DAB5B5}"/>
              </a:ext>
            </a:extLst>
          </p:cNvPr>
          <p:cNvSpPr/>
          <p:nvPr/>
        </p:nvSpPr>
        <p:spPr>
          <a:xfrm>
            <a:off x="2959100" y="2870200"/>
            <a:ext cx="1270000" cy="4826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BC6324B0-A01B-41E2-B7DB-25B6AA82BC16}"/>
              </a:ext>
            </a:extLst>
          </p:cNvPr>
          <p:cNvSpPr txBox="1"/>
          <p:nvPr/>
        </p:nvSpPr>
        <p:spPr>
          <a:xfrm>
            <a:off x="3009900" y="2933700"/>
            <a:ext cx="1168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70">
                <a:solidFill>
                  <a:srgbClr val="5F748F"/>
                </a:solidFill>
                <a:latin typeface="Aptos"/>
              </a:rPr>
              <a:t>66.2</a:t>
            </a:r>
            <a:endParaRPr lang="zh-TW" altLang="en-US" sz="870">
              <a:solidFill>
                <a:srgbClr val="5F748F"/>
              </a:solidFill>
              <a:latin typeface="Aptos"/>
            </a:endParaRPr>
          </a:p>
        </p:txBody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82B1936B-8726-4E61-A0A2-6985732C5F01}"/>
              </a:ext>
            </a:extLst>
          </p:cNvPr>
          <p:cNvSpPr/>
          <p:nvPr/>
        </p:nvSpPr>
        <p:spPr>
          <a:xfrm>
            <a:off x="4229100" y="2870200"/>
            <a:ext cx="1270000" cy="4826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C7693A1E-BC6D-41FF-AE79-DB98537D319C}"/>
              </a:ext>
            </a:extLst>
          </p:cNvPr>
          <p:cNvSpPr txBox="1"/>
          <p:nvPr/>
        </p:nvSpPr>
        <p:spPr>
          <a:xfrm>
            <a:off x="4279900" y="2933700"/>
            <a:ext cx="1168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70">
                <a:solidFill>
                  <a:srgbClr val="5F748F"/>
                </a:solidFill>
                <a:latin typeface="Aptos"/>
              </a:rPr>
              <a:t>90.8</a:t>
            </a:r>
            <a:endParaRPr lang="zh-TW" altLang="en-US" sz="870">
              <a:solidFill>
                <a:srgbClr val="5F748F"/>
              </a:solidFill>
              <a:latin typeface="Aptos"/>
            </a:endParaRPr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70E24E36-C499-4AE2-B6B9-12DB08E35330}"/>
              </a:ext>
            </a:extLst>
          </p:cNvPr>
          <p:cNvSpPr/>
          <p:nvPr/>
        </p:nvSpPr>
        <p:spPr>
          <a:xfrm>
            <a:off x="5499100" y="2870200"/>
            <a:ext cx="1270000" cy="4826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829110B1-0659-4593-83F1-2C26F7269D5C}"/>
              </a:ext>
            </a:extLst>
          </p:cNvPr>
          <p:cNvSpPr txBox="1"/>
          <p:nvPr/>
        </p:nvSpPr>
        <p:spPr>
          <a:xfrm>
            <a:off x="5549900" y="2933700"/>
            <a:ext cx="1168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70">
                <a:solidFill>
                  <a:srgbClr val="5F748F"/>
                </a:solidFill>
                <a:latin typeface="Aptos"/>
              </a:rPr>
              <a:t>70.6</a:t>
            </a:r>
            <a:endParaRPr lang="zh-TW" altLang="en-US" sz="870">
              <a:solidFill>
                <a:srgbClr val="5F748F"/>
              </a:solidFill>
              <a:latin typeface="Aptos"/>
            </a:endParaRPr>
          </a:p>
        </p:txBody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A484DB03-0958-4CE2-B706-489480086347}"/>
              </a:ext>
            </a:extLst>
          </p:cNvPr>
          <p:cNvSpPr/>
          <p:nvPr/>
        </p:nvSpPr>
        <p:spPr>
          <a:xfrm>
            <a:off x="546100" y="3352800"/>
            <a:ext cx="2413000" cy="4826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A5A902C6-3F1C-4753-BF28-D7C1F54272CA}"/>
              </a:ext>
            </a:extLst>
          </p:cNvPr>
          <p:cNvSpPr txBox="1"/>
          <p:nvPr/>
        </p:nvSpPr>
        <p:spPr>
          <a:xfrm>
            <a:off x="596900" y="3416300"/>
            <a:ext cx="2311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70">
                <a:solidFill>
                  <a:srgbClr val="5F748F"/>
                </a:solidFill>
                <a:latin typeface="Aptos"/>
              </a:rPr>
              <a:t>Paper A-RAG Full</a:t>
            </a:r>
            <a:endParaRPr lang="zh-TW" altLang="en-US" sz="870">
              <a:solidFill>
                <a:srgbClr val="5F748F"/>
              </a:solidFill>
              <a:latin typeface="Aptos"/>
            </a:endParaRPr>
          </a:p>
        </p:txBody>
      </p:sp>
      <p:sp>
        <p:nvSpPr>
          <p:cNvPr id="36" name="矩形: 圓角 35">
            <a:extLst>
              <a:ext uri="{FF2B5EF4-FFF2-40B4-BE49-F238E27FC236}">
                <a16:creationId xmlns:a16="http://schemas.microsoft.com/office/drawing/2014/main" id="{0937D280-F792-4FB5-94A7-519C78751063}"/>
              </a:ext>
            </a:extLst>
          </p:cNvPr>
          <p:cNvSpPr/>
          <p:nvPr/>
        </p:nvSpPr>
        <p:spPr>
          <a:xfrm>
            <a:off x="2959100" y="3352800"/>
            <a:ext cx="1270000" cy="4826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96ABFAED-1AB9-4757-8B4D-5DF0EE6338E3}"/>
              </a:ext>
            </a:extLst>
          </p:cNvPr>
          <p:cNvSpPr txBox="1"/>
          <p:nvPr/>
        </p:nvSpPr>
        <p:spPr>
          <a:xfrm>
            <a:off x="3009900" y="3416300"/>
            <a:ext cx="1168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70">
                <a:solidFill>
                  <a:srgbClr val="5F748F"/>
                </a:solidFill>
                <a:latin typeface="Aptos"/>
              </a:rPr>
              <a:t>74.1</a:t>
            </a:r>
            <a:endParaRPr lang="zh-TW" altLang="en-US" sz="870">
              <a:solidFill>
                <a:srgbClr val="5F748F"/>
              </a:solidFill>
              <a:latin typeface="Aptos"/>
            </a:endParaRPr>
          </a:p>
        </p:txBody>
      </p:sp>
      <p:sp>
        <p:nvSpPr>
          <p:cNvPr id="38" name="矩形: 圓角 37">
            <a:extLst>
              <a:ext uri="{FF2B5EF4-FFF2-40B4-BE49-F238E27FC236}">
                <a16:creationId xmlns:a16="http://schemas.microsoft.com/office/drawing/2014/main" id="{9967E60A-FA89-4AA2-87D4-B09C094C9165}"/>
              </a:ext>
            </a:extLst>
          </p:cNvPr>
          <p:cNvSpPr/>
          <p:nvPr/>
        </p:nvSpPr>
        <p:spPr>
          <a:xfrm>
            <a:off x="4229100" y="3352800"/>
            <a:ext cx="1270000" cy="4826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CE60DA79-623F-433E-9231-A72AD7988905}"/>
              </a:ext>
            </a:extLst>
          </p:cNvPr>
          <p:cNvSpPr txBox="1"/>
          <p:nvPr/>
        </p:nvSpPr>
        <p:spPr>
          <a:xfrm>
            <a:off x="4279900" y="3416300"/>
            <a:ext cx="1168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70">
                <a:solidFill>
                  <a:srgbClr val="5F748F"/>
                </a:solidFill>
                <a:latin typeface="Aptos"/>
              </a:rPr>
              <a:t>94.5</a:t>
            </a:r>
            <a:endParaRPr lang="zh-TW" altLang="en-US" sz="870">
              <a:solidFill>
                <a:srgbClr val="5F748F"/>
              </a:solidFill>
              <a:latin typeface="Aptos"/>
            </a:endParaRPr>
          </a:p>
        </p:txBody>
      </p:sp>
      <p:sp>
        <p:nvSpPr>
          <p:cNvPr id="40" name="矩形: 圓角 39">
            <a:extLst>
              <a:ext uri="{FF2B5EF4-FFF2-40B4-BE49-F238E27FC236}">
                <a16:creationId xmlns:a16="http://schemas.microsoft.com/office/drawing/2014/main" id="{7F205726-520C-4C6B-A457-55ED6B88BB85}"/>
              </a:ext>
            </a:extLst>
          </p:cNvPr>
          <p:cNvSpPr/>
          <p:nvPr/>
        </p:nvSpPr>
        <p:spPr>
          <a:xfrm>
            <a:off x="5499100" y="3352800"/>
            <a:ext cx="1270000" cy="4826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F9C1B1B8-A911-43CB-A121-7877C98B1E11}"/>
              </a:ext>
            </a:extLst>
          </p:cNvPr>
          <p:cNvSpPr txBox="1"/>
          <p:nvPr/>
        </p:nvSpPr>
        <p:spPr>
          <a:xfrm>
            <a:off x="5549900" y="3416300"/>
            <a:ext cx="1168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70">
                <a:solidFill>
                  <a:srgbClr val="5F748F"/>
                </a:solidFill>
                <a:latin typeface="Aptos"/>
              </a:rPr>
              <a:t>89.7</a:t>
            </a:r>
            <a:endParaRPr lang="zh-TW" altLang="en-US" sz="870">
              <a:solidFill>
                <a:srgbClr val="5F748F"/>
              </a:solidFill>
              <a:latin typeface="Aptos"/>
            </a:endParaRPr>
          </a:p>
        </p:txBody>
      </p:sp>
      <p:sp>
        <p:nvSpPr>
          <p:cNvPr id="42" name="矩形: 圓角 41">
            <a:extLst>
              <a:ext uri="{FF2B5EF4-FFF2-40B4-BE49-F238E27FC236}">
                <a16:creationId xmlns:a16="http://schemas.microsoft.com/office/drawing/2014/main" id="{F5C80748-C2A2-497A-B374-C7235DE3E2E0}"/>
              </a:ext>
            </a:extLst>
          </p:cNvPr>
          <p:cNvSpPr/>
          <p:nvPr/>
        </p:nvSpPr>
        <p:spPr>
          <a:xfrm>
            <a:off x="546100" y="3835400"/>
            <a:ext cx="2413000" cy="4826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44F6B410-016C-4153-A716-055BD8A2689B}"/>
              </a:ext>
            </a:extLst>
          </p:cNvPr>
          <p:cNvSpPr txBox="1"/>
          <p:nvPr/>
        </p:nvSpPr>
        <p:spPr>
          <a:xfrm>
            <a:off x="596900" y="3898900"/>
            <a:ext cx="23114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70">
                <a:solidFill>
                  <a:srgbClr val="5F748F"/>
                </a:solidFill>
                <a:latin typeface="Aptos"/>
              </a:rPr>
              <a:t>Your A-RAG</a:t>
            </a:r>
          </a:p>
          <a:p>
            <a:pPr algn="ctr"/>
            <a:r>
              <a:rPr lang="en-US" altLang="zh-TW" sz="870">
                <a:solidFill>
                  <a:srgbClr val="5F748F"/>
                </a:solidFill>
                <a:latin typeface="Aptos"/>
              </a:rPr>
              <a:t>Naive</a:t>
            </a:r>
            <a:endParaRPr lang="zh-TW" altLang="en-US" sz="870">
              <a:solidFill>
                <a:srgbClr val="5F748F"/>
              </a:solidFill>
              <a:latin typeface="Aptos"/>
            </a:endParaRPr>
          </a:p>
        </p:txBody>
      </p:sp>
      <p:sp>
        <p:nvSpPr>
          <p:cNvPr id="44" name="矩形: 圓角 43">
            <a:extLst>
              <a:ext uri="{FF2B5EF4-FFF2-40B4-BE49-F238E27FC236}">
                <a16:creationId xmlns:a16="http://schemas.microsoft.com/office/drawing/2014/main" id="{DB5CFE8E-D7F5-4B4D-9EB6-9EE99DBA76D5}"/>
              </a:ext>
            </a:extLst>
          </p:cNvPr>
          <p:cNvSpPr/>
          <p:nvPr/>
        </p:nvSpPr>
        <p:spPr>
          <a:xfrm>
            <a:off x="2959100" y="3835400"/>
            <a:ext cx="1270000" cy="4826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CB5B5C9D-C3B1-49ED-B52A-D18FBA1ACB70}"/>
              </a:ext>
            </a:extLst>
          </p:cNvPr>
          <p:cNvSpPr txBox="1"/>
          <p:nvPr/>
        </p:nvSpPr>
        <p:spPr>
          <a:xfrm>
            <a:off x="3009900" y="3898900"/>
            <a:ext cx="1168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70">
                <a:solidFill>
                  <a:srgbClr val="5F748F"/>
                </a:solidFill>
                <a:latin typeface="Aptos"/>
              </a:rPr>
              <a:t>71.0</a:t>
            </a:r>
            <a:endParaRPr lang="zh-TW" altLang="en-US" sz="870">
              <a:solidFill>
                <a:srgbClr val="5F748F"/>
              </a:solidFill>
              <a:latin typeface="Aptos"/>
            </a:endParaRPr>
          </a:p>
        </p:txBody>
      </p:sp>
      <p:sp>
        <p:nvSpPr>
          <p:cNvPr id="46" name="矩形: 圓角 45">
            <a:extLst>
              <a:ext uri="{FF2B5EF4-FFF2-40B4-BE49-F238E27FC236}">
                <a16:creationId xmlns:a16="http://schemas.microsoft.com/office/drawing/2014/main" id="{DEC1A979-E1C0-4F3E-B15F-96B42234E2AF}"/>
              </a:ext>
            </a:extLst>
          </p:cNvPr>
          <p:cNvSpPr/>
          <p:nvPr/>
        </p:nvSpPr>
        <p:spPr>
          <a:xfrm>
            <a:off x="4229100" y="3835400"/>
            <a:ext cx="1270000" cy="4826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727FDCE7-5F42-4E37-9A49-324AF4680DE9}"/>
              </a:ext>
            </a:extLst>
          </p:cNvPr>
          <p:cNvSpPr txBox="1"/>
          <p:nvPr/>
        </p:nvSpPr>
        <p:spPr>
          <a:xfrm>
            <a:off x="4279900" y="3898900"/>
            <a:ext cx="1168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70">
                <a:solidFill>
                  <a:srgbClr val="5F748F"/>
                </a:solidFill>
                <a:latin typeface="Aptos"/>
              </a:rPr>
              <a:t>85.0</a:t>
            </a:r>
            <a:endParaRPr lang="zh-TW" altLang="en-US" sz="870">
              <a:solidFill>
                <a:srgbClr val="5F748F"/>
              </a:solidFill>
              <a:latin typeface="Aptos"/>
            </a:endParaRPr>
          </a:p>
        </p:txBody>
      </p:sp>
      <p:sp>
        <p:nvSpPr>
          <p:cNvPr id="48" name="矩形: 圓角 47">
            <a:extLst>
              <a:ext uri="{FF2B5EF4-FFF2-40B4-BE49-F238E27FC236}">
                <a16:creationId xmlns:a16="http://schemas.microsoft.com/office/drawing/2014/main" id="{5639743A-2116-413E-AC3C-9F2241FE5A58}"/>
              </a:ext>
            </a:extLst>
          </p:cNvPr>
          <p:cNvSpPr/>
          <p:nvPr/>
        </p:nvSpPr>
        <p:spPr>
          <a:xfrm>
            <a:off x="5499100" y="3835400"/>
            <a:ext cx="1270000" cy="4826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28EAE2A5-59C4-4CF6-98E3-FB162D8FDE71}"/>
              </a:ext>
            </a:extLst>
          </p:cNvPr>
          <p:cNvSpPr txBox="1"/>
          <p:nvPr/>
        </p:nvSpPr>
        <p:spPr>
          <a:xfrm>
            <a:off x="5549900" y="3898900"/>
            <a:ext cx="1168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70">
                <a:solidFill>
                  <a:srgbClr val="5F748F"/>
                </a:solidFill>
                <a:latin typeface="Aptos"/>
              </a:rPr>
              <a:t>76.0</a:t>
            </a:r>
            <a:endParaRPr lang="zh-TW" altLang="en-US" sz="870">
              <a:solidFill>
                <a:srgbClr val="5F748F"/>
              </a:solidFill>
              <a:latin typeface="Aptos"/>
            </a:endParaRPr>
          </a:p>
        </p:txBody>
      </p:sp>
      <p:sp>
        <p:nvSpPr>
          <p:cNvPr id="50" name="矩形: 圓角 49">
            <a:extLst>
              <a:ext uri="{FF2B5EF4-FFF2-40B4-BE49-F238E27FC236}">
                <a16:creationId xmlns:a16="http://schemas.microsoft.com/office/drawing/2014/main" id="{E80FAD0E-9B00-4D0E-95E4-798A034531FD}"/>
              </a:ext>
            </a:extLst>
          </p:cNvPr>
          <p:cNvSpPr/>
          <p:nvPr/>
        </p:nvSpPr>
        <p:spPr>
          <a:xfrm>
            <a:off x="546100" y="4318000"/>
            <a:ext cx="2413000" cy="4826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0FE5FC66-4896-4E30-9F4D-09FE9A7E115E}"/>
              </a:ext>
            </a:extLst>
          </p:cNvPr>
          <p:cNvSpPr txBox="1"/>
          <p:nvPr/>
        </p:nvSpPr>
        <p:spPr>
          <a:xfrm>
            <a:off x="596900" y="4381500"/>
            <a:ext cx="2311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70" b="1">
                <a:solidFill>
                  <a:srgbClr val="5F748F"/>
                </a:solidFill>
                <a:latin typeface="Aptos"/>
              </a:rPr>
              <a:t>Your A-RAG Full</a:t>
            </a:r>
            <a:endParaRPr lang="zh-TW" altLang="en-US" sz="870" b="1">
              <a:solidFill>
                <a:srgbClr val="5F748F"/>
              </a:solidFill>
              <a:latin typeface="Aptos"/>
            </a:endParaRPr>
          </a:p>
        </p:txBody>
      </p:sp>
      <p:sp>
        <p:nvSpPr>
          <p:cNvPr id="52" name="矩形: 圓角 51">
            <a:extLst>
              <a:ext uri="{FF2B5EF4-FFF2-40B4-BE49-F238E27FC236}">
                <a16:creationId xmlns:a16="http://schemas.microsoft.com/office/drawing/2014/main" id="{46492614-71BA-4E2E-AE17-D72760FD4087}"/>
              </a:ext>
            </a:extLst>
          </p:cNvPr>
          <p:cNvSpPr/>
          <p:nvPr/>
        </p:nvSpPr>
        <p:spPr>
          <a:xfrm>
            <a:off x="2959100" y="4318000"/>
            <a:ext cx="1270000" cy="4826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EA0FAAEF-F08C-4A34-9E2E-C21DA162CBA7}"/>
              </a:ext>
            </a:extLst>
          </p:cNvPr>
          <p:cNvSpPr txBox="1"/>
          <p:nvPr/>
        </p:nvSpPr>
        <p:spPr>
          <a:xfrm>
            <a:off x="3009900" y="4381500"/>
            <a:ext cx="1168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70" b="1">
                <a:solidFill>
                  <a:srgbClr val="2F9D64"/>
                </a:solidFill>
                <a:latin typeface="Aptos"/>
              </a:rPr>
              <a:t>87.88</a:t>
            </a:r>
            <a:endParaRPr lang="zh-TW" altLang="en-US" sz="870" b="1">
              <a:solidFill>
                <a:srgbClr val="2F9D64"/>
              </a:solidFill>
              <a:latin typeface="Aptos"/>
            </a:endParaRPr>
          </a:p>
        </p:txBody>
      </p:sp>
      <p:sp>
        <p:nvSpPr>
          <p:cNvPr id="54" name="矩形: 圓角 53">
            <a:extLst>
              <a:ext uri="{FF2B5EF4-FFF2-40B4-BE49-F238E27FC236}">
                <a16:creationId xmlns:a16="http://schemas.microsoft.com/office/drawing/2014/main" id="{E61A9F6E-D981-4475-B046-E944BCB92343}"/>
              </a:ext>
            </a:extLst>
          </p:cNvPr>
          <p:cNvSpPr/>
          <p:nvPr/>
        </p:nvSpPr>
        <p:spPr>
          <a:xfrm>
            <a:off x="4229100" y="4318000"/>
            <a:ext cx="1270000" cy="4826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051833D4-C7D8-48C3-BD75-8FDC896C8DD8}"/>
              </a:ext>
            </a:extLst>
          </p:cNvPr>
          <p:cNvSpPr txBox="1"/>
          <p:nvPr/>
        </p:nvSpPr>
        <p:spPr>
          <a:xfrm>
            <a:off x="4279900" y="4381500"/>
            <a:ext cx="1168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70" b="1">
                <a:solidFill>
                  <a:srgbClr val="2F9D64"/>
                </a:solidFill>
                <a:latin typeface="Aptos"/>
              </a:rPr>
              <a:t>97.0</a:t>
            </a:r>
            <a:endParaRPr lang="zh-TW" altLang="en-US" sz="870" b="1">
              <a:solidFill>
                <a:srgbClr val="2F9D64"/>
              </a:solidFill>
              <a:latin typeface="Aptos"/>
            </a:endParaRPr>
          </a:p>
        </p:txBody>
      </p:sp>
      <p:sp>
        <p:nvSpPr>
          <p:cNvPr id="56" name="矩形: 圓角 55">
            <a:extLst>
              <a:ext uri="{FF2B5EF4-FFF2-40B4-BE49-F238E27FC236}">
                <a16:creationId xmlns:a16="http://schemas.microsoft.com/office/drawing/2014/main" id="{BB788394-EC0B-45D7-AB5E-AD302313AFC6}"/>
              </a:ext>
            </a:extLst>
          </p:cNvPr>
          <p:cNvSpPr/>
          <p:nvPr/>
        </p:nvSpPr>
        <p:spPr>
          <a:xfrm>
            <a:off x="5499100" y="4318000"/>
            <a:ext cx="1270000" cy="4826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DEBBD9BF-A295-43DB-ADB2-FA7A7D5CA289}"/>
              </a:ext>
            </a:extLst>
          </p:cNvPr>
          <p:cNvSpPr txBox="1"/>
          <p:nvPr/>
        </p:nvSpPr>
        <p:spPr>
          <a:xfrm>
            <a:off x="5549900" y="4381500"/>
            <a:ext cx="1168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70" b="1">
                <a:solidFill>
                  <a:srgbClr val="2F9D64"/>
                </a:solidFill>
                <a:latin typeface="Aptos"/>
              </a:rPr>
              <a:t>97.0</a:t>
            </a:r>
            <a:endParaRPr lang="zh-TW" altLang="en-US" sz="870" b="1">
              <a:solidFill>
                <a:srgbClr val="2F9D64"/>
              </a:solidFill>
              <a:latin typeface="Aptos"/>
            </a:endParaRPr>
          </a:p>
        </p:txBody>
      </p:sp>
      <p:sp>
        <p:nvSpPr>
          <p:cNvPr id="58" name="矩形: 圓角 57">
            <a:extLst>
              <a:ext uri="{FF2B5EF4-FFF2-40B4-BE49-F238E27FC236}">
                <a16:creationId xmlns:a16="http://schemas.microsoft.com/office/drawing/2014/main" id="{0ADE5208-D26E-488E-B297-A5FE298D4BC9}"/>
              </a:ext>
            </a:extLst>
          </p:cNvPr>
          <p:cNvSpPr/>
          <p:nvPr/>
        </p:nvSpPr>
        <p:spPr>
          <a:xfrm>
            <a:off x="7785100" y="1905000"/>
            <a:ext cx="3098800" cy="28956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2F70FF92-5BD7-4B6B-AD69-54051CCB8273}"/>
              </a:ext>
            </a:extLst>
          </p:cNvPr>
          <p:cNvSpPr/>
          <p:nvPr/>
        </p:nvSpPr>
        <p:spPr>
          <a:xfrm>
            <a:off x="7785100" y="1905000"/>
            <a:ext cx="50800" cy="2895600"/>
          </a:xfrm>
          <a:prstGeom prst="rect">
            <a:avLst/>
          </a:prstGeom>
          <a:solidFill>
            <a:srgbClr val="2F9D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158EEBCA-3954-4DB6-8816-2772DC6A07A6}"/>
              </a:ext>
            </a:extLst>
          </p:cNvPr>
          <p:cNvSpPr txBox="1"/>
          <p:nvPr/>
        </p:nvSpPr>
        <p:spPr>
          <a:xfrm>
            <a:off x="7975600" y="2057400"/>
            <a:ext cx="27178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1280" b="1">
                <a:solidFill>
                  <a:srgbClr val="2F9D64"/>
                </a:solidFill>
                <a:latin typeface="Microsoft JhengHei" panose="020B0604030504040204" pitchFamily="34" charset="-120"/>
              </a:rPr>
              <a:t>讀法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D1D2AFE4-74F8-4702-A7A6-6F2B7245741B}"/>
              </a:ext>
            </a:extLst>
          </p:cNvPr>
          <p:cNvSpPr/>
          <p:nvPr/>
        </p:nvSpPr>
        <p:spPr>
          <a:xfrm>
            <a:off x="8064500" y="2656840"/>
            <a:ext cx="86360" cy="8636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D136C932-B82B-462B-B2D5-4BB1A9122D68}"/>
              </a:ext>
            </a:extLst>
          </p:cNvPr>
          <p:cNvSpPr txBox="1"/>
          <p:nvPr/>
        </p:nvSpPr>
        <p:spPr>
          <a:xfrm>
            <a:off x="8235950" y="2590800"/>
            <a:ext cx="2349500" cy="88229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940">
                <a:solidFill>
                  <a:srgbClr val="122033"/>
                </a:solidFill>
                <a:latin typeface="Microsoft JhengHei" panose="020B0604030504040204" pitchFamily="34" charset="-120"/>
              </a:rPr>
              <a:t>三組 </a:t>
            </a:r>
            <a:r>
              <a:rPr lang="en-US" altLang="zh-TW" sz="940">
                <a:solidFill>
                  <a:srgbClr val="122033"/>
                </a:solidFill>
                <a:latin typeface="Microsoft JhengHei" panose="020B0604030504040204" pitchFamily="34" charset="-120"/>
              </a:rPr>
              <a:t>official A-RAG Full </a:t>
            </a:r>
            <a:r>
              <a:rPr lang="zh-TW" altLang="en-US" sz="940">
                <a:solidFill>
                  <a:srgbClr val="122033"/>
                </a:solidFill>
                <a:latin typeface="Microsoft JhengHei" panose="020B0604030504040204" pitchFamily="34" charset="-120"/>
              </a:rPr>
              <a:t>都能穩定跑完 </a:t>
            </a:r>
            <a:r>
              <a:rPr lang="en-US" altLang="zh-TW" sz="940">
                <a:solidFill>
                  <a:srgbClr val="122033"/>
                </a:solidFill>
                <a:latin typeface="Microsoft JhengHei" panose="020B0604030504040204" pitchFamily="34" charset="-120"/>
              </a:rPr>
              <a:t>100 </a:t>
            </a:r>
            <a:r>
              <a:rPr lang="zh-TW" altLang="en-US" sz="940">
                <a:solidFill>
                  <a:srgbClr val="122033"/>
                </a:solidFill>
                <a:latin typeface="Microsoft JhengHei" panose="020B0604030504040204" pitchFamily="34" charset="-120"/>
              </a:rPr>
              <a:t>題規模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E4425FB4-FF0B-41F4-96A4-2886584E9FEE}"/>
              </a:ext>
            </a:extLst>
          </p:cNvPr>
          <p:cNvSpPr/>
          <p:nvPr/>
        </p:nvSpPr>
        <p:spPr>
          <a:xfrm>
            <a:off x="8064500" y="3126740"/>
            <a:ext cx="86360" cy="8636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370078C9-16DC-4A31-900B-7CAD6F788722}"/>
              </a:ext>
            </a:extLst>
          </p:cNvPr>
          <p:cNvSpPr txBox="1"/>
          <p:nvPr/>
        </p:nvSpPr>
        <p:spPr>
          <a:xfrm>
            <a:off x="8235950" y="3060700"/>
            <a:ext cx="2349500" cy="88229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940">
                <a:solidFill>
                  <a:srgbClr val="122033"/>
                </a:solidFill>
                <a:latin typeface="Microsoft JhengHei" panose="020B0604030504040204" pitchFamily="34" charset="-120"/>
              </a:rPr>
              <a:t>HotpotQA / 2Wiki </a:t>
            </a:r>
            <a:r>
              <a:rPr lang="zh-TW" altLang="en-US" sz="940">
                <a:solidFill>
                  <a:srgbClr val="122033"/>
                </a:solidFill>
                <a:latin typeface="Microsoft JhengHei" panose="020B0604030504040204" pitchFamily="34" charset="-120"/>
              </a:rPr>
              <a:t>在本地 </a:t>
            </a:r>
            <a:r>
              <a:rPr lang="en-US" altLang="zh-TW" sz="940">
                <a:solidFill>
                  <a:srgbClr val="122033"/>
                </a:solidFill>
                <a:latin typeface="Microsoft JhengHei" panose="020B0604030504040204" pitchFamily="34" charset="-120"/>
              </a:rPr>
              <a:t>subset </a:t>
            </a:r>
            <a:r>
              <a:rPr lang="zh-TW" altLang="en-US" sz="940">
                <a:solidFill>
                  <a:srgbClr val="122033"/>
                </a:solidFill>
                <a:latin typeface="Microsoft JhengHei" panose="020B0604030504040204" pitchFamily="34" charset="-120"/>
              </a:rPr>
              <a:t>皆達 </a:t>
            </a:r>
            <a:r>
              <a:rPr lang="en-US" altLang="zh-TW" sz="940">
                <a:solidFill>
                  <a:srgbClr val="122033"/>
                </a:solidFill>
                <a:latin typeface="Microsoft JhengHei" panose="020B0604030504040204" pitchFamily="34" charset="-120"/>
              </a:rPr>
              <a:t>97.0 LLM Accuracy</a:t>
            </a:r>
            <a:endParaRPr lang="zh-TW" altLang="en-US" sz="94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EE847EC2-1753-4461-A28D-89739FD2CEB5}"/>
              </a:ext>
            </a:extLst>
          </p:cNvPr>
          <p:cNvSpPr/>
          <p:nvPr/>
        </p:nvSpPr>
        <p:spPr>
          <a:xfrm>
            <a:off x="8064500" y="3596640"/>
            <a:ext cx="86360" cy="8636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99E103B4-8DE8-4FAE-8786-B01849C8CB41}"/>
              </a:ext>
            </a:extLst>
          </p:cNvPr>
          <p:cNvSpPr txBox="1"/>
          <p:nvPr/>
        </p:nvSpPr>
        <p:spPr>
          <a:xfrm>
            <a:off x="8235950" y="3530600"/>
            <a:ext cx="2349500" cy="88229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940">
                <a:solidFill>
                  <a:srgbClr val="122033"/>
                </a:solidFill>
                <a:latin typeface="Microsoft JhengHei" panose="020B0604030504040204" pitchFamily="34" charset="-120"/>
              </a:rPr>
              <a:t>MuSiQue answered 99/100</a:t>
            </a:r>
            <a:r>
              <a:rPr lang="zh-TW" altLang="en-US" sz="940">
                <a:solidFill>
                  <a:srgbClr val="122033"/>
                </a:solidFill>
                <a:latin typeface="Microsoft JhengHei" panose="020B0604030504040204" pitchFamily="34" charset="-120"/>
              </a:rPr>
              <a:t>，因此分母依 </a:t>
            </a:r>
            <a:r>
              <a:rPr lang="en-US" altLang="zh-TW" sz="940">
                <a:solidFill>
                  <a:srgbClr val="122033"/>
                </a:solidFill>
                <a:latin typeface="Microsoft JhengHei" panose="020B0604030504040204" pitchFamily="34" charset="-120"/>
              </a:rPr>
              <a:t>answered samples </a:t>
            </a:r>
            <a:r>
              <a:rPr lang="zh-TW" altLang="en-US" sz="940">
                <a:solidFill>
                  <a:srgbClr val="122033"/>
                </a:solidFill>
                <a:latin typeface="Microsoft JhengHei" panose="020B0604030504040204" pitchFamily="34" charset="-120"/>
              </a:rPr>
              <a:t>計算</a:t>
            </a:r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78392063-B010-4340-931B-5C03B4E1726A}"/>
              </a:ext>
            </a:extLst>
          </p:cNvPr>
          <p:cNvSpPr txBox="1"/>
          <p:nvPr/>
        </p:nvSpPr>
        <p:spPr>
          <a:xfrm>
            <a:off x="666750" y="5257800"/>
            <a:ext cx="1000125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1200" b="1">
                <a:solidFill>
                  <a:srgbClr val="122033"/>
                </a:solidFill>
                <a:latin typeface="Microsoft JhengHei" panose="020B0604030504040204" pitchFamily="34" charset="-120"/>
              </a:rPr>
              <a:t>結論：這不是完整重現論文大規模結果，但三個 </a:t>
            </a:r>
            <a:r>
              <a:rPr lang="en-US" altLang="zh-TW" sz="1200" b="1">
                <a:solidFill>
                  <a:srgbClr val="122033"/>
                </a:solidFill>
                <a:latin typeface="Microsoft JhengHei" panose="020B0604030504040204" pitchFamily="34" charset="-120"/>
              </a:rPr>
              <a:t>subset </a:t>
            </a:r>
            <a:r>
              <a:rPr lang="zh-TW" altLang="en-US" sz="1200" b="1">
                <a:solidFill>
                  <a:srgbClr val="122033"/>
                </a:solidFill>
                <a:latin typeface="Microsoft JhengHei" panose="020B0604030504040204" pitchFamily="34" charset="-120"/>
              </a:rPr>
              <a:t>的數值已和論文同量級，且 </a:t>
            </a:r>
            <a:r>
              <a:rPr lang="en-US" altLang="zh-TW" sz="1200" b="1">
                <a:solidFill>
                  <a:srgbClr val="122033"/>
                </a:solidFill>
                <a:latin typeface="Microsoft JhengHei" panose="020B0604030504040204" pitchFamily="34" charset="-120"/>
              </a:rPr>
              <a:t>Full </a:t>
            </a:r>
            <a:r>
              <a:rPr lang="zh-TW" altLang="en-US" sz="1200" b="1">
                <a:solidFill>
                  <a:srgbClr val="122033"/>
                </a:solidFill>
                <a:latin typeface="Microsoft JhengHei" panose="020B0604030504040204" pitchFamily="34" charset="-120"/>
              </a:rPr>
              <a:t>設定明顯最強。</a:t>
            </a:r>
          </a:p>
        </p:txBody>
      </p:sp>
    </p:spTree>
    <p:extLst>
      <p:ext uri="{BB962C8B-B14F-4D97-AF65-F5344CB8AC3E}">
        <p14:creationId xmlns:p14="http://schemas.microsoft.com/office/powerpoint/2010/main" val="3418554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5790ECF-1B62-4F7A-B858-ED0C80903B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65124C3-647B-4762-AFF5-66DD5F563040}"/>
              </a:ext>
            </a:extLst>
          </p:cNvPr>
          <p:cNvSpPr/>
          <p:nvPr/>
        </p:nvSpPr>
        <p:spPr>
          <a:xfrm>
            <a:off x="114300" y="0"/>
            <a:ext cx="12077700" cy="6858000"/>
          </a:xfrm>
          <a:prstGeom prst="rect">
            <a:avLst/>
          </a:prstGeom>
          <a:solidFill>
            <a:srgbClr val="F6F8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B68A802-AE4D-41DE-9F33-373A55632593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A6906D5-6592-458C-BF79-267D2B3ACD23}"/>
              </a:ext>
            </a:extLst>
          </p:cNvPr>
          <p:cNvSpPr txBox="1"/>
          <p:nvPr/>
        </p:nvSpPr>
        <p:spPr>
          <a:xfrm>
            <a:off x="419100" y="228600"/>
            <a:ext cx="180975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900">
                <a:solidFill>
                  <a:srgbClr val="5F748F"/>
                </a:solidFill>
                <a:latin typeface="Aptos"/>
              </a:rPr>
              <a:t>A-RAG Paper Report</a:t>
            </a:r>
            <a:endParaRPr lang="zh-TW" altLang="en-US" sz="900">
              <a:solidFill>
                <a:srgbClr val="5F748F"/>
              </a:solidFill>
              <a:latin typeface="Aptos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68F69CF-7973-4003-9330-5B885B8DE973}"/>
              </a:ext>
            </a:extLst>
          </p:cNvPr>
          <p:cNvSpPr txBox="1"/>
          <p:nvPr/>
        </p:nvSpPr>
        <p:spPr>
          <a:xfrm>
            <a:off x="10572750" y="228600"/>
            <a:ext cx="104775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900">
                <a:solidFill>
                  <a:srgbClr val="8798AD"/>
                </a:solidFill>
                <a:latin typeface="Aptos"/>
              </a:rPr>
              <a:t>05 / 14</a:t>
            </a:r>
            <a:endParaRPr lang="zh-TW" altLang="en-US" sz="900">
              <a:solidFill>
                <a:srgbClr val="8798AD"/>
              </a:solidFill>
              <a:latin typeface="Apto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859C41F-13C4-4C51-8800-D357055F5957}"/>
              </a:ext>
            </a:extLst>
          </p:cNvPr>
          <p:cNvSpPr txBox="1"/>
          <p:nvPr/>
        </p:nvSpPr>
        <p:spPr>
          <a:xfrm>
            <a:off x="419100" y="552450"/>
            <a:ext cx="89535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補充結果：</a:t>
            </a:r>
            <a:r>
              <a:rPr lang="en-US" altLang="zh-TW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Contain </a:t>
            </a:r>
            <a:r>
              <a:rPr lang="zh-TW" altLang="en-US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與效率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30784A2-2697-4A27-9035-BDD3E711F1D8}"/>
              </a:ext>
            </a:extLst>
          </p:cNvPr>
          <p:cNvSpPr/>
          <p:nvPr/>
        </p:nvSpPr>
        <p:spPr>
          <a:xfrm>
            <a:off x="419100" y="1104900"/>
            <a:ext cx="7429500" cy="1905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365D2C2-F00C-4406-B2A4-E923EDC6B401}"/>
              </a:ext>
            </a:extLst>
          </p:cNvPr>
          <p:cNvSpPr txBox="1"/>
          <p:nvPr/>
        </p:nvSpPr>
        <p:spPr>
          <a:xfrm>
            <a:off x="419100" y="1238250"/>
            <a:ext cx="9652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準確率之外，這頁補上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contain accuracy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、平均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loop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、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retrieved token 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與平均成本。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8E715D18-0EF6-4B32-8C0C-98064BC1A5DC}"/>
              </a:ext>
            </a:extLst>
          </p:cNvPr>
          <p:cNvSpPr/>
          <p:nvPr/>
        </p:nvSpPr>
        <p:spPr>
          <a:xfrm>
            <a:off x="571500" y="1943100"/>
            <a:ext cx="1524000" cy="4953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997EA92-EE4E-4A25-8BAE-5732647F8BEA}"/>
              </a:ext>
            </a:extLst>
          </p:cNvPr>
          <p:cNvSpPr txBox="1"/>
          <p:nvPr/>
        </p:nvSpPr>
        <p:spPr>
          <a:xfrm>
            <a:off x="622300" y="2006600"/>
            <a:ext cx="1422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30" b="1">
                <a:solidFill>
                  <a:srgbClr val="122033"/>
                </a:solidFill>
                <a:latin typeface="Microsoft JhengHei" panose="020B0604030504040204" pitchFamily="34" charset="-120"/>
              </a:rPr>
              <a:t>Dataset</a:t>
            </a:r>
            <a:endParaRPr lang="zh-TW" altLang="en-US" sz="830" b="1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081F319A-5EB8-4BA8-AE21-139DF125A4F9}"/>
              </a:ext>
            </a:extLst>
          </p:cNvPr>
          <p:cNvSpPr/>
          <p:nvPr/>
        </p:nvSpPr>
        <p:spPr>
          <a:xfrm>
            <a:off x="2095500" y="1943100"/>
            <a:ext cx="1206500" cy="4953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0847538-AE35-47EE-A8AC-AA823CCAD10A}"/>
              </a:ext>
            </a:extLst>
          </p:cNvPr>
          <p:cNvSpPr txBox="1"/>
          <p:nvPr/>
        </p:nvSpPr>
        <p:spPr>
          <a:xfrm>
            <a:off x="2146300" y="2006600"/>
            <a:ext cx="1104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30" b="1">
                <a:solidFill>
                  <a:srgbClr val="122033"/>
                </a:solidFill>
                <a:latin typeface="Microsoft JhengHei" panose="020B0604030504040204" pitchFamily="34" charset="-120"/>
              </a:rPr>
              <a:t>Contain</a:t>
            </a:r>
            <a:endParaRPr lang="zh-TW" altLang="en-US" sz="830" b="1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0BE585B6-2221-4BCF-B7AF-FDCB24E008F0}"/>
              </a:ext>
            </a:extLst>
          </p:cNvPr>
          <p:cNvSpPr/>
          <p:nvPr/>
        </p:nvSpPr>
        <p:spPr>
          <a:xfrm>
            <a:off x="3302000" y="1943100"/>
            <a:ext cx="1333500" cy="4953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08DCBF03-04C0-402D-A250-8ECCA88CE566}"/>
              </a:ext>
            </a:extLst>
          </p:cNvPr>
          <p:cNvSpPr txBox="1"/>
          <p:nvPr/>
        </p:nvSpPr>
        <p:spPr>
          <a:xfrm>
            <a:off x="3352800" y="2006600"/>
            <a:ext cx="1231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30" b="1">
                <a:solidFill>
                  <a:srgbClr val="122033"/>
                </a:solidFill>
                <a:latin typeface="Microsoft JhengHei" panose="020B0604030504040204" pitchFamily="34" charset="-120"/>
              </a:rPr>
              <a:t>Avg Loops</a:t>
            </a:r>
            <a:endParaRPr lang="zh-TW" altLang="en-US" sz="830" b="1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B68F4B3C-AA8A-4236-B940-3E47421D2863}"/>
              </a:ext>
            </a:extLst>
          </p:cNvPr>
          <p:cNvSpPr/>
          <p:nvPr/>
        </p:nvSpPr>
        <p:spPr>
          <a:xfrm>
            <a:off x="4635500" y="1943100"/>
            <a:ext cx="1968500" cy="4953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64A95245-253A-4D4D-87AC-FDA2D7D4279C}"/>
              </a:ext>
            </a:extLst>
          </p:cNvPr>
          <p:cNvSpPr txBox="1"/>
          <p:nvPr/>
        </p:nvSpPr>
        <p:spPr>
          <a:xfrm>
            <a:off x="4686300" y="2006600"/>
            <a:ext cx="18669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30" b="1">
                <a:solidFill>
                  <a:srgbClr val="122033"/>
                </a:solidFill>
                <a:latin typeface="Microsoft JhengHei" panose="020B0604030504040204" pitchFamily="34" charset="-120"/>
              </a:rPr>
              <a:t>Avg Retrieved Tokens</a:t>
            </a:r>
            <a:endParaRPr lang="zh-TW" altLang="en-US" sz="830" b="1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95874C80-E7D2-4632-8B8A-0335FD1DBDFB}"/>
              </a:ext>
            </a:extLst>
          </p:cNvPr>
          <p:cNvSpPr/>
          <p:nvPr/>
        </p:nvSpPr>
        <p:spPr>
          <a:xfrm>
            <a:off x="6604000" y="1943100"/>
            <a:ext cx="1524000" cy="4953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815CA7D5-B395-4DF9-9EA9-8D4DE0B7ADB8}"/>
              </a:ext>
            </a:extLst>
          </p:cNvPr>
          <p:cNvSpPr txBox="1"/>
          <p:nvPr/>
        </p:nvSpPr>
        <p:spPr>
          <a:xfrm>
            <a:off x="6654800" y="2006600"/>
            <a:ext cx="1422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30" b="1">
                <a:solidFill>
                  <a:srgbClr val="122033"/>
                </a:solidFill>
                <a:latin typeface="Microsoft JhengHei" panose="020B0604030504040204" pitchFamily="34" charset="-120"/>
              </a:rPr>
              <a:t>Avg Cost / Q</a:t>
            </a:r>
            <a:endParaRPr lang="zh-TW" altLang="en-US" sz="830" b="1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BC211D25-A1AE-4A1A-8260-9229A6E65E10}"/>
              </a:ext>
            </a:extLst>
          </p:cNvPr>
          <p:cNvSpPr/>
          <p:nvPr/>
        </p:nvSpPr>
        <p:spPr>
          <a:xfrm>
            <a:off x="571500" y="2438400"/>
            <a:ext cx="1524000" cy="4953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4CBC6D2F-1240-4A9C-8BFF-970BDAB73A1F}"/>
              </a:ext>
            </a:extLst>
          </p:cNvPr>
          <p:cNvSpPr txBox="1"/>
          <p:nvPr/>
        </p:nvSpPr>
        <p:spPr>
          <a:xfrm>
            <a:off x="622300" y="2501900"/>
            <a:ext cx="1422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30">
                <a:solidFill>
                  <a:srgbClr val="5F748F"/>
                </a:solidFill>
                <a:latin typeface="Aptos"/>
              </a:rPr>
              <a:t>MuSiQue</a:t>
            </a:r>
            <a:endParaRPr lang="zh-TW" altLang="en-US" sz="830">
              <a:solidFill>
                <a:srgbClr val="5F748F"/>
              </a:solidFill>
              <a:latin typeface="Aptos"/>
            </a:endParaRP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1D0422B5-8931-46A9-B6FB-10AC9C1A9BA3}"/>
              </a:ext>
            </a:extLst>
          </p:cNvPr>
          <p:cNvSpPr/>
          <p:nvPr/>
        </p:nvSpPr>
        <p:spPr>
          <a:xfrm>
            <a:off x="2095500" y="2438400"/>
            <a:ext cx="1206500" cy="4953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D102E057-9FB1-44F7-9587-40B2E27EB676}"/>
              </a:ext>
            </a:extLst>
          </p:cNvPr>
          <p:cNvSpPr txBox="1"/>
          <p:nvPr/>
        </p:nvSpPr>
        <p:spPr>
          <a:xfrm>
            <a:off x="2146300" y="2501900"/>
            <a:ext cx="1104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30">
                <a:solidFill>
                  <a:srgbClr val="5F748F"/>
                </a:solidFill>
                <a:latin typeface="Aptos"/>
              </a:rPr>
              <a:t>82.83</a:t>
            </a:r>
            <a:endParaRPr lang="zh-TW" altLang="en-US" sz="830">
              <a:solidFill>
                <a:srgbClr val="5F748F"/>
              </a:solidFill>
              <a:latin typeface="Aptos"/>
            </a:endParaRP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8CF5ADC2-E7DF-4806-8F70-6C1E328BDA18}"/>
              </a:ext>
            </a:extLst>
          </p:cNvPr>
          <p:cNvSpPr/>
          <p:nvPr/>
        </p:nvSpPr>
        <p:spPr>
          <a:xfrm>
            <a:off x="3302000" y="2438400"/>
            <a:ext cx="1333500" cy="4953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3DE89947-7259-4F53-A040-2B8F1C934CF2}"/>
              </a:ext>
            </a:extLst>
          </p:cNvPr>
          <p:cNvSpPr txBox="1"/>
          <p:nvPr/>
        </p:nvSpPr>
        <p:spPr>
          <a:xfrm>
            <a:off x="3352800" y="2501900"/>
            <a:ext cx="1231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30">
                <a:solidFill>
                  <a:srgbClr val="5F748F"/>
                </a:solidFill>
                <a:latin typeface="Aptos"/>
              </a:rPr>
              <a:t>7.31</a:t>
            </a:r>
            <a:endParaRPr lang="zh-TW" altLang="en-US" sz="830">
              <a:solidFill>
                <a:srgbClr val="5F748F"/>
              </a:solidFill>
              <a:latin typeface="Aptos"/>
            </a:endParaRP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1F759F4F-F671-43B4-AEB3-1F6F5FC849A9}"/>
              </a:ext>
            </a:extLst>
          </p:cNvPr>
          <p:cNvSpPr/>
          <p:nvPr/>
        </p:nvSpPr>
        <p:spPr>
          <a:xfrm>
            <a:off x="4635500" y="2438400"/>
            <a:ext cx="1968500" cy="4953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D8B03516-B9F5-452A-BA12-E33B8EBFF64B}"/>
              </a:ext>
            </a:extLst>
          </p:cNvPr>
          <p:cNvSpPr txBox="1"/>
          <p:nvPr/>
        </p:nvSpPr>
        <p:spPr>
          <a:xfrm>
            <a:off x="4686300" y="2501900"/>
            <a:ext cx="1866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30">
                <a:solidFill>
                  <a:srgbClr val="5F748F"/>
                </a:solidFill>
                <a:latin typeface="Aptos"/>
              </a:rPr>
              <a:t>4245.6</a:t>
            </a:r>
            <a:endParaRPr lang="zh-TW" altLang="en-US" sz="830">
              <a:solidFill>
                <a:srgbClr val="5F748F"/>
              </a:solidFill>
              <a:latin typeface="Aptos"/>
            </a:endParaRP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ABBC024F-E067-4806-92BC-2638AB4E9C85}"/>
              </a:ext>
            </a:extLst>
          </p:cNvPr>
          <p:cNvSpPr/>
          <p:nvPr/>
        </p:nvSpPr>
        <p:spPr>
          <a:xfrm>
            <a:off x="6604000" y="2438400"/>
            <a:ext cx="1524000" cy="4953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1B926C84-E6BE-429B-966D-08C7A1E1BF06}"/>
              </a:ext>
            </a:extLst>
          </p:cNvPr>
          <p:cNvSpPr txBox="1"/>
          <p:nvPr/>
        </p:nvSpPr>
        <p:spPr>
          <a:xfrm>
            <a:off x="6654800" y="2501900"/>
            <a:ext cx="1422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30">
                <a:solidFill>
                  <a:srgbClr val="5F748F"/>
                </a:solidFill>
                <a:latin typeface="Aptos"/>
              </a:rPr>
              <a:t>0.027867</a:t>
            </a:r>
            <a:endParaRPr lang="zh-TW" altLang="en-US" sz="830">
              <a:solidFill>
                <a:srgbClr val="5F748F"/>
              </a:solidFill>
              <a:latin typeface="Aptos"/>
            </a:endParaRPr>
          </a:p>
        </p:txBody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4C721665-B996-4F8E-BA72-FD67E4DE2501}"/>
              </a:ext>
            </a:extLst>
          </p:cNvPr>
          <p:cNvSpPr/>
          <p:nvPr/>
        </p:nvSpPr>
        <p:spPr>
          <a:xfrm>
            <a:off x="571500" y="2933700"/>
            <a:ext cx="1524000" cy="4953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C53AA12B-C04D-4871-8182-CC836B948F2E}"/>
              </a:ext>
            </a:extLst>
          </p:cNvPr>
          <p:cNvSpPr txBox="1"/>
          <p:nvPr/>
        </p:nvSpPr>
        <p:spPr>
          <a:xfrm>
            <a:off x="622300" y="2997200"/>
            <a:ext cx="1422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30">
                <a:solidFill>
                  <a:srgbClr val="5F748F"/>
                </a:solidFill>
                <a:latin typeface="Aptos"/>
              </a:rPr>
              <a:t>HotpotQA</a:t>
            </a:r>
            <a:endParaRPr lang="zh-TW" altLang="en-US" sz="830">
              <a:solidFill>
                <a:srgbClr val="5F748F"/>
              </a:solidFill>
              <a:latin typeface="Aptos"/>
            </a:endParaRPr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4F3269EA-0382-421D-8299-AC5C244AA56D}"/>
              </a:ext>
            </a:extLst>
          </p:cNvPr>
          <p:cNvSpPr/>
          <p:nvPr/>
        </p:nvSpPr>
        <p:spPr>
          <a:xfrm>
            <a:off x="2095500" y="2933700"/>
            <a:ext cx="1206500" cy="4953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0F41D105-6E91-4CB5-B001-0318382A5F2B}"/>
              </a:ext>
            </a:extLst>
          </p:cNvPr>
          <p:cNvSpPr txBox="1"/>
          <p:nvPr/>
        </p:nvSpPr>
        <p:spPr>
          <a:xfrm>
            <a:off x="2146300" y="2997200"/>
            <a:ext cx="1104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30">
                <a:solidFill>
                  <a:srgbClr val="5F748F"/>
                </a:solidFill>
                <a:latin typeface="Aptos"/>
              </a:rPr>
              <a:t>92.0</a:t>
            </a:r>
            <a:endParaRPr lang="zh-TW" altLang="en-US" sz="830">
              <a:solidFill>
                <a:srgbClr val="5F748F"/>
              </a:solidFill>
              <a:latin typeface="Aptos"/>
            </a:endParaRPr>
          </a:p>
        </p:txBody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1BE80C67-B952-4974-B657-00B6747D89F1}"/>
              </a:ext>
            </a:extLst>
          </p:cNvPr>
          <p:cNvSpPr/>
          <p:nvPr/>
        </p:nvSpPr>
        <p:spPr>
          <a:xfrm>
            <a:off x="3302000" y="2933700"/>
            <a:ext cx="1333500" cy="4953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04D7D921-F724-47B2-B4B2-0393F3E72A84}"/>
              </a:ext>
            </a:extLst>
          </p:cNvPr>
          <p:cNvSpPr txBox="1"/>
          <p:nvPr/>
        </p:nvSpPr>
        <p:spPr>
          <a:xfrm>
            <a:off x="3352800" y="2997200"/>
            <a:ext cx="1231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30">
                <a:solidFill>
                  <a:srgbClr val="5F748F"/>
                </a:solidFill>
                <a:latin typeface="Aptos"/>
              </a:rPr>
              <a:t>4.89</a:t>
            </a:r>
            <a:endParaRPr lang="zh-TW" altLang="en-US" sz="830">
              <a:solidFill>
                <a:srgbClr val="5F748F"/>
              </a:solidFill>
              <a:latin typeface="Aptos"/>
            </a:endParaRPr>
          </a:p>
        </p:txBody>
      </p:sp>
      <p:sp>
        <p:nvSpPr>
          <p:cNvPr id="36" name="矩形: 圓角 35">
            <a:extLst>
              <a:ext uri="{FF2B5EF4-FFF2-40B4-BE49-F238E27FC236}">
                <a16:creationId xmlns:a16="http://schemas.microsoft.com/office/drawing/2014/main" id="{6B986C7C-D881-4BBB-A36E-CB77E34B1B6A}"/>
              </a:ext>
            </a:extLst>
          </p:cNvPr>
          <p:cNvSpPr/>
          <p:nvPr/>
        </p:nvSpPr>
        <p:spPr>
          <a:xfrm>
            <a:off x="4635500" y="2933700"/>
            <a:ext cx="1968500" cy="4953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048DA625-2DEF-4870-B57E-9F0664DE7217}"/>
              </a:ext>
            </a:extLst>
          </p:cNvPr>
          <p:cNvSpPr txBox="1"/>
          <p:nvPr/>
        </p:nvSpPr>
        <p:spPr>
          <a:xfrm>
            <a:off x="4686300" y="2997200"/>
            <a:ext cx="1866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30">
                <a:solidFill>
                  <a:srgbClr val="5F748F"/>
                </a:solidFill>
                <a:latin typeface="Aptos"/>
              </a:rPr>
              <a:t>2515.6</a:t>
            </a:r>
            <a:endParaRPr lang="zh-TW" altLang="en-US" sz="830">
              <a:solidFill>
                <a:srgbClr val="5F748F"/>
              </a:solidFill>
              <a:latin typeface="Aptos"/>
            </a:endParaRPr>
          </a:p>
        </p:txBody>
      </p:sp>
      <p:sp>
        <p:nvSpPr>
          <p:cNvPr id="38" name="矩形: 圓角 37">
            <a:extLst>
              <a:ext uri="{FF2B5EF4-FFF2-40B4-BE49-F238E27FC236}">
                <a16:creationId xmlns:a16="http://schemas.microsoft.com/office/drawing/2014/main" id="{5D18371F-4F30-4569-9B2F-86AC65D09DC2}"/>
              </a:ext>
            </a:extLst>
          </p:cNvPr>
          <p:cNvSpPr/>
          <p:nvPr/>
        </p:nvSpPr>
        <p:spPr>
          <a:xfrm>
            <a:off x="6604000" y="2933700"/>
            <a:ext cx="1524000" cy="4953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501631B1-808C-47E2-BB96-F13858DB7A38}"/>
              </a:ext>
            </a:extLst>
          </p:cNvPr>
          <p:cNvSpPr txBox="1"/>
          <p:nvPr/>
        </p:nvSpPr>
        <p:spPr>
          <a:xfrm>
            <a:off x="6654800" y="2997200"/>
            <a:ext cx="1422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30">
                <a:solidFill>
                  <a:srgbClr val="5F748F"/>
                </a:solidFill>
                <a:latin typeface="Aptos"/>
              </a:rPr>
              <a:t>0.013642</a:t>
            </a:r>
            <a:endParaRPr lang="zh-TW" altLang="en-US" sz="830">
              <a:solidFill>
                <a:srgbClr val="5F748F"/>
              </a:solidFill>
              <a:latin typeface="Aptos"/>
            </a:endParaRPr>
          </a:p>
        </p:txBody>
      </p:sp>
      <p:sp>
        <p:nvSpPr>
          <p:cNvPr id="40" name="矩形: 圓角 39">
            <a:extLst>
              <a:ext uri="{FF2B5EF4-FFF2-40B4-BE49-F238E27FC236}">
                <a16:creationId xmlns:a16="http://schemas.microsoft.com/office/drawing/2014/main" id="{5D33C446-17B4-4164-8B5E-35F6FDF3EEB3}"/>
              </a:ext>
            </a:extLst>
          </p:cNvPr>
          <p:cNvSpPr/>
          <p:nvPr/>
        </p:nvSpPr>
        <p:spPr>
          <a:xfrm>
            <a:off x="571500" y="3429000"/>
            <a:ext cx="1524000" cy="4953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AEC80FCA-66FB-403F-AB40-A5A5D0315955}"/>
              </a:ext>
            </a:extLst>
          </p:cNvPr>
          <p:cNvSpPr txBox="1"/>
          <p:nvPr/>
        </p:nvSpPr>
        <p:spPr>
          <a:xfrm>
            <a:off x="622300" y="3492500"/>
            <a:ext cx="1422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30">
                <a:solidFill>
                  <a:srgbClr val="5F748F"/>
                </a:solidFill>
                <a:latin typeface="Aptos"/>
              </a:rPr>
              <a:t>2Wiki</a:t>
            </a:r>
            <a:endParaRPr lang="zh-TW" altLang="en-US" sz="830">
              <a:solidFill>
                <a:srgbClr val="5F748F"/>
              </a:solidFill>
              <a:latin typeface="Aptos"/>
            </a:endParaRPr>
          </a:p>
        </p:txBody>
      </p:sp>
      <p:sp>
        <p:nvSpPr>
          <p:cNvPr id="42" name="矩形: 圓角 41">
            <a:extLst>
              <a:ext uri="{FF2B5EF4-FFF2-40B4-BE49-F238E27FC236}">
                <a16:creationId xmlns:a16="http://schemas.microsoft.com/office/drawing/2014/main" id="{D23ED1D8-7296-4F9D-9002-334BDC0B7069}"/>
              </a:ext>
            </a:extLst>
          </p:cNvPr>
          <p:cNvSpPr/>
          <p:nvPr/>
        </p:nvSpPr>
        <p:spPr>
          <a:xfrm>
            <a:off x="2095500" y="3429000"/>
            <a:ext cx="1206500" cy="4953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F918FFDC-DDF3-4449-930C-CF35DB5F4262}"/>
              </a:ext>
            </a:extLst>
          </p:cNvPr>
          <p:cNvSpPr txBox="1"/>
          <p:nvPr/>
        </p:nvSpPr>
        <p:spPr>
          <a:xfrm>
            <a:off x="2146300" y="3492500"/>
            <a:ext cx="1104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30">
                <a:solidFill>
                  <a:srgbClr val="5F748F"/>
                </a:solidFill>
                <a:latin typeface="Aptos"/>
              </a:rPr>
              <a:t>94.0</a:t>
            </a:r>
            <a:endParaRPr lang="zh-TW" altLang="en-US" sz="830">
              <a:solidFill>
                <a:srgbClr val="5F748F"/>
              </a:solidFill>
              <a:latin typeface="Aptos"/>
            </a:endParaRPr>
          </a:p>
        </p:txBody>
      </p:sp>
      <p:sp>
        <p:nvSpPr>
          <p:cNvPr id="44" name="矩形: 圓角 43">
            <a:extLst>
              <a:ext uri="{FF2B5EF4-FFF2-40B4-BE49-F238E27FC236}">
                <a16:creationId xmlns:a16="http://schemas.microsoft.com/office/drawing/2014/main" id="{211AFC90-C26A-4C10-8888-F72872FE3702}"/>
              </a:ext>
            </a:extLst>
          </p:cNvPr>
          <p:cNvSpPr/>
          <p:nvPr/>
        </p:nvSpPr>
        <p:spPr>
          <a:xfrm>
            <a:off x="3302000" y="3429000"/>
            <a:ext cx="1333500" cy="4953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48C7657C-DB7D-42BA-A59A-CE94ED22684C}"/>
              </a:ext>
            </a:extLst>
          </p:cNvPr>
          <p:cNvSpPr txBox="1"/>
          <p:nvPr/>
        </p:nvSpPr>
        <p:spPr>
          <a:xfrm>
            <a:off x="3352800" y="3492500"/>
            <a:ext cx="1231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30">
                <a:solidFill>
                  <a:srgbClr val="5F748F"/>
                </a:solidFill>
                <a:latin typeface="Aptos"/>
              </a:rPr>
              <a:t>5.08</a:t>
            </a:r>
            <a:endParaRPr lang="zh-TW" altLang="en-US" sz="830">
              <a:solidFill>
                <a:srgbClr val="5F748F"/>
              </a:solidFill>
              <a:latin typeface="Aptos"/>
            </a:endParaRPr>
          </a:p>
        </p:txBody>
      </p:sp>
      <p:sp>
        <p:nvSpPr>
          <p:cNvPr id="46" name="矩形: 圓角 45">
            <a:extLst>
              <a:ext uri="{FF2B5EF4-FFF2-40B4-BE49-F238E27FC236}">
                <a16:creationId xmlns:a16="http://schemas.microsoft.com/office/drawing/2014/main" id="{53163791-17A2-44E3-8C2C-55142B1B0872}"/>
              </a:ext>
            </a:extLst>
          </p:cNvPr>
          <p:cNvSpPr/>
          <p:nvPr/>
        </p:nvSpPr>
        <p:spPr>
          <a:xfrm>
            <a:off x="4635500" y="3429000"/>
            <a:ext cx="1968500" cy="4953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A0386845-4222-4CE0-BEE6-58D754330D6E}"/>
              </a:ext>
            </a:extLst>
          </p:cNvPr>
          <p:cNvSpPr txBox="1"/>
          <p:nvPr/>
        </p:nvSpPr>
        <p:spPr>
          <a:xfrm>
            <a:off x="4686300" y="3492500"/>
            <a:ext cx="1866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30">
                <a:solidFill>
                  <a:srgbClr val="5F748F"/>
                </a:solidFill>
                <a:latin typeface="Aptos"/>
              </a:rPr>
              <a:t>2368.7</a:t>
            </a:r>
            <a:endParaRPr lang="zh-TW" altLang="en-US" sz="830">
              <a:solidFill>
                <a:srgbClr val="5F748F"/>
              </a:solidFill>
              <a:latin typeface="Aptos"/>
            </a:endParaRPr>
          </a:p>
        </p:txBody>
      </p:sp>
      <p:sp>
        <p:nvSpPr>
          <p:cNvPr id="48" name="矩形: 圓角 47">
            <a:extLst>
              <a:ext uri="{FF2B5EF4-FFF2-40B4-BE49-F238E27FC236}">
                <a16:creationId xmlns:a16="http://schemas.microsoft.com/office/drawing/2014/main" id="{5762F8E9-802E-42EC-AA79-6B4DBD2B2140}"/>
              </a:ext>
            </a:extLst>
          </p:cNvPr>
          <p:cNvSpPr/>
          <p:nvPr/>
        </p:nvSpPr>
        <p:spPr>
          <a:xfrm>
            <a:off x="6604000" y="3429000"/>
            <a:ext cx="1524000" cy="4953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9B066A15-FE54-41B6-BE4F-08372B21BE14}"/>
              </a:ext>
            </a:extLst>
          </p:cNvPr>
          <p:cNvSpPr txBox="1"/>
          <p:nvPr/>
        </p:nvSpPr>
        <p:spPr>
          <a:xfrm>
            <a:off x="6654800" y="3492500"/>
            <a:ext cx="1422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30">
                <a:solidFill>
                  <a:srgbClr val="5F748F"/>
                </a:solidFill>
                <a:latin typeface="Aptos"/>
              </a:rPr>
              <a:t>0.013650</a:t>
            </a:r>
            <a:endParaRPr lang="zh-TW" altLang="en-US" sz="830">
              <a:solidFill>
                <a:srgbClr val="5F748F"/>
              </a:solidFill>
              <a:latin typeface="Aptos"/>
            </a:endParaRPr>
          </a:p>
        </p:txBody>
      </p:sp>
      <p:sp>
        <p:nvSpPr>
          <p:cNvPr id="50" name="矩形: 圓角 49">
            <a:extLst>
              <a:ext uri="{FF2B5EF4-FFF2-40B4-BE49-F238E27FC236}">
                <a16:creationId xmlns:a16="http://schemas.microsoft.com/office/drawing/2014/main" id="{64007E96-38CB-426A-85F1-67D62AE5456D}"/>
              </a:ext>
            </a:extLst>
          </p:cNvPr>
          <p:cNvSpPr/>
          <p:nvPr/>
        </p:nvSpPr>
        <p:spPr>
          <a:xfrm>
            <a:off x="8204200" y="1943100"/>
            <a:ext cx="2730500" cy="22606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225CCAB-DC85-403C-8FB9-4C4713D16C97}"/>
              </a:ext>
            </a:extLst>
          </p:cNvPr>
          <p:cNvSpPr/>
          <p:nvPr/>
        </p:nvSpPr>
        <p:spPr>
          <a:xfrm>
            <a:off x="8204200" y="1943100"/>
            <a:ext cx="50800" cy="226060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23CB6D29-0350-4CA7-B9DD-C447848735B3}"/>
              </a:ext>
            </a:extLst>
          </p:cNvPr>
          <p:cNvSpPr txBox="1"/>
          <p:nvPr/>
        </p:nvSpPr>
        <p:spPr>
          <a:xfrm>
            <a:off x="8394700" y="2095500"/>
            <a:ext cx="23495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1280" b="1">
                <a:solidFill>
                  <a:srgbClr val="2F9FB8"/>
                </a:solidFill>
                <a:latin typeface="Microsoft JhengHei" panose="020B0604030504040204" pitchFamily="34" charset="-120"/>
              </a:rPr>
              <a:t>效率觀察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AB960EAA-958A-4E45-BB9E-BF05417F8990}"/>
              </a:ext>
            </a:extLst>
          </p:cNvPr>
          <p:cNvSpPr/>
          <p:nvPr/>
        </p:nvSpPr>
        <p:spPr>
          <a:xfrm>
            <a:off x="8483600" y="2694940"/>
            <a:ext cx="86360" cy="8636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A148BFE0-7879-479C-8464-9E1B917AE80F}"/>
              </a:ext>
            </a:extLst>
          </p:cNvPr>
          <p:cNvSpPr txBox="1"/>
          <p:nvPr/>
        </p:nvSpPr>
        <p:spPr>
          <a:xfrm>
            <a:off x="8655050" y="2628900"/>
            <a:ext cx="1968500" cy="88229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930">
                <a:solidFill>
                  <a:srgbClr val="122033"/>
                </a:solidFill>
                <a:latin typeface="Microsoft JhengHei" panose="020B0604030504040204" pitchFamily="34" charset="-120"/>
              </a:rPr>
              <a:t>HotpotQA / 2Wiki </a:t>
            </a:r>
            <a:r>
              <a:rPr lang="zh-TW" altLang="en-US" sz="930">
                <a:solidFill>
                  <a:srgbClr val="122033"/>
                </a:solidFill>
                <a:latin typeface="Microsoft JhengHei" panose="020B0604030504040204" pitchFamily="34" charset="-120"/>
              </a:rPr>
              <a:t>成本接近，且 </a:t>
            </a:r>
            <a:r>
              <a:rPr lang="en-US" altLang="zh-TW" sz="930">
                <a:solidFill>
                  <a:srgbClr val="122033"/>
                </a:solidFill>
                <a:latin typeface="Microsoft JhengHei" panose="020B0604030504040204" pitchFamily="34" charset="-120"/>
              </a:rPr>
              <a:t>loop </a:t>
            </a:r>
            <a:r>
              <a:rPr lang="zh-TW" altLang="en-US" sz="930">
                <a:solidFill>
                  <a:srgbClr val="122033"/>
                </a:solidFill>
                <a:latin typeface="Microsoft JhengHei" panose="020B0604030504040204" pitchFamily="34" charset="-120"/>
              </a:rPr>
              <a:t>數低於 </a:t>
            </a:r>
            <a:r>
              <a:rPr lang="en-US" altLang="zh-TW" sz="930">
                <a:solidFill>
                  <a:srgbClr val="122033"/>
                </a:solidFill>
                <a:latin typeface="Microsoft JhengHei" panose="020B0604030504040204" pitchFamily="34" charset="-120"/>
              </a:rPr>
              <a:t>MuSiQue</a:t>
            </a:r>
            <a:endParaRPr lang="zh-TW" altLang="en-US" sz="93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E3A5F173-EEED-43AF-B88A-A9035C4500B4}"/>
              </a:ext>
            </a:extLst>
          </p:cNvPr>
          <p:cNvSpPr/>
          <p:nvPr/>
        </p:nvSpPr>
        <p:spPr>
          <a:xfrm>
            <a:off x="8483600" y="3114040"/>
            <a:ext cx="86360" cy="8636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3DE19B62-DF09-46CC-B391-9F9AF3D56692}"/>
              </a:ext>
            </a:extLst>
          </p:cNvPr>
          <p:cNvSpPr txBox="1"/>
          <p:nvPr/>
        </p:nvSpPr>
        <p:spPr>
          <a:xfrm>
            <a:off x="8655050" y="3048000"/>
            <a:ext cx="1968500" cy="88229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930">
                <a:solidFill>
                  <a:srgbClr val="122033"/>
                </a:solidFill>
                <a:latin typeface="Microsoft JhengHei" panose="020B0604030504040204" pitchFamily="34" charset="-120"/>
              </a:rPr>
              <a:t>MuSiQue </a:t>
            </a:r>
            <a:r>
              <a:rPr lang="zh-TW" altLang="en-US" sz="930">
                <a:solidFill>
                  <a:srgbClr val="122033"/>
                </a:solidFill>
                <a:latin typeface="Microsoft JhengHei" panose="020B0604030504040204" pitchFamily="34" charset="-120"/>
              </a:rPr>
              <a:t>較難：</a:t>
            </a:r>
            <a:r>
              <a:rPr lang="en-US" altLang="zh-TW" sz="930">
                <a:solidFill>
                  <a:srgbClr val="122033"/>
                </a:solidFill>
                <a:latin typeface="Microsoft JhengHei" panose="020B0604030504040204" pitchFamily="34" charset="-120"/>
              </a:rPr>
              <a:t>loop</a:t>
            </a:r>
            <a:r>
              <a:rPr lang="zh-TW" altLang="en-US" sz="930">
                <a:solidFill>
                  <a:srgbClr val="122033"/>
                </a:solidFill>
                <a:latin typeface="Microsoft JhengHei" panose="020B0604030504040204" pitchFamily="34" charset="-120"/>
              </a:rPr>
              <a:t>、</a:t>
            </a:r>
            <a:r>
              <a:rPr lang="en-US" altLang="zh-TW" sz="930">
                <a:solidFill>
                  <a:srgbClr val="122033"/>
                </a:solidFill>
                <a:latin typeface="Microsoft JhengHei" panose="020B0604030504040204" pitchFamily="34" charset="-120"/>
              </a:rPr>
              <a:t>token</a:t>
            </a:r>
            <a:r>
              <a:rPr lang="zh-TW" altLang="en-US" sz="930">
                <a:solidFill>
                  <a:srgbClr val="122033"/>
                </a:solidFill>
                <a:latin typeface="Microsoft JhengHei" panose="020B0604030504040204" pitchFamily="34" charset="-120"/>
              </a:rPr>
              <a:t>、</a:t>
            </a:r>
            <a:r>
              <a:rPr lang="en-US" altLang="zh-TW" sz="930">
                <a:solidFill>
                  <a:srgbClr val="122033"/>
                </a:solidFill>
                <a:latin typeface="Microsoft JhengHei" panose="020B0604030504040204" pitchFamily="34" charset="-120"/>
              </a:rPr>
              <a:t>cost </a:t>
            </a:r>
            <a:r>
              <a:rPr lang="zh-TW" altLang="en-US" sz="930">
                <a:solidFill>
                  <a:srgbClr val="122033"/>
                </a:solidFill>
                <a:latin typeface="Microsoft JhengHei" panose="020B0604030504040204" pitchFamily="34" charset="-120"/>
              </a:rPr>
              <a:t>都最高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6CE77505-4A93-4DE8-BC8F-5EB78C8651C0}"/>
              </a:ext>
            </a:extLst>
          </p:cNvPr>
          <p:cNvSpPr/>
          <p:nvPr/>
        </p:nvSpPr>
        <p:spPr>
          <a:xfrm>
            <a:off x="8483600" y="3533140"/>
            <a:ext cx="86360" cy="8636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DD6CB90E-0C2A-4A0D-AB53-4CCAD816965A}"/>
              </a:ext>
            </a:extLst>
          </p:cNvPr>
          <p:cNvSpPr txBox="1"/>
          <p:nvPr/>
        </p:nvSpPr>
        <p:spPr>
          <a:xfrm>
            <a:off x="8655050" y="3467100"/>
            <a:ext cx="19685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930">
                <a:solidFill>
                  <a:srgbClr val="122033"/>
                </a:solidFill>
                <a:latin typeface="Microsoft JhengHei" panose="020B0604030504040204" pitchFamily="34" charset="-120"/>
              </a:rPr>
              <a:t>成本數值來自 </a:t>
            </a:r>
            <a:r>
              <a:rPr lang="en-US" altLang="zh-TW" sz="930">
                <a:solidFill>
                  <a:srgbClr val="122033"/>
                </a:solidFill>
                <a:latin typeface="Microsoft JhengHei" panose="020B0604030504040204" pitchFamily="34" charset="-120"/>
              </a:rPr>
              <a:t>local cost tracker</a:t>
            </a:r>
            <a:endParaRPr lang="zh-TW" altLang="en-US" sz="93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8228557C-06B3-4067-AB84-4E87221CE080}"/>
              </a:ext>
            </a:extLst>
          </p:cNvPr>
          <p:cNvSpPr txBox="1"/>
          <p:nvPr/>
        </p:nvSpPr>
        <p:spPr>
          <a:xfrm>
            <a:off x="800100" y="5245100"/>
            <a:ext cx="93726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Takeaway</a:t>
            </a:r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：</a:t>
            </a:r>
            <a:r>
              <a:rPr lang="en-US" altLang="zh-TW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A-RAG Full </a:t>
            </a:r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在三資料集都有高 </a:t>
            </a:r>
            <a:r>
              <a:rPr lang="en-US" altLang="zh-TW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accuracy</a:t>
            </a:r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，但 </a:t>
            </a:r>
            <a:r>
              <a:rPr lang="en-US" altLang="zh-TW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MuSiQue </a:t>
            </a:r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的證據探索成本明顯較高。</a:t>
            </a:r>
          </a:p>
        </p:txBody>
      </p:sp>
    </p:spTree>
    <p:extLst>
      <p:ext uri="{BB962C8B-B14F-4D97-AF65-F5344CB8AC3E}">
        <p14:creationId xmlns:p14="http://schemas.microsoft.com/office/powerpoint/2010/main" val="2013140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384F4C6-4888-45C1-83A5-F505324A346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521F93F-E609-4478-8890-BF4B3F8BD989}"/>
              </a:ext>
            </a:extLst>
          </p:cNvPr>
          <p:cNvSpPr/>
          <p:nvPr/>
        </p:nvSpPr>
        <p:spPr>
          <a:xfrm>
            <a:off x="114300" y="0"/>
            <a:ext cx="12077700" cy="6858000"/>
          </a:xfrm>
          <a:prstGeom prst="rect">
            <a:avLst/>
          </a:prstGeom>
          <a:solidFill>
            <a:srgbClr val="F6F8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A2DF779-DA32-429D-AA8A-5A7811143EF1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8184AD3-DCB2-4314-B79B-31FA09191794}"/>
              </a:ext>
            </a:extLst>
          </p:cNvPr>
          <p:cNvSpPr txBox="1"/>
          <p:nvPr/>
        </p:nvSpPr>
        <p:spPr>
          <a:xfrm>
            <a:off x="419100" y="228600"/>
            <a:ext cx="180975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900">
                <a:solidFill>
                  <a:srgbClr val="5F748F"/>
                </a:solidFill>
                <a:latin typeface="Aptos"/>
              </a:rPr>
              <a:t>A-RAG Paper Report</a:t>
            </a:r>
            <a:endParaRPr lang="zh-TW" altLang="en-US" sz="900">
              <a:solidFill>
                <a:srgbClr val="5F748F"/>
              </a:solidFill>
              <a:latin typeface="Aptos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A6E4F9A-3838-4AF3-8EFA-5C013A7A62B6}"/>
              </a:ext>
            </a:extLst>
          </p:cNvPr>
          <p:cNvSpPr txBox="1"/>
          <p:nvPr/>
        </p:nvSpPr>
        <p:spPr>
          <a:xfrm>
            <a:off x="10572750" y="228600"/>
            <a:ext cx="104775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900">
                <a:solidFill>
                  <a:srgbClr val="8798AD"/>
                </a:solidFill>
                <a:latin typeface="Aptos"/>
              </a:rPr>
              <a:t>06 / 14</a:t>
            </a:r>
            <a:endParaRPr lang="zh-TW" altLang="en-US" sz="900">
              <a:solidFill>
                <a:srgbClr val="8798AD"/>
              </a:solidFill>
              <a:latin typeface="Apto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A1BFFF1-CDC2-4FE3-82F7-35E1CB28E45B}"/>
              </a:ext>
            </a:extLst>
          </p:cNvPr>
          <p:cNvSpPr txBox="1"/>
          <p:nvPr/>
        </p:nvSpPr>
        <p:spPr>
          <a:xfrm>
            <a:off x="419100" y="552450"/>
            <a:ext cx="89535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MuSiQue </a:t>
            </a:r>
            <a:r>
              <a:rPr lang="zh-TW" altLang="en-US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消融：三個工具都不是裝飾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DCCDFCD-C6BD-452F-A07D-09C29514BA22}"/>
              </a:ext>
            </a:extLst>
          </p:cNvPr>
          <p:cNvSpPr/>
          <p:nvPr/>
        </p:nvSpPr>
        <p:spPr>
          <a:xfrm>
            <a:off x="419100" y="1104900"/>
            <a:ext cx="7429500" cy="1905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AD72EC9-28CC-4D4E-B72F-584ED3425CF3}"/>
              </a:ext>
            </a:extLst>
          </p:cNvPr>
          <p:cNvSpPr txBox="1"/>
          <p:nvPr/>
        </p:nvSpPr>
        <p:spPr>
          <a:xfrm>
            <a:off x="419100" y="1238250"/>
            <a:ext cx="9652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固定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MuSiQue 100 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題，移除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keyword_search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、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semantic_search 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或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chunk_read 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觀察能力下降。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B98F21B1-CA55-4895-ADC4-60DA20899C21}"/>
              </a:ext>
            </a:extLst>
          </p:cNvPr>
          <p:cNvSpPr/>
          <p:nvPr/>
        </p:nvSpPr>
        <p:spPr>
          <a:xfrm>
            <a:off x="444500" y="1905000"/>
            <a:ext cx="16510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08E25CE-A5C3-4062-821A-4CC56F835D91}"/>
              </a:ext>
            </a:extLst>
          </p:cNvPr>
          <p:cNvSpPr txBox="1"/>
          <p:nvPr/>
        </p:nvSpPr>
        <p:spPr>
          <a:xfrm>
            <a:off x="495300" y="1968500"/>
            <a:ext cx="1549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 b="1">
                <a:solidFill>
                  <a:srgbClr val="122033"/>
                </a:solidFill>
                <a:latin typeface="Microsoft JhengHei" panose="020B0604030504040204" pitchFamily="34" charset="-120"/>
              </a:rPr>
              <a:t>Variant</a:t>
            </a:r>
            <a:endParaRPr lang="zh-TW" altLang="en-US" sz="810" b="1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6812B6F9-E47B-4812-92CA-8A02A83657CD}"/>
              </a:ext>
            </a:extLst>
          </p:cNvPr>
          <p:cNvSpPr/>
          <p:nvPr/>
        </p:nvSpPr>
        <p:spPr>
          <a:xfrm>
            <a:off x="2095500" y="1905000"/>
            <a:ext cx="10795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B5DB8F8D-526B-48EC-8417-04DB73956E82}"/>
              </a:ext>
            </a:extLst>
          </p:cNvPr>
          <p:cNvSpPr txBox="1"/>
          <p:nvPr/>
        </p:nvSpPr>
        <p:spPr>
          <a:xfrm>
            <a:off x="2146300" y="1968500"/>
            <a:ext cx="977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 b="1">
                <a:solidFill>
                  <a:srgbClr val="122033"/>
                </a:solidFill>
                <a:latin typeface="Microsoft JhengHei" panose="020B0604030504040204" pitchFamily="34" charset="-120"/>
              </a:rPr>
              <a:t>LLM Acc</a:t>
            </a:r>
            <a:endParaRPr lang="zh-TW" altLang="en-US" sz="810" b="1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632FB0B1-81FF-4B97-A729-134E104217AB}"/>
              </a:ext>
            </a:extLst>
          </p:cNvPr>
          <p:cNvSpPr/>
          <p:nvPr/>
        </p:nvSpPr>
        <p:spPr>
          <a:xfrm>
            <a:off x="3175000" y="1905000"/>
            <a:ext cx="10795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456497D-D9DE-4AEA-8527-7ECB660731AA}"/>
              </a:ext>
            </a:extLst>
          </p:cNvPr>
          <p:cNvSpPr txBox="1"/>
          <p:nvPr/>
        </p:nvSpPr>
        <p:spPr>
          <a:xfrm>
            <a:off x="3225800" y="1968500"/>
            <a:ext cx="977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 b="1">
                <a:solidFill>
                  <a:srgbClr val="122033"/>
                </a:solidFill>
                <a:latin typeface="Microsoft JhengHei" panose="020B0604030504040204" pitchFamily="34" charset="-120"/>
              </a:rPr>
              <a:t>Contain</a:t>
            </a:r>
            <a:endParaRPr lang="zh-TW" altLang="en-US" sz="810" b="1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D750C51E-D92F-4F33-A6EF-C771CAFF600B}"/>
              </a:ext>
            </a:extLst>
          </p:cNvPr>
          <p:cNvSpPr/>
          <p:nvPr/>
        </p:nvSpPr>
        <p:spPr>
          <a:xfrm>
            <a:off x="4254500" y="1905000"/>
            <a:ext cx="9525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9798692C-B4BC-4857-81E2-8C33981339D1}"/>
              </a:ext>
            </a:extLst>
          </p:cNvPr>
          <p:cNvSpPr txBox="1"/>
          <p:nvPr/>
        </p:nvSpPr>
        <p:spPr>
          <a:xfrm>
            <a:off x="4305300" y="1968500"/>
            <a:ext cx="850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 b="1">
                <a:solidFill>
                  <a:srgbClr val="122033"/>
                </a:solidFill>
                <a:latin typeface="Microsoft JhengHei" panose="020B0604030504040204" pitchFamily="34" charset="-120"/>
              </a:rPr>
              <a:t>Loops</a:t>
            </a:r>
            <a:endParaRPr lang="zh-TW" altLang="en-US" sz="810" b="1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E37C35BD-1973-4DB0-8E8B-96E80E9025B1}"/>
              </a:ext>
            </a:extLst>
          </p:cNvPr>
          <p:cNvSpPr/>
          <p:nvPr/>
        </p:nvSpPr>
        <p:spPr>
          <a:xfrm>
            <a:off x="5207000" y="1905000"/>
            <a:ext cx="13335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C4DF4CCD-299C-4E9A-933D-BD3370FDD88A}"/>
              </a:ext>
            </a:extLst>
          </p:cNvPr>
          <p:cNvSpPr txBox="1"/>
          <p:nvPr/>
        </p:nvSpPr>
        <p:spPr>
          <a:xfrm>
            <a:off x="5257800" y="1968500"/>
            <a:ext cx="1231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 b="1">
                <a:solidFill>
                  <a:srgbClr val="122033"/>
                </a:solidFill>
                <a:latin typeface="Microsoft JhengHei" panose="020B0604030504040204" pitchFamily="34" charset="-120"/>
              </a:rPr>
              <a:t>Tokens</a:t>
            </a:r>
            <a:endParaRPr lang="zh-TW" altLang="en-US" sz="810" b="1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EF357FBC-E7AF-4C8C-9EE1-2BF3F2E64131}"/>
              </a:ext>
            </a:extLst>
          </p:cNvPr>
          <p:cNvSpPr/>
          <p:nvPr/>
        </p:nvSpPr>
        <p:spPr>
          <a:xfrm>
            <a:off x="6540500" y="1905000"/>
            <a:ext cx="11430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4A4E6048-C284-47D3-8C87-7238B1AE9368}"/>
              </a:ext>
            </a:extLst>
          </p:cNvPr>
          <p:cNvSpPr txBox="1"/>
          <p:nvPr/>
        </p:nvSpPr>
        <p:spPr>
          <a:xfrm>
            <a:off x="6591300" y="1968500"/>
            <a:ext cx="1041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 b="1">
                <a:solidFill>
                  <a:srgbClr val="122033"/>
                </a:solidFill>
                <a:latin typeface="Microsoft JhengHei" panose="020B0604030504040204" pitchFamily="34" charset="-120"/>
              </a:rPr>
              <a:t>Cost/Q</a:t>
            </a:r>
            <a:endParaRPr lang="zh-TW" altLang="en-US" sz="810" b="1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B3752805-DB49-4F79-A4F0-C3ED4AF4563C}"/>
              </a:ext>
            </a:extLst>
          </p:cNvPr>
          <p:cNvSpPr/>
          <p:nvPr/>
        </p:nvSpPr>
        <p:spPr>
          <a:xfrm>
            <a:off x="444500" y="2362200"/>
            <a:ext cx="16510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DB9D4538-1D23-4226-B9B7-69E0A45860BB}"/>
              </a:ext>
            </a:extLst>
          </p:cNvPr>
          <p:cNvSpPr txBox="1"/>
          <p:nvPr/>
        </p:nvSpPr>
        <p:spPr>
          <a:xfrm>
            <a:off x="495300" y="2425700"/>
            <a:ext cx="1549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>
                <a:solidFill>
                  <a:srgbClr val="5F748F"/>
                </a:solidFill>
                <a:latin typeface="Aptos"/>
              </a:rPr>
              <a:t>Full</a:t>
            </a:r>
            <a:endParaRPr lang="zh-TW" altLang="en-US" sz="810">
              <a:solidFill>
                <a:srgbClr val="5F748F"/>
              </a:solidFill>
              <a:latin typeface="Aptos"/>
            </a:endParaRP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CC4B10B2-8CFA-436E-BCB2-9677D86E5CCB}"/>
              </a:ext>
            </a:extLst>
          </p:cNvPr>
          <p:cNvSpPr/>
          <p:nvPr/>
        </p:nvSpPr>
        <p:spPr>
          <a:xfrm>
            <a:off x="2095500" y="2362200"/>
            <a:ext cx="10795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633F713B-5381-4EB7-B24E-A5C3C2C9DF17}"/>
              </a:ext>
            </a:extLst>
          </p:cNvPr>
          <p:cNvSpPr txBox="1"/>
          <p:nvPr/>
        </p:nvSpPr>
        <p:spPr>
          <a:xfrm>
            <a:off x="2146300" y="2425700"/>
            <a:ext cx="977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>
                <a:solidFill>
                  <a:srgbClr val="5F748F"/>
                </a:solidFill>
                <a:latin typeface="Aptos"/>
              </a:rPr>
              <a:t>87.88</a:t>
            </a:r>
            <a:endParaRPr lang="zh-TW" altLang="en-US" sz="810">
              <a:solidFill>
                <a:srgbClr val="5F748F"/>
              </a:solidFill>
              <a:latin typeface="Aptos"/>
            </a:endParaRP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DCA4922C-6CE3-4F96-B25C-005734CD10DC}"/>
              </a:ext>
            </a:extLst>
          </p:cNvPr>
          <p:cNvSpPr/>
          <p:nvPr/>
        </p:nvSpPr>
        <p:spPr>
          <a:xfrm>
            <a:off x="3175000" y="2362200"/>
            <a:ext cx="10795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68F5BB7B-2519-465F-96DB-3F073439CF97}"/>
              </a:ext>
            </a:extLst>
          </p:cNvPr>
          <p:cNvSpPr txBox="1"/>
          <p:nvPr/>
        </p:nvSpPr>
        <p:spPr>
          <a:xfrm>
            <a:off x="3225800" y="2425700"/>
            <a:ext cx="977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>
                <a:solidFill>
                  <a:srgbClr val="5F748F"/>
                </a:solidFill>
                <a:latin typeface="Aptos"/>
              </a:rPr>
              <a:t>82.83</a:t>
            </a:r>
            <a:endParaRPr lang="zh-TW" altLang="en-US" sz="810">
              <a:solidFill>
                <a:srgbClr val="5F748F"/>
              </a:solidFill>
              <a:latin typeface="Aptos"/>
            </a:endParaRP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36ABE190-3902-4116-ADB8-6C5B7C591991}"/>
              </a:ext>
            </a:extLst>
          </p:cNvPr>
          <p:cNvSpPr/>
          <p:nvPr/>
        </p:nvSpPr>
        <p:spPr>
          <a:xfrm>
            <a:off x="4254500" y="2362200"/>
            <a:ext cx="9525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0C170277-EABF-4C2A-B5A9-3E74835E851D}"/>
              </a:ext>
            </a:extLst>
          </p:cNvPr>
          <p:cNvSpPr txBox="1"/>
          <p:nvPr/>
        </p:nvSpPr>
        <p:spPr>
          <a:xfrm>
            <a:off x="4305300" y="2425700"/>
            <a:ext cx="850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>
                <a:solidFill>
                  <a:srgbClr val="5F748F"/>
                </a:solidFill>
                <a:latin typeface="Aptos"/>
              </a:rPr>
              <a:t>7.31</a:t>
            </a:r>
            <a:endParaRPr lang="zh-TW" altLang="en-US" sz="810">
              <a:solidFill>
                <a:srgbClr val="5F748F"/>
              </a:solidFill>
              <a:latin typeface="Aptos"/>
            </a:endParaRPr>
          </a:p>
        </p:txBody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3D6DAB19-5A76-4C96-B202-1903C05EC2C1}"/>
              </a:ext>
            </a:extLst>
          </p:cNvPr>
          <p:cNvSpPr/>
          <p:nvPr/>
        </p:nvSpPr>
        <p:spPr>
          <a:xfrm>
            <a:off x="5207000" y="2362200"/>
            <a:ext cx="13335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4A610704-43D7-495C-B525-0F2F676A2305}"/>
              </a:ext>
            </a:extLst>
          </p:cNvPr>
          <p:cNvSpPr txBox="1"/>
          <p:nvPr/>
        </p:nvSpPr>
        <p:spPr>
          <a:xfrm>
            <a:off x="5257800" y="2425700"/>
            <a:ext cx="1231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>
                <a:solidFill>
                  <a:srgbClr val="5F748F"/>
                </a:solidFill>
                <a:latin typeface="Aptos"/>
              </a:rPr>
              <a:t>4245.6</a:t>
            </a:r>
            <a:endParaRPr lang="zh-TW" altLang="en-US" sz="810">
              <a:solidFill>
                <a:srgbClr val="5F748F"/>
              </a:solidFill>
              <a:latin typeface="Aptos"/>
            </a:endParaRPr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6AE6F162-315C-4104-813B-357582CDACCC}"/>
              </a:ext>
            </a:extLst>
          </p:cNvPr>
          <p:cNvSpPr/>
          <p:nvPr/>
        </p:nvSpPr>
        <p:spPr>
          <a:xfrm>
            <a:off x="6540500" y="2362200"/>
            <a:ext cx="11430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E9BF03C4-9F68-4EA1-A3E6-60411D1B93B1}"/>
              </a:ext>
            </a:extLst>
          </p:cNvPr>
          <p:cNvSpPr txBox="1"/>
          <p:nvPr/>
        </p:nvSpPr>
        <p:spPr>
          <a:xfrm>
            <a:off x="6591300" y="2425700"/>
            <a:ext cx="1041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>
                <a:solidFill>
                  <a:srgbClr val="5F748F"/>
                </a:solidFill>
                <a:latin typeface="Aptos"/>
              </a:rPr>
              <a:t>0.027867</a:t>
            </a:r>
            <a:endParaRPr lang="zh-TW" altLang="en-US" sz="810">
              <a:solidFill>
                <a:srgbClr val="5F748F"/>
              </a:solidFill>
              <a:latin typeface="Aptos"/>
            </a:endParaRPr>
          </a:p>
        </p:txBody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857179C9-90F7-4649-B444-2A4E0FF4FEC7}"/>
              </a:ext>
            </a:extLst>
          </p:cNvPr>
          <p:cNvSpPr/>
          <p:nvPr/>
        </p:nvSpPr>
        <p:spPr>
          <a:xfrm>
            <a:off x="444500" y="2819400"/>
            <a:ext cx="16510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4D0B7ED3-1A5D-4C0E-A202-19989B49C764}"/>
              </a:ext>
            </a:extLst>
          </p:cNvPr>
          <p:cNvSpPr txBox="1"/>
          <p:nvPr/>
        </p:nvSpPr>
        <p:spPr>
          <a:xfrm>
            <a:off x="495300" y="2882900"/>
            <a:ext cx="1549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>
                <a:solidFill>
                  <a:srgbClr val="5F748F"/>
                </a:solidFill>
                <a:latin typeface="Aptos"/>
              </a:rPr>
              <a:t>w/o keyword</a:t>
            </a:r>
            <a:endParaRPr lang="zh-TW" altLang="en-US" sz="810">
              <a:solidFill>
                <a:srgbClr val="5F748F"/>
              </a:solidFill>
              <a:latin typeface="Aptos"/>
            </a:endParaRPr>
          </a:p>
        </p:txBody>
      </p:sp>
      <p:sp>
        <p:nvSpPr>
          <p:cNvPr id="36" name="矩形: 圓角 35">
            <a:extLst>
              <a:ext uri="{FF2B5EF4-FFF2-40B4-BE49-F238E27FC236}">
                <a16:creationId xmlns:a16="http://schemas.microsoft.com/office/drawing/2014/main" id="{10880E0C-7EFE-45CF-B064-665CE04B6510}"/>
              </a:ext>
            </a:extLst>
          </p:cNvPr>
          <p:cNvSpPr/>
          <p:nvPr/>
        </p:nvSpPr>
        <p:spPr>
          <a:xfrm>
            <a:off x="2095500" y="2819400"/>
            <a:ext cx="10795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645BE748-5404-44A4-B6D3-60C38973FC7E}"/>
              </a:ext>
            </a:extLst>
          </p:cNvPr>
          <p:cNvSpPr txBox="1"/>
          <p:nvPr/>
        </p:nvSpPr>
        <p:spPr>
          <a:xfrm>
            <a:off x="2146300" y="2882900"/>
            <a:ext cx="977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>
                <a:solidFill>
                  <a:srgbClr val="5F748F"/>
                </a:solidFill>
                <a:latin typeface="Aptos"/>
              </a:rPr>
              <a:t>67.68</a:t>
            </a:r>
            <a:endParaRPr lang="zh-TW" altLang="en-US" sz="810">
              <a:solidFill>
                <a:srgbClr val="5F748F"/>
              </a:solidFill>
              <a:latin typeface="Aptos"/>
            </a:endParaRPr>
          </a:p>
        </p:txBody>
      </p:sp>
      <p:sp>
        <p:nvSpPr>
          <p:cNvPr id="38" name="矩形: 圓角 37">
            <a:extLst>
              <a:ext uri="{FF2B5EF4-FFF2-40B4-BE49-F238E27FC236}">
                <a16:creationId xmlns:a16="http://schemas.microsoft.com/office/drawing/2014/main" id="{EDE5871C-25C4-485F-B086-3E409634BB19}"/>
              </a:ext>
            </a:extLst>
          </p:cNvPr>
          <p:cNvSpPr/>
          <p:nvPr/>
        </p:nvSpPr>
        <p:spPr>
          <a:xfrm>
            <a:off x="3175000" y="2819400"/>
            <a:ext cx="10795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49638C5F-90A5-429E-9E72-FF1C5414C61A}"/>
              </a:ext>
            </a:extLst>
          </p:cNvPr>
          <p:cNvSpPr txBox="1"/>
          <p:nvPr/>
        </p:nvSpPr>
        <p:spPr>
          <a:xfrm>
            <a:off x="3225800" y="2882900"/>
            <a:ext cx="977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>
                <a:solidFill>
                  <a:srgbClr val="5F748F"/>
                </a:solidFill>
                <a:latin typeface="Aptos"/>
              </a:rPr>
              <a:t>62.63</a:t>
            </a:r>
            <a:endParaRPr lang="zh-TW" altLang="en-US" sz="810">
              <a:solidFill>
                <a:srgbClr val="5F748F"/>
              </a:solidFill>
              <a:latin typeface="Aptos"/>
            </a:endParaRPr>
          </a:p>
        </p:txBody>
      </p:sp>
      <p:sp>
        <p:nvSpPr>
          <p:cNvPr id="40" name="矩形: 圓角 39">
            <a:extLst>
              <a:ext uri="{FF2B5EF4-FFF2-40B4-BE49-F238E27FC236}">
                <a16:creationId xmlns:a16="http://schemas.microsoft.com/office/drawing/2014/main" id="{8DF95AF5-D201-498E-9793-C1B21E72E369}"/>
              </a:ext>
            </a:extLst>
          </p:cNvPr>
          <p:cNvSpPr/>
          <p:nvPr/>
        </p:nvSpPr>
        <p:spPr>
          <a:xfrm>
            <a:off x="4254500" y="2819400"/>
            <a:ext cx="9525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AC4122A7-F2D7-4D41-B76F-97C4B9755E72}"/>
              </a:ext>
            </a:extLst>
          </p:cNvPr>
          <p:cNvSpPr txBox="1"/>
          <p:nvPr/>
        </p:nvSpPr>
        <p:spPr>
          <a:xfrm>
            <a:off x="4305300" y="2882900"/>
            <a:ext cx="850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>
                <a:solidFill>
                  <a:srgbClr val="5F748F"/>
                </a:solidFill>
                <a:latin typeface="Aptos"/>
              </a:rPr>
              <a:t>7.44</a:t>
            </a:r>
            <a:endParaRPr lang="zh-TW" altLang="en-US" sz="810">
              <a:solidFill>
                <a:srgbClr val="5F748F"/>
              </a:solidFill>
              <a:latin typeface="Aptos"/>
            </a:endParaRPr>
          </a:p>
        </p:txBody>
      </p:sp>
      <p:sp>
        <p:nvSpPr>
          <p:cNvPr id="42" name="矩形: 圓角 41">
            <a:extLst>
              <a:ext uri="{FF2B5EF4-FFF2-40B4-BE49-F238E27FC236}">
                <a16:creationId xmlns:a16="http://schemas.microsoft.com/office/drawing/2014/main" id="{F6FAE82C-EB17-4618-A96C-122530E274A1}"/>
              </a:ext>
            </a:extLst>
          </p:cNvPr>
          <p:cNvSpPr/>
          <p:nvPr/>
        </p:nvSpPr>
        <p:spPr>
          <a:xfrm>
            <a:off x="5207000" y="2819400"/>
            <a:ext cx="13335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8104AAE8-33E7-4E07-BBD8-6E59F52321A0}"/>
              </a:ext>
            </a:extLst>
          </p:cNvPr>
          <p:cNvSpPr txBox="1"/>
          <p:nvPr/>
        </p:nvSpPr>
        <p:spPr>
          <a:xfrm>
            <a:off x="5257800" y="2882900"/>
            <a:ext cx="1231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>
                <a:solidFill>
                  <a:srgbClr val="5F748F"/>
                </a:solidFill>
                <a:latin typeface="Aptos"/>
              </a:rPr>
              <a:t>2938.6</a:t>
            </a:r>
            <a:endParaRPr lang="zh-TW" altLang="en-US" sz="810">
              <a:solidFill>
                <a:srgbClr val="5F748F"/>
              </a:solidFill>
              <a:latin typeface="Aptos"/>
            </a:endParaRPr>
          </a:p>
        </p:txBody>
      </p:sp>
      <p:sp>
        <p:nvSpPr>
          <p:cNvPr id="44" name="矩形: 圓角 43">
            <a:extLst>
              <a:ext uri="{FF2B5EF4-FFF2-40B4-BE49-F238E27FC236}">
                <a16:creationId xmlns:a16="http://schemas.microsoft.com/office/drawing/2014/main" id="{6F0384D4-CFD5-410E-95AB-64161E98D63B}"/>
              </a:ext>
            </a:extLst>
          </p:cNvPr>
          <p:cNvSpPr/>
          <p:nvPr/>
        </p:nvSpPr>
        <p:spPr>
          <a:xfrm>
            <a:off x="6540500" y="2819400"/>
            <a:ext cx="11430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3D914DDA-573F-4272-B49B-31F0EA6F2131}"/>
              </a:ext>
            </a:extLst>
          </p:cNvPr>
          <p:cNvSpPr txBox="1"/>
          <p:nvPr/>
        </p:nvSpPr>
        <p:spPr>
          <a:xfrm>
            <a:off x="6591300" y="2882900"/>
            <a:ext cx="1041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>
                <a:solidFill>
                  <a:srgbClr val="5F748F"/>
                </a:solidFill>
                <a:latin typeface="Aptos"/>
              </a:rPr>
              <a:t>0.025791</a:t>
            </a:r>
            <a:endParaRPr lang="zh-TW" altLang="en-US" sz="810">
              <a:solidFill>
                <a:srgbClr val="5F748F"/>
              </a:solidFill>
              <a:latin typeface="Aptos"/>
            </a:endParaRPr>
          </a:p>
        </p:txBody>
      </p:sp>
      <p:sp>
        <p:nvSpPr>
          <p:cNvPr id="46" name="矩形: 圓角 45">
            <a:extLst>
              <a:ext uri="{FF2B5EF4-FFF2-40B4-BE49-F238E27FC236}">
                <a16:creationId xmlns:a16="http://schemas.microsoft.com/office/drawing/2014/main" id="{E95F646B-67EA-40C7-BBE6-E2B723CF2F3E}"/>
              </a:ext>
            </a:extLst>
          </p:cNvPr>
          <p:cNvSpPr/>
          <p:nvPr/>
        </p:nvSpPr>
        <p:spPr>
          <a:xfrm>
            <a:off x="444500" y="3276600"/>
            <a:ext cx="16510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F3521919-8FE1-4977-801A-D148BEE67548}"/>
              </a:ext>
            </a:extLst>
          </p:cNvPr>
          <p:cNvSpPr txBox="1"/>
          <p:nvPr/>
        </p:nvSpPr>
        <p:spPr>
          <a:xfrm>
            <a:off x="495300" y="3340100"/>
            <a:ext cx="1549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>
                <a:solidFill>
                  <a:srgbClr val="5F748F"/>
                </a:solidFill>
                <a:latin typeface="Aptos"/>
              </a:rPr>
              <a:t>w/o semantic</a:t>
            </a:r>
            <a:endParaRPr lang="zh-TW" altLang="en-US" sz="810">
              <a:solidFill>
                <a:srgbClr val="5F748F"/>
              </a:solidFill>
              <a:latin typeface="Aptos"/>
            </a:endParaRPr>
          </a:p>
        </p:txBody>
      </p:sp>
      <p:sp>
        <p:nvSpPr>
          <p:cNvPr id="48" name="矩形: 圓角 47">
            <a:extLst>
              <a:ext uri="{FF2B5EF4-FFF2-40B4-BE49-F238E27FC236}">
                <a16:creationId xmlns:a16="http://schemas.microsoft.com/office/drawing/2014/main" id="{3AD0FE62-131B-4D59-8793-4082A78DE02A}"/>
              </a:ext>
            </a:extLst>
          </p:cNvPr>
          <p:cNvSpPr/>
          <p:nvPr/>
        </p:nvSpPr>
        <p:spPr>
          <a:xfrm>
            <a:off x="2095500" y="3276600"/>
            <a:ext cx="10795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9D934980-020D-4E20-A52C-BD19B30F97A4}"/>
              </a:ext>
            </a:extLst>
          </p:cNvPr>
          <p:cNvSpPr txBox="1"/>
          <p:nvPr/>
        </p:nvSpPr>
        <p:spPr>
          <a:xfrm>
            <a:off x="2146300" y="3340100"/>
            <a:ext cx="977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>
                <a:solidFill>
                  <a:srgbClr val="5F748F"/>
                </a:solidFill>
                <a:latin typeface="Aptos"/>
              </a:rPr>
              <a:t>74.49</a:t>
            </a:r>
            <a:endParaRPr lang="zh-TW" altLang="en-US" sz="810">
              <a:solidFill>
                <a:srgbClr val="5F748F"/>
              </a:solidFill>
              <a:latin typeface="Aptos"/>
            </a:endParaRPr>
          </a:p>
        </p:txBody>
      </p:sp>
      <p:sp>
        <p:nvSpPr>
          <p:cNvPr id="50" name="矩形: 圓角 49">
            <a:extLst>
              <a:ext uri="{FF2B5EF4-FFF2-40B4-BE49-F238E27FC236}">
                <a16:creationId xmlns:a16="http://schemas.microsoft.com/office/drawing/2014/main" id="{DFCA8219-BD35-4B42-8AC4-35BD2B7B6FDF}"/>
              </a:ext>
            </a:extLst>
          </p:cNvPr>
          <p:cNvSpPr/>
          <p:nvPr/>
        </p:nvSpPr>
        <p:spPr>
          <a:xfrm>
            <a:off x="3175000" y="3276600"/>
            <a:ext cx="10795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A3735B84-5A30-4B56-8B9F-4D79E6FAEA8E}"/>
              </a:ext>
            </a:extLst>
          </p:cNvPr>
          <p:cNvSpPr txBox="1"/>
          <p:nvPr/>
        </p:nvSpPr>
        <p:spPr>
          <a:xfrm>
            <a:off x="3225800" y="3340100"/>
            <a:ext cx="977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>
                <a:solidFill>
                  <a:srgbClr val="5F748F"/>
                </a:solidFill>
                <a:latin typeface="Aptos"/>
              </a:rPr>
              <a:t>71.43</a:t>
            </a:r>
            <a:endParaRPr lang="zh-TW" altLang="en-US" sz="810">
              <a:solidFill>
                <a:srgbClr val="5F748F"/>
              </a:solidFill>
              <a:latin typeface="Aptos"/>
            </a:endParaRPr>
          </a:p>
        </p:txBody>
      </p:sp>
      <p:sp>
        <p:nvSpPr>
          <p:cNvPr id="52" name="矩形: 圓角 51">
            <a:extLst>
              <a:ext uri="{FF2B5EF4-FFF2-40B4-BE49-F238E27FC236}">
                <a16:creationId xmlns:a16="http://schemas.microsoft.com/office/drawing/2014/main" id="{2716FDB6-B689-45B4-8592-0F71759BE4D7}"/>
              </a:ext>
            </a:extLst>
          </p:cNvPr>
          <p:cNvSpPr/>
          <p:nvPr/>
        </p:nvSpPr>
        <p:spPr>
          <a:xfrm>
            <a:off x="4254500" y="3276600"/>
            <a:ext cx="9525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540948B0-9911-4A86-8A40-FA8B9419A432}"/>
              </a:ext>
            </a:extLst>
          </p:cNvPr>
          <p:cNvSpPr txBox="1"/>
          <p:nvPr/>
        </p:nvSpPr>
        <p:spPr>
          <a:xfrm>
            <a:off x="4305300" y="3340100"/>
            <a:ext cx="850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>
                <a:solidFill>
                  <a:srgbClr val="5F748F"/>
                </a:solidFill>
                <a:latin typeface="Aptos"/>
              </a:rPr>
              <a:t>7.04</a:t>
            </a:r>
            <a:endParaRPr lang="zh-TW" altLang="en-US" sz="810">
              <a:solidFill>
                <a:srgbClr val="5F748F"/>
              </a:solidFill>
              <a:latin typeface="Aptos"/>
            </a:endParaRPr>
          </a:p>
        </p:txBody>
      </p:sp>
      <p:sp>
        <p:nvSpPr>
          <p:cNvPr id="54" name="矩形: 圓角 53">
            <a:extLst>
              <a:ext uri="{FF2B5EF4-FFF2-40B4-BE49-F238E27FC236}">
                <a16:creationId xmlns:a16="http://schemas.microsoft.com/office/drawing/2014/main" id="{12A4C1E7-2FD1-4E2C-8BC8-AAE9549DB36C}"/>
              </a:ext>
            </a:extLst>
          </p:cNvPr>
          <p:cNvSpPr/>
          <p:nvPr/>
        </p:nvSpPr>
        <p:spPr>
          <a:xfrm>
            <a:off x="5207000" y="3276600"/>
            <a:ext cx="13335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425EBBCB-5138-42D2-ADD4-58760FDDC60C}"/>
              </a:ext>
            </a:extLst>
          </p:cNvPr>
          <p:cNvSpPr txBox="1"/>
          <p:nvPr/>
        </p:nvSpPr>
        <p:spPr>
          <a:xfrm>
            <a:off x="5257800" y="3340100"/>
            <a:ext cx="1231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>
                <a:solidFill>
                  <a:srgbClr val="5F748F"/>
                </a:solidFill>
                <a:latin typeface="Aptos"/>
              </a:rPr>
              <a:t>3009.0</a:t>
            </a:r>
            <a:endParaRPr lang="zh-TW" altLang="en-US" sz="810">
              <a:solidFill>
                <a:srgbClr val="5F748F"/>
              </a:solidFill>
              <a:latin typeface="Aptos"/>
            </a:endParaRPr>
          </a:p>
        </p:txBody>
      </p:sp>
      <p:sp>
        <p:nvSpPr>
          <p:cNvPr id="56" name="矩形: 圓角 55">
            <a:extLst>
              <a:ext uri="{FF2B5EF4-FFF2-40B4-BE49-F238E27FC236}">
                <a16:creationId xmlns:a16="http://schemas.microsoft.com/office/drawing/2014/main" id="{77117810-8332-48AA-990B-D4E46A633DE8}"/>
              </a:ext>
            </a:extLst>
          </p:cNvPr>
          <p:cNvSpPr/>
          <p:nvPr/>
        </p:nvSpPr>
        <p:spPr>
          <a:xfrm>
            <a:off x="6540500" y="3276600"/>
            <a:ext cx="11430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37C7A08B-D9EB-4FA3-ABE4-53A3DCE23F2B}"/>
              </a:ext>
            </a:extLst>
          </p:cNvPr>
          <p:cNvSpPr txBox="1"/>
          <p:nvPr/>
        </p:nvSpPr>
        <p:spPr>
          <a:xfrm>
            <a:off x="6591300" y="3340100"/>
            <a:ext cx="1041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>
                <a:solidFill>
                  <a:srgbClr val="5F748F"/>
                </a:solidFill>
                <a:latin typeface="Aptos"/>
              </a:rPr>
              <a:t>0.025010</a:t>
            </a:r>
            <a:endParaRPr lang="zh-TW" altLang="en-US" sz="810">
              <a:solidFill>
                <a:srgbClr val="5F748F"/>
              </a:solidFill>
              <a:latin typeface="Aptos"/>
            </a:endParaRPr>
          </a:p>
        </p:txBody>
      </p:sp>
      <p:sp>
        <p:nvSpPr>
          <p:cNvPr id="58" name="矩形: 圓角 57">
            <a:extLst>
              <a:ext uri="{FF2B5EF4-FFF2-40B4-BE49-F238E27FC236}">
                <a16:creationId xmlns:a16="http://schemas.microsoft.com/office/drawing/2014/main" id="{01F32E23-D4EE-4E8A-B1B5-0A2489760E0A}"/>
              </a:ext>
            </a:extLst>
          </p:cNvPr>
          <p:cNvSpPr/>
          <p:nvPr/>
        </p:nvSpPr>
        <p:spPr>
          <a:xfrm>
            <a:off x="444500" y="3733800"/>
            <a:ext cx="16510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B3D1D561-BFB7-4247-A133-4FB14913FB36}"/>
              </a:ext>
            </a:extLst>
          </p:cNvPr>
          <p:cNvSpPr txBox="1"/>
          <p:nvPr/>
        </p:nvSpPr>
        <p:spPr>
          <a:xfrm>
            <a:off x="495300" y="3797300"/>
            <a:ext cx="15494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>
                <a:solidFill>
                  <a:srgbClr val="5F748F"/>
                </a:solidFill>
                <a:latin typeface="Aptos"/>
              </a:rPr>
              <a:t>w/o chunk_read</a:t>
            </a:r>
            <a:endParaRPr lang="zh-TW" altLang="en-US" sz="810">
              <a:solidFill>
                <a:srgbClr val="5F748F"/>
              </a:solidFill>
              <a:latin typeface="Aptos"/>
            </a:endParaRPr>
          </a:p>
        </p:txBody>
      </p:sp>
      <p:sp>
        <p:nvSpPr>
          <p:cNvPr id="60" name="矩形: 圓角 59">
            <a:extLst>
              <a:ext uri="{FF2B5EF4-FFF2-40B4-BE49-F238E27FC236}">
                <a16:creationId xmlns:a16="http://schemas.microsoft.com/office/drawing/2014/main" id="{7C600CBA-71A0-4429-B8FE-74D1F0EAE5B4}"/>
              </a:ext>
            </a:extLst>
          </p:cNvPr>
          <p:cNvSpPr/>
          <p:nvPr/>
        </p:nvSpPr>
        <p:spPr>
          <a:xfrm>
            <a:off x="2095500" y="3733800"/>
            <a:ext cx="10795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660CBA90-2FE5-4197-ADA8-41C86BDAD1BA}"/>
              </a:ext>
            </a:extLst>
          </p:cNvPr>
          <p:cNvSpPr txBox="1"/>
          <p:nvPr/>
        </p:nvSpPr>
        <p:spPr>
          <a:xfrm>
            <a:off x="2146300" y="3797300"/>
            <a:ext cx="977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>
                <a:solidFill>
                  <a:srgbClr val="5F748F"/>
                </a:solidFill>
                <a:latin typeface="Aptos"/>
              </a:rPr>
              <a:t>65.66</a:t>
            </a:r>
            <a:endParaRPr lang="zh-TW" altLang="en-US" sz="810">
              <a:solidFill>
                <a:srgbClr val="5F748F"/>
              </a:solidFill>
              <a:latin typeface="Aptos"/>
            </a:endParaRPr>
          </a:p>
        </p:txBody>
      </p:sp>
      <p:sp>
        <p:nvSpPr>
          <p:cNvPr id="62" name="矩形: 圓角 61">
            <a:extLst>
              <a:ext uri="{FF2B5EF4-FFF2-40B4-BE49-F238E27FC236}">
                <a16:creationId xmlns:a16="http://schemas.microsoft.com/office/drawing/2014/main" id="{DD51AC14-FF8D-4D83-8C7C-290EA35A52CE}"/>
              </a:ext>
            </a:extLst>
          </p:cNvPr>
          <p:cNvSpPr/>
          <p:nvPr/>
        </p:nvSpPr>
        <p:spPr>
          <a:xfrm>
            <a:off x="3175000" y="3733800"/>
            <a:ext cx="10795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C5E1F77A-FFBE-49B4-B889-35355C8E32D4}"/>
              </a:ext>
            </a:extLst>
          </p:cNvPr>
          <p:cNvSpPr txBox="1"/>
          <p:nvPr/>
        </p:nvSpPr>
        <p:spPr>
          <a:xfrm>
            <a:off x="3225800" y="3797300"/>
            <a:ext cx="977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>
                <a:solidFill>
                  <a:srgbClr val="5F748F"/>
                </a:solidFill>
                <a:latin typeface="Aptos"/>
              </a:rPr>
              <a:t>64.65</a:t>
            </a:r>
            <a:endParaRPr lang="zh-TW" altLang="en-US" sz="810">
              <a:solidFill>
                <a:srgbClr val="5F748F"/>
              </a:solidFill>
              <a:latin typeface="Aptos"/>
            </a:endParaRPr>
          </a:p>
        </p:txBody>
      </p:sp>
      <p:sp>
        <p:nvSpPr>
          <p:cNvPr id="64" name="矩形: 圓角 63">
            <a:extLst>
              <a:ext uri="{FF2B5EF4-FFF2-40B4-BE49-F238E27FC236}">
                <a16:creationId xmlns:a16="http://schemas.microsoft.com/office/drawing/2014/main" id="{24BBEBF8-C0BD-45B4-AAD2-BBDCAFB674C4}"/>
              </a:ext>
            </a:extLst>
          </p:cNvPr>
          <p:cNvSpPr/>
          <p:nvPr/>
        </p:nvSpPr>
        <p:spPr>
          <a:xfrm>
            <a:off x="4254500" y="3733800"/>
            <a:ext cx="9525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52A16AD1-EBB5-4DE8-819E-3A008FFD5148}"/>
              </a:ext>
            </a:extLst>
          </p:cNvPr>
          <p:cNvSpPr txBox="1"/>
          <p:nvPr/>
        </p:nvSpPr>
        <p:spPr>
          <a:xfrm>
            <a:off x="4305300" y="3797300"/>
            <a:ext cx="850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>
                <a:solidFill>
                  <a:srgbClr val="5F748F"/>
                </a:solidFill>
                <a:latin typeface="Aptos"/>
              </a:rPr>
              <a:t>6.88</a:t>
            </a:r>
            <a:endParaRPr lang="zh-TW" altLang="en-US" sz="810">
              <a:solidFill>
                <a:srgbClr val="5F748F"/>
              </a:solidFill>
              <a:latin typeface="Aptos"/>
            </a:endParaRPr>
          </a:p>
        </p:txBody>
      </p:sp>
      <p:sp>
        <p:nvSpPr>
          <p:cNvPr id="66" name="矩形: 圓角 65">
            <a:extLst>
              <a:ext uri="{FF2B5EF4-FFF2-40B4-BE49-F238E27FC236}">
                <a16:creationId xmlns:a16="http://schemas.microsoft.com/office/drawing/2014/main" id="{6C15BD52-57DC-4BB6-A918-037CF9C75A4A}"/>
              </a:ext>
            </a:extLst>
          </p:cNvPr>
          <p:cNvSpPr/>
          <p:nvPr/>
        </p:nvSpPr>
        <p:spPr>
          <a:xfrm>
            <a:off x="5207000" y="3733800"/>
            <a:ext cx="13335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D333357B-7BE6-492C-A92E-1E3908387D6F}"/>
              </a:ext>
            </a:extLst>
          </p:cNvPr>
          <p:cNvSpPr txBox="1"/>
          <p:nvPr/>
        </p:nvSpPr>
        <p:spPr>
          <a:xfrm>
            <a:off x="5257800" y="3797300"/>
            <a:ext cx="12319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>
                <a:solidFill>
                  <a:srgbClr val="5F748F"/>
                </a:solidFill>
                <a:latin typeface="Aptos"/>
              </a:rPr>
              <a:t>1722.5</a:t>
            </a:r>
            <a:endParaRPr lang="zh-TW" altLang="en-US" sz="810">
              <a:solidFill>
                <a:srgbClr val="5F748F"/>
              </a:solidFill>
              <a:latin typeface="Aptos"/>
            </a:endParaRPr>
          </a:p>
        </p:txBody>
      </p:sp>
      <p:sp>
        <p:nvSpPr>
          <p:cNvPr id="68" name="矩形: 圓角 67">
            <a:extLst>
              <a:ext uri="{FF2B5EF4-FFF2-40B4-BE49-F238E27FC236}">
                <a16:creationId xmlns:a16="http://schemas.microsoft.com/office/drawing/2014/main" id="{5F54D114-B197-4EF4-9279-A953A8BEF1A9}"/>
              </a:ext>
            </a:extLst>
          </p:cNvPr>
          <p:cNvSpPr/>
          <p:nvPr/>
        </p:nvSpPr>
        <p:spPr>
          <a:xfrm>
            <a:off x="6540500" y="3733800"/>
            <a:ext cx="1143000" cy="4572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A7B2BC4D-9D9D-468B-8B15-DB6F6BA77C31}"/>
              </a:ext>
            </a:extLst>
          </p:cNvPr>
          <p:cNvSpPr txBox="1"/>
          <p:nvPr/>
        </p:nvSpPr>
        <p:spPr>
          <a:xfrm>
            <a:off x="6591300" y="3797300"/>
            <a:ext cx="1041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810">
                <a:solidFill>
                  <a:srgbClr val="5F748F"/>
                </a:solidFill>
                <a:latin typeface="Aptos"/>
              </a:rPr>
              <a:t>0.018767</a:t>
            </a:r>
            <a:endParaRPr lang="zh-TW" altLang="en-US" sz="810">
              <a:solidFill>
                <a:srgbClr val="5F748F"/>
              </a:solidFill>
              <a:latin typeface="Aptos"/>
            </a:endParaRPr>
          </a:p>
        </p:txBody>
      </p:sp>
      <p:sp>
        <p:nvSpPr>
          <p:cNvPr id="70" name="矩形: 圓角 69">
            <a:extLst>
              <a:ext uri="{FF2B5EF4-FFF2-40B4-BE49-F238E27FC236}">
                <a16:creationId xmlns:a16="http://schemas.microsoft.com/office/drawing/2014/main" id="{5817B8C1-4718-41C1-9E65-EB2C47725A9D}"/>
              </a:ext>
            </a:extLst>
          </p:cNvPr>
          <p:cNvSpPr/>
          <p:nvPr/>
        </p:nvSpPr>
        <p:spPr>
          <a:xfrm>
            <a:off x="8255000" y="1905000"/>
            <a:ext cx="2794000" cy="27178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33861CC4-D421-422A-8FE6-EEB2F6276FA0}"/>
              </a:ext>
            </a:extLst>
          </p:cNvPr>
          <p:cNvSpPr/>
          <p:nvPr/>
        </p:nvSpPr>
        <p:spPr>
          <a:xfrm>
            <a:off x="8255000" y="1905000"/>
            <a:ext cx="50800" cy="2717800"/>
          </a:xfrm>
          <a:prstGeom prst="rect">
            <a:avLst/>
          </a:prstGeom>
          <a:solidFill>
            <a:srgbClr val="2F9D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7BD32A13-B011-42F3-8BE4-7E56B66812DA}"/>
              </a:ext>
            </a:extLst>
          </p:cNvPr>
          <p:cNvSpPr txBox="1"/>
          <p:nvPr/>
        </p:nvSpPr>
        <p:spPr>
          <a:xfrm>
            <a:off x="8445500" y="2057400"/>
            <a:ext cx="2413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1280" b="1">
                <a:solidFill>
                  <a:srgbClr val="2F9D64"/>
                </a:solidFill>
                <a:latin typeface="Microsoft JhengHei" panose="020B0604030504040204" pitchFamily="34" charset="-120"/>
              </a:rPr>
              <a:t>消融讀法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AC447450-C19D-4E9D-AF24-D0A22F751905}"/>
              </a:ext>
            </a:extLst>
          </p:cNvPr>
          <p:cNvSpPr/>
          <p:nvPr/>
        </p:nvSpPr>
        <p:spPr>
          <a:xfrm>
            <a:off x="8534400" y="2644140"/>
            <a:ext cx="86360" cy="8636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33726FE9-D7DE-4BE6-82C5-3C560C305C1D}"/>
              </a:ext>
            </a:extLst>
          </p:cNvPr>
          <p:cNvSpPr txBox="1"/>
          <p:nvPr/>
        </p:nvSpPr>
        <p:spPr>
          <a:xfrm>
            <a:off x="8705850" y="2578100"/>
            <a:ext cx="20574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930">
                <a:solidFill>
                  <a:srgbClr val="122033"/>
                </a:solidFill>
                <a:latin typeface="Microsoft JhengHei" panose="020B0604030504040204" pitchFamily="34" charset="-120"/>
              </a:rPr>
              <a:t>Full </a:t>
            </a:r>
            <a:r>
              <a:rPr lang="zh-TW" altLang="en-US" sz="930">
                <a:solidFill>
                  <a:srgbClr val="122033"/>
                </a:solidFill>
                <a:latin typeface="Microsoft JhengHei" panose="020B0604030504040204" pitchFamily="34" charset="-120"/>
              </a:rPr>
              <a:t>仍是最強設定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00960411-696D-46EB-9ED0-CCC31B619812}"/>
              </a:ext>
            </a:extLst>
          </p:cNvPr>
          <p:cNvSpPr/>
          <p:nvPr/>
        </p:nvSpPr>
        <p:spPr>
          <a:xfrm>
            <a:off x="8534400" y="3037840"/>
            <a:ext cx="86360" cy="8636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6" name="文字方塊 75">
            <a:extLst>
              <a:ext uri="{FF2B5EF4-FFF2-40B4-BE49-F238E27FC236}">
                <a16:creationId xmlns:a16="http://schemas.microsoft.com/office/drawing/2014/main" id="{724293C0-FCBF-45ED-85FB-E284BF04D53C}"/>
              </a:ext>
            </a:extLst>
          </p:cNvPr>
          <p:cNvSpPr txBox="1"/>
          <p:nvPr/>
        </p:nvSpPr>
        <p:spPr>
          <a:xfrm>
            <a:off x="8705850" y="2971800"/>
            <a:ext cx="20574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930">
                <a:solidFill>
                  <a:srgbClr val="122033"/>
                </a:solidFill>
                <a:latin typeface="Microsoft JhengHei" panose="020B0604030504040204" pitchFamily="34" charset="-120"/>
              </a:rPr>
              <a:t>w/o semantic </a:t>
            </a:r>
            <a:r>
              <a:rPr lang="zh-TW" altLang="en-US" sz="930">
                <a:solidFill>
                  <a:srgbClr val="122033"/>
                </a:solidFill>
                <a:latin typeface="Microsoft JhengHei" panose="020B0604030504040204" pitchFamily="34" charset="-120"/>
              </a:rPr>
              <a:t>的傷害最小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63EA01DD-FB04-4182-B52B-5471660007C9}"/>
              </a:ext>
            </a:extLst>
          </p:cNvPr>
          <p:cNvSpPr/>
          <p:nvPr/>
        </p:nvSpPr>
        <p:spPr>
          <a:xfrm>
            <a:off x="8534400" y="3431540"/>
            <a:ext cx="86360" cy="8636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8" name="文字方塊 77">
            <a:extLst>
              <a:ext uri="{FF2B5EF4-FFF2-40B4-BE49-F238E27FC236}">
                <a16:creationId xmlns:a16="http://schemas.microsoft.com/office/drawing/2014/main" id="{590D1E70-7068-49AA-AA78-7C815A8F34B3}"/>
              </a:ext>
            </a:extLst>
          </p:cNvPr>
          <p:cNvSpPr txBox="1"/>
          <p:nvPr/>
        </p:nvSpPr>
        <p:spPr>
          <a:xfrm>
            <a:off x="8705850" y="3365500"/>
            <a:ext cx="2057400" cy="88229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930">
                <a:solidFill>
                  <a:srgbClr val="122033"/>
                </a:solidFill>
                <a:latin typeface="Microsoft JhengHei" panose="020B0604030504040204" pitchFamily="34" charset="-120"/>
              </a:rPr>
              <a:t>w/o keyword </a:t>
            </a:r>
            <a:r>
              <a:rPr lang="zh-TW" altLang="en-US" sz="930">
                <a:solidFill>
                  <a:srgbClr val="122033"/>
                </a:solidFill>
                <a:latin typeface="Microsoft JhengHei" panose="020B0604030504040204" pitchFamily="34" charset="-120"/>
              </a:rPr>
              <a:t>與 </a:t>
            </a:r>
            <a:r>
              <a:rPr lang="en-US" altLang="zh-TW" sz="930">
                <a:solidFill>
                  <a:srgbClr val="122033"/>
                </a:solidFill>
                <a:latin typeface="Microsoft JhengHei" panose="020B0604030504040204" pitchFamily="34" charset="-120"/>
              </a:rPr>
              <a:t>w/o chunk_read </a:t>
            </a:r>
            <a:r>
              <a:rPr lang="zh-TW" altLang="en-US" sz="930">
                <a:solidFill>
                  <a:srgbClr val="122033"/>
                </a:solidFill>
                <a:latin typeface="Microsoft JhengHei" panose="020B0604030504040204" pitchFamily="34" charset="-120"/>
              </a:rPr>
              <a:t>下降最大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DC612CAA-66CB-44EE-8ED3-22C630E35D19}"/>
              </a:ext>
            </a:extLst>
          </p:cNvPr>
          <p:cNvSpPr/>
          <p:nvPr/>
        </p:nvSpPr>
        <p:spPr>
          <a:xfrm>
            <a:off x="8534400" y="3825240"/>
            <a:ext cx="86360" cy="8636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0" name="文字方塊 79">
            <a:extLst>
              <a:ext uri="{FF2B5EF4-FFF2-40B4-BE49-F238E27FC236}">
                <a16:creationId xmlns:a16="http://schemas.microsoft.com/office/drawing/2014/main" id="{3B33E1A0-33CE-458F-8823-9B6292F03A03}"/>
              </a:ext>
            </a:extLst>
          </p:cNvPr>
          <p:cNvSpPr txBox="1"/>
          <p:nvPr/>
        </p:nvSpPr>
        <p:spPr>
          <a:xfrm>
            <a:off x="8705850" y="3759200"/>
            <a:ext cx="2057400" cy="88229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930">
                <a:solidFill>
                  <a:srgbClr val="122033"/>
                </a:solidFill>
                <a:latin typeface="Microsoft JhengHei" panose="020B0604030504040204" pitchFamily="34" charset="-120"/>
              </a:rPr>
              <a:t>chunk_read </a:t>
            </a:r>
            <a:r>
              <a:rPr lang="zh-TW" altLang="en-US" sz="930">
                <a:solidFill>
                  <a:srgbClr val="122033"/>
                </a:solidFill>
                <a:latin typeface="Microsoft JhengHei" panose="020B0604030504040204" pitchFamily="34" charset="-120"/>
              </a:rPr>
              <a:t>少了會變便宜，但 </a:t>
            </a:r>
            <a:r>
              <a:rPr lang="en-US" altLang="zh-TW" sz="930">
                <a:solidFill>
                  <a:srgbClr val="122033"/>
                </a:solidFill>
                <a:latin typeface="Microsoft JhengHei" panose="020B0604030504040204" pitchFamily="34" charset="-120"/>
              </a:rPr>
              <a:t>accuracy </a:t>
            </a:r>
            <a:r>
              <a:rPr lang="zh-TW" altLang="en-US" sz="930">
                <a:solidFill>
                  <a:srgbClr val="122033"/>
                </a:solidFill>
                <a:latin typeface="Microsoft JhengHei" panose="020B0604030504040204" pitchFamily="34" charset="-120"/>
              </a:rPr>
              <a:t>掉最多</a:t>
            </a:r>
          </a:p>
        </p:txBody>
      </p:sp>
      <p:sp>
        <p:nvSpPr>
          <p:cNvPr id="81" name="文字方塊 80">
            <a:extLst>
              <a:ext uri="{FF2B5EF4-FFF2-40B4-BE49-F238E27FC236}">
                <a16:creationId xmlns:a16="http://schemas.microsoft.com/office/drawing/2014/main" id="{D8C633DD-A7EB-4CD8-A527-B4196381F213}"/>
              </a:ext>
            </a:extLst>
          </p:cNvPr>
          <p:cNvSpPr txBox="1"/>
          <p:nvPr/>
        </p:nvSpPr>
        <p:spPr>
          <a:xfrm>
            <a:off x="736600" y="5308600"/>
            <a:ext cx="9652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1200" b="1">
                <a:solidFill>
                  <a:srgbClr val="122033"/>
                </a:solidFill>
                <a:latin typeface="Microsoft JhengHei" panose="020B0604030504040204" pitchFamily="34" charset="-120"/>
              </a:rPr>
              <a:t>MuSiQue </a:t>
            </a:r>
            <a:r>
              <a:rPr lang="zh-TW" altLang="en-US" sz="1200" b="1">
                <a:solidFill>
                  <a:srgbClr val="122033"/>
                </a:solidFill>
                <a:latin typeface="Microsoft JhengHei" panose="020B0604030504040204" pitchFamily="34" charset="-120"/>
              </a:rPr>
              <a:t>消融支持主張：</a:t>
            </a:r>
            <a:r>
              <a:rPr lang="en-US" altLang="zh-TW" sz="1200" b="1">
                <a:solidFill>
                  <a:srgbClr val="122033"/>
                </a:solidFill>
                <a:latin typeface="Microsoft JhengHei" panose="020B0604030504040204" pitchFamily="34" charset="-120"/>
              </a:rPr>
              <a:t>A-RAG </a:t>
            </a:r>
            <a:r>
              <a:rPr lang="zh-TW" altLang="en-US" sz="1200" b="1">
                <a:solidFill>
                  <a:srgbClr val="122033"/>
                </a:solidFill>
                <a:latin typeface="Microsoft JhengHei" panose="020B0604030504040204" pitchFamily="34" charset="-120"/>
              </a:rPr>
              <a:t>的優勢來自 </a:t>
            </a:r>
            <a:r>
              <a:rPr lang="en-US" altLang="zh-TW" sz="1200" b="1">
                <a:solidFill>
                  <a:srgbClr val="122033"/>
                </a:solidFill>
                <a:latin typeface="Microsoft JhengHei" panose="020B0604030504040204" pitchFamily="34" charset="-120"/>
              </a:rPr>
              <a:t>hierarchical interface </a:t>
            </a:r>
            <a:r>
              <a:rPr lang="zh-TW" altLang="en-US" sz="1200" b="1">
                <a:solidFill>
                  <a:srgbClr val="122033"/>
                </a:solidFill>
                <a:latin typeface="Microsoft JhengHei" panose="020B0604030504040204" pitchFamily="34" charset="-120"/>
              </a:rPr>
              <a:t>的工具組合，而非單一 </a:t>
            </a:r>
            <a:r>
              <a:rPr lang="en-US" altLang="zh-TW" sz="1200" b="1">
                <a:solidFill>
                  <a:srgbClr val="122033"/>
                </a:solidFill>
                <a:latin typeface="Microsoft JhengHei" panose="020B0604030504040204" pitchFamily="34" charset="-120"/>
              </a:rPr>
              <a:t>retriever</a:t>
            </a:r>
            <a:r>
              <a:rPr lang="zh-TW" altLang="en-US" sz="1200" b="1">
                <a:solidFill>
                  <a:srgbClr val="122033"/>
                </a:solidFill>
                <a:latin typeface="Microsoft JhengHei" panose="020B0604030504040204" pitchFamily="34" charset="-12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156177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05C337C-2944-446F-8FC2-9FE4F675130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9754CAE-0BB7-4394-B4B4-8C882AE8EBD2}"/>
              </a:ext>
            </a:extLst>
          </p:cNvPr>
          <p:cNvSpPr/>
          <p:nvPr/>
        </p:nvSpPr>
        <p:spPr>
          <a:xfrm>
            <a:off x="114300" y="0"/>
            <a:ext cx="12077700" cy="6858000"/>
          </a:xfrm>
          <a:prstGeom prst="rect">
            <a:avLst/>
          </a:prstGeom>
          <a:solidFill>
            <a:srgbClr val="F6F8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DDAF14B-DB45-4434-89BE-B97BE730EA04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A5BFF73-161B-425B-9D60-D9DFB820C92F}"/>
              </a:ext>
            </a:extLst>
          </p:cNvPr>
          <p:cNvSpPr txBox="1"/>
          <p:nvPr/>
        </p:nvSpPr>
        <p:spPr>
          <a:xfrm>
            <a:off x="419100" y="228600"/>
            <a:ext cx="180975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900">
                <a:solidFill>
                  <a:srgbClr val="5F748F"/>
                </a:solidFill>
                <a:latin typeface="Aptos"/>
              </a:rPr>
              <a:t>A-RAG Paper Report</a:t>
            </a:r>
            <a:endParaRPr lang="zh-TW" altLang="en-US" sz="900">
              <a:solidFill>
                <a:srgbClr val="5F748F"/>
              </a:solidFill>
              <a:latin typeface="Aptos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49FFF20-A9DB-4A5A-8F26-C01223981CB3}"/>
              </a:ext>
            </a:extLst>
          </p:cNvPr>
          <p:cNvSpPr txBox="1"/>
          <p:nvPr/>
        </p:nvSpPr>
        <p:spPr>
          <a:xfrm>
            <a:off x="10572750" y="228600"/>
            <a:ext cx="104775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900">
                <a:solidFill>
                  <a:srgbClr val="8798AD"/>
                </a:solidFill>
                <a:latin typeface="Aptos"/>
              </a:rPr>
              <a:t>07 / 14</a:t>
            </a:r>
            <a:endParaRPr lang="zh-TW" altLang="en-US" sz="900">
              <a:solidFill>
                <a:srgbClr val="8798AD"/>
              </a:solidFill>
              <a:latin typeface="Apto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CBC4003-EC0F-427C-9BFC-3458BB18702B}"/>
              </a:ext>
            </a:extLst>
          </p:cNvPr>
          <p:cNvSpPr txBox="1"/>
          <p:nvPr/>
        </p:nvSpPr>
        <p:spPr>
          <a:xfrm>
            <a:off x="419100" y="552450"/>
            <a:ext cx="89535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視覺化結果：三資料集與消融差距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D1B0C94-02F9-46CD-97C0-0249235D7264}"/>
              </a:ext>
            </a:extLst>
          </p:cNvPr>
          <p:cNvSpPr/>
          <p:nvPr/>
        </p:nvSpPr>
        <p:spPr>
          <a:xfrm>
            <a:off x="419100" y="1104900"/>
            <a:ext cx="7429500" cy="1905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454D229-1B11-4989-BAB0-B7C922CFB99A}"/>
              </a:ext>
            </a:extLst>
          </p:cNvPr>
          <p:cNvSpPr txBox="1"/>
          <p:nvPr/>
        </p:nvSpPr>
        <p:spPr>
          <a:xfrm>
            <a:off x="419100" y="1238250"/>
            <a:ext cx="9652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用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bar chart 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快速呈現本地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Full 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結果，以及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MuSiQue 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消融造成的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LLM Accuracy drop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D27B2908-D6D3-471C-8106-82DEC776F5EF}"/>
              </a:ext>
            </a:extLst>
          </p:cNvPr>
          <p:cNvSpPr/>
          <p:nvPr/>
        </p:nvSpPr>
        <p:spPr>
          <a:xfrm>
            <a:off x="685800" y="1917700"/>
            <a:ext cx="4749800" cy="31115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1C2D309-8A65-4542-9F06-A8DB14F9DD4D}"/>
              </a:ext>
            </a:extLst>
          </p:cNvPr>
          <p:cNvSpPr/>
          <p:nvPr/>
        </p:nvSpPr>
        <p:spPr>
          <a:xfrm>
            <a:off x="685800" y="1917700"/>
            <a:ext cx="50800" cy="3111500"/>
          </a:xfrm>
          <a:prstGeom prst="rect">
            <a:avLst/>
          </a:prstGeom>
          <a:solidFill>
            <a:srgbClr val="2F9D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2E9B1A6-4D2A-4580-B952-2AC42F6EECCC}"/>
              </a:ext>
            </a:extLst>
          </p:cNvPr>
          <p:cNvSpPr txBox="1"/>
          <p:nvPr/>
        </p:nvSpPr>
        <p:spPr>
          <a:xfrm>
            <a:off x="876300" y="2070100"/>
            <a:ext cx="43688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1280" b="1">
                <a:solidFill>
                  <a:srgbClr val="2F9D64"/>
                </a:solidFill>
                <a:latin typeface="Microsoft JhengHei" panose="020B0604030504040204" pitchFamily="34" charset="-120"/>
              </a:rPr>
              <a:t>Your A-RAG Full LLM Accuracy</a:t>
            </a:r>
            <a:endParaRPr lang="zh-TW" altLang="en-US" sz="1280" b="1">
              <a:solidFill>
                <a:srgbClr val="2F9D64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66A930B-0B75-4CAD-8AC5-A896908E26CA}"/>
              </a:ext>
            </a:extLst>
          </p:cNvPr>
          <p:cNvSpPr txBox="1"/>
          <p:nvPr/>
        </p:nvSpPr>
        <p:spPr>
          <a:xfrm>
            <a:off x="990600" y="2527300"/>
            <a:ext cx="1397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880">
                <a:solidFill>
                  <a:srgbClr val="5F748F"/>
                </a:solidFill>
                <a:latin typeface="Aptos"/>
              </a:rPr>
              <a:t>MuSiQue</a:t>
            </a:r>
            <a:endParaRPr lang="zh-TW" altLang="en-US" sz="880">
              <a:solidFill>
                <a:srgbClr val="5F748F"/>
              </a:solidFill>
              <a:latin typeface="Aptos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B5EABC6-3832-4B91-8BF5-CAFE6AF80887}"/>
              </a:ext>
            </a:extLst>
          </p:cNvPr>
          <p:cNvSpPr/>
          <p:nvPr/>
        </p:nvSpPr>
        <p:spPr>
          <a:xfrm>
            <a:off x="2489200" y="2565400"/>
            <a:ext cx="1864360" cy="177800"/>
          </a:xfrm>
          <a:prstGeom prst="rect">
            <a:avLst/>
          </a:prstGeom>
          <a:solidFill>
            <a:srgbClr val="2F9D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C97F3E24-B331-4EEE-ACE5-851DDC276733}"/>
              </a:ext>
            </a:extLst>
          </p:cNvPr>
          <p:cNvSpPr txBox="1"/>
          <p:nvPr/>
        </p:nvSpPr>
        <p:spPr>
          <a:xfrm>
            <a:off x="4429760" y="2514600"/>
            <a:ext cx="6350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840" b="1">
                <a:solidFill>
                  <a:srgbClr val="122033"/>
                </a:solidFill>
                <a:latin typeface="Aptos"/>
              </a:rPr>
              <a:t>87.9%</a:t>
            </a:r>
            <a:endParaRPr lang="zh-TW" altLang="en-US" sz="840" b="1">
              <a:solidFill>
                <a:srgbClr val="122033"/>
              </a:solidFill>
              <a:latin typeface="Aptos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640C2995-679F-492B-A98B-E768835BB674}"/>
              </a:ext>
            </a:extLst>
          </p:cNvPr>
          <p:cNvSpPr txBox="1"/>
          <p:nvPr/>
        </p:nvSpPr>
        <p:spPr>
          <a:xfrm>
            <a:off x="990600" y="2959100"/>
            <a:ext cx="1397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880">
                <a:solidFill>
                  <a:srgbClr val="5F748F"/>
                </a:solidFill>
                <a:latin typeface="Aptos"/>
              </a:rPr>
              <a:t>HotpotQA</a:t>
            </a:r>
            <a:endParaRPr lang="zh-TW" altLang="en-US" sz="880">
              <a:solidFill>
                <a:srgbClr val="5F748F"/>
              </a:solidFill>
              <a:latin typeface="Aptos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0F69D89-9D48-423E-A66C-75F25F752BD7}"/>
              </a:ext>
            </a:extLst>
          </p:cNvPr>
          <p:cNvSpPr/>
          <p:nvPr/>
        </p:nvSpPr>
        <p:spPr>
          <a:xfrm>
            <a:off x="2489200" y="2997200"/>
            <a:ext cx="2057400" cy="17780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DA54E261-6EA0-4FA5-B822-D1EF21C8F999}"/>
              </a:ext>
            </a:extLst>
          </p:cNvPr>
          <p:cNvSpPr txBox="1"/>
          <p:nvPr/>
        </p:nvSpPr>
        <p:spPr>
          <a:xfrm>
            <a:off x="4622800" y="2946400"/>
            <a:ext cx="6350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840" b="1">
                <a:solidFill>
                  <a:srgbClr val="122033"/>
                </a:solidFill>
                <a:latin typeface="Aptos"/>
              </a:rPr>
              <a:t>97.0%</a:t>
            </a:r>
            <a:endParaRPr lang="zh-TW" altLang="en-US" sz="840" b="1">
              <a:solidFill>
                <a:srgbClr val="122033"/>
              </a:solidFill>
              <a:latin typeface="Aptos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E0A1E9C4-C3C4-4285-8874-31217F96A327}"/>
              </a:ext>
            </a:extLst>
          </p:cNvPr>
          <p:cNvSpPr txBox="1"/>
          <p:nvPr/>
        </p:nvSpPr>
        <p:spPr>
          <a:xfrm>
            <a:off x="990600" y="3390900"/>
            <a:ext cx="1397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880">
                <a:solidFill>
                  <a:srgbClr val="5F748F"/>
                </a:solidFill>
                <a:latin typeface="Aptos"/>
              </a:rPr>
              <a:t>2Wiki</a:t>
            </a:r>
            <a:endParaRPr lang="zh-TW" altLang="en-US" sz="880">
              <a:solidFill>
                <a:srgbClr val="5F748F"/>
              </a:solidFill>
              <a:latin typeface="Aptos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C93181A-0844-4DAD-BB13-0585DA3AE711}"/>
              </a:ext>
            </a:extLst>
          </p:cNvPr>
          <p:cNvSpPr/>
          <p:nvPr/>
        </p:nvSpPr>
        <p:spPr>
          <a:xfrm>
            <a:off x="2489200" y="3429000"/>
            <a:ext cx="2057400" cy="17780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B8EF4919-2535-4EF6-99BD-F20283CC717B}"/>
              </a:ext>
            </a:extLst>
          </p:cNvPr>
          <p:cNvSpPr txBox="1"/>
          <p:nvPr/>
        </p:nvSpPr>
        <p:spPr>
          <a:xfrm>
            <a:off x="4622800" y="3378200"/>
            <a:ext cx="6350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840" b="1">
                <a:solidFill>
                  <a:srgbClr val="122033"/>
                </a:solidFill>
                <a:latin typeface="Aptos"/>
              </a:rPr>
              <a:t>97.0%</a:t>
            </a:r>
            <a:endParaRPr lang="zh-TW" altLang="en-US" sz="840" b="1">
              <a:solidFill>
                <a:srgbClr val="122033"/>
              </a:solidFill>
              <a:latin typeface="Aptos"/>
            </a:endParaRP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C2304B31-8600-4E99-9034-843CAF8CC566}"/>
              </a:ext>
            </a:extLst>
          </p:cNvPr>
          <p:cNvSpPr/>
          <p:nvPr/>
        </p:nvSpPr>
        <p:spPr>
          <a:xfrm>
            <a:off x="6184900" y="1917700"/>
            <a:ext cx="4749800" cy="31115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B45C986-9517-4C9C-B0EE-D328EE8CEB9D}"/>
              </a:ext>
            </a:extLst>
          </p:cNvPr>
          <p:cNvSpPr/>
          <p:nvPr/>
        </p:nvSpPr>
        <p:spPr>
          <a:xfrm>
            <a:off x="6184900" y="1917700"/>
            <a:ext cx="50800" cy="3111500"/>
          </a:xfrm>
          <a:prstGeom prst="rect">
            <a:avLst/>
          </a:prstGeom>
          <a:solidFill>
            <a:srgbClr val="2F9D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E4C5045E-F484-4D2A-AC2B-A7D14B1E8B0E}"/>
              </a:ext>
            </a:extLst>
          </p:cNvPr>
          <p:cNvSpPr txBox="1"/>
          <p:nvPr/>
        </p:nvSpPr>
        <p:spPr>
          <a:xfrm>
            <a:off x="6375400" y="2070100"/>
            <a:ext cx="43688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1280" b="1">
                <a:solidFill>
                  <a:srgbClr val="2F9D64"/>
                </a:solidFill>
                <a:latin typeface="Microsoft JhengHei" panose="020B0604030504040204" pitchFamily="34" charset="-120"/>
              </a:rPr>
              <a:t>MuSiQue Ablation</a:t>
            </a:r>
            <a:endParaRPr lang="zh-TW" altLang="en-US" sz="1280" b="1">
              <a:solidFill>
                <a:srgbClr val="2F9D64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AE51C626-BC87-478B-947D-E2C078E0707F}"/>
              </a:ext>
            </a:extLst>
          </p:cNvPr>
          <p:cNvSpPr txBox="1"/>
          <p:nvPr/>
        </p:nvSpPr>
        <p:spPr>
          <a:xfrm>
            <a:off x="6489700" y="2527300"/>
            <a:ext cx="1397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880">
                <a:solidFill>
                  <a:srgbClr val="5F748F"/>
                </a:solidFill>
                <a:latin typeface="Aptos"/>
              </a:rPr>
              <a:t>Full</a:t>
            </a:r>
            <a:endParaRPr lang="zh-TW" altLang="en-US" sz="880">
              <a:solidFill>
                <a:srgbClr val="5F748F"/>
              </a:solidFill>
              <a:latin typeface="Aptos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932D175-8397-4535-9735-8D04E405D56F}"/>
              </a:ext>
            </a:extLst>
          </p:cNvPr>
          <p:cNvSpPr/>
          <p:nvPr/>
        </p:nvSpPr>
        <p:spPr>
          <a:xfrm>
            <a:off x="7988300" y="2565400"/>
            <a:ext cx="1864360" cy="177800"/>
          </a:xfrm>
          <a:prstGeom prst="rect">
            <a:avLst/>
          </a:prstGeom>
          <a:solidFill>
            <a:srgbClr val="2F9D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4FD1055C-B718-4AD3-8045-ABE405C3D2EB}"/>
              </a:ext>
            </a:extLst>
          </p:cNvPr>
          <p:cNvSpPr txBox="1"/>
          <p:nvPr/>
        </p:nvSpPr>
        <p:spPr>
          <a:xfrm>
            <a:off x="9928860" y="2514600"/>
            <a:ext cx="6350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840" b="1">
                <a:solidFill>
                  <a:srgbClr val="122033"/>
                </a:solidFill>
                <a:latin typeface="Aptos"/>
              </a:rPr>
              <a:t>87.9%</a:t>
            </a:r>
            <a:endParaRPr lang="zh-TW" altLang="en-US" sz="840" b="1">
              <a:solidFill>
                <a:srgbClr val="122033"/>
              </a:solidFill>
              <a:latin typeface="Aptos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D102BADF-6F1C-43F8-9980-AB0E05626CE9}"/>
              </a:ext>
            </a:extLst>
          </p:cNvPr>
          <p:cNvSpPr txBox="1"/>
          <p:nvPr/>
        </p:nvSpPr>
        <p:spPr>
          <a:xfrm>
            <a:off x="6489700" y="2959100"/>
            <a:ext cx="1397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880">
                <a:solidFill>
                  <a:srgbClr val="5F748F"/>
                </a:solidFill>
                <a:latin typeface="Aptos"/>
              </a:rPr>
              <a:t>w/o semantic</a:t>
            </a:r>
            <a:endParaRPr lang="zh-TW" altLang="en-US" sz="880">
              <a:solidFill>
                <a:srgbClr val="5F748F"/>
              </a:solidFill>
              <a:latin typeface="Aptos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7809004-5366-40E0-A9D1-EFA8AE9589B0}"/>
              </a:ext>
            </a:extLst>
          </p:cNvPr>
          <p:cNvSpPr/>
          <p:nvPr/>
        </p:nvSpPr>
        <p:spPr>
          <a:xfrm>
            <a:off x="7988300" y="2997200"/>
            <a:ext cx="1579880" cy="17780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28BF40DF-0F39-4F2B-AA8D-7FBD4ECCBC3C}"/>
              </a:ext>
            </a:extLst>
          </p:cNvPr>
          <p:cNvSpPr txBox="1"/>
          <p:nvPr/>
        </p:nvSpPr>
        <p:spPr>
          <a:xfrm>
            <a:off x="9644380" y="2946400"/>
            <a:ext cx="6350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840" b="1">
                <a:solidFill>
                  <a:srgbClr val="122033"/>
                </a:solidFill>
                <a:latin typeface="Aptos"/>
              </a:rPr>
              <a:t>74.5%</a:t>
            </a:r>
            <a:endParaRPr lang="zh-TW" altLang="en-US" sz="840" b="1">
              <a:solidFill>
                <a:srgbClr val="122033"/>
              </a:solidFill>
              <a:latin typeface="Aptos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C4BF3AD6-DB39-4BB9-B1F1-378A674BD7E5}"/>
              </a:ext>
            </a:extLst>
          </p:cNvPr>
          <p:cNvSpPr txBox="1"/>
          <p:nvPr/>
        </p:nvSpPr>
        <p:spPr>
          <a:xfrm>
            <a:off x="6489700" y="3390900"/>
            <a:ext cx="1397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880">
                <a:solidFill>
                  <a:srgbClr val="5F748F"/>
                </a:solidFill>
                <a:latin typeface="Aptos"/>
              </a:rPr>
              <a:t>w/o keyword</a:t>
            </a:r>
            <a:endParaRPr lang="zh-TW" altLang="en-US" sz="880">
              <a:solidFill>
                <a:srgbClr val="5F748F"/>
              </a:solidFill>
              <a:latin typeface="Aptos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A367860-DB28-4435-B778-1F2D460CFC49}"/>
              </a:ext>
            </a:extLst>
          </p:cNvPr>
          <p:cNvSpPr/>
          <p:nvPr/>
        </p:nvSpPr>
        <p:spPr>
          <a:xfrm>
            <a:off x="7988300" y="3429000"/>
            <a:ext cx="1435100" cy="17780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99AECC29-481D-4DF7-A8D1-9194EB83FBB6}"/>
              </a:ext>
            </a:extLst>
          </p:cNvPr>
          <p:cNvSpPr txBox="1"/>
          <p:nvPr/>
        </p:nvSpPr>
        <p:spPr>
          <a:xfrm>
            <a:off x="9499600" y="3378200"/>
            <a:ext cx="6350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840" b="1">
                <a:solidFill>
                  <a:srgbClr val="122033"/>
                </a:solidFill>
                <a:latin typeface="Aptos"/>
              </a:rPr>
              <a:t>67.7%</a:t>
            </a:r>
            <a:endParaRPr lang="zh-TW" altLang="en-US" sz="840" b="1">
              <a:solidFill>
                <a:srgbClr val="122033"/>
              </a:solidFill>
              <a:latin typeface="Aptos"/>
            </a:endParaRP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BC9BDD10-693D-48F2-B744-8902C096EC7B}"/>
              </a:ext>
            </a:extLst>
          </p:cNvPr>
          <p:cNvSpPr txBox="1"/>
          <p:nvPr/>
        </p:nvSpPr>
        <p:spPr>
          <a:xfrm>
            <a:off x="6489700" y="3822700"/>
            <a:ext cx="13970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880">
                <a:solidFill>
                  <a:srgbClr val="5F748F"/>
                </a:solidFill>
                <a:latin typeface="Aptos"/>
              </a:rPr>
              <a:t>w/o chunk_read</a:t>
            </a:r>
            <a:endParaRPr lang="zh-TW" altLang="en-US" sz="880">
              <a:solidFill>
                <a:srgbClr val="5F748F"/>
              </a:solidFill>
              <a:latin typeface="Aptos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8176136-C4D7-4ED6-9445-93B5DF3ABF97}"/>
              </a:ext>
            </a:extLst>
          </p:cNvPr>
          <p:cNvSpPr/>
          <p:nvPr/>
        </p:nvSpPr>
        <p:spPr>
          <a:xfrm>
            <a:off x="7988300" y="3860800"/>
            <a:ext cx="1393190" cy="17780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F8F8F9C3-43DA-4B1E-85A2-35788BB6A745}"/>
              </a:ext>
            </a:extLst>
          </p:cNvPr>
          <p:cNvSpPr txBox="1"/>
          <p:nvPr/>
        </p:nvSpPr>
        <p:spPr>
          <a:xfrm>
            <a:off x="9457690" y="3810000"/>
            <a:ext cx="6350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840" b="1">
                <a:solidFill>
                  <a:srgbClr val="122033"/>
                </a:solidFill>
                <a:latin typeface="Aptos"/>
              </a:rPr>
              <a:t>65.7%</a:t>
            </a:r>
            <a:endParaRPr lang="zh-TW" altLang="en-US" sz="840" b="1">
              <a:solidFill>
                <a:srgbClr val="122033"/>
              </a:solidFill>
              <a:latin typeface="Aptos"/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0C101CF6-2416-4D67-94D3-12F3C11341C5}"/>
              </a:ext>
            </a:extLst>
          </p:cNvPr>
          <p:cNvSpPr txBox="1"/>
          <p:nvPr/>
        </p:nvSpPr>
        <p:spPr>
          <a:xfrm>
            <a:off x="857250" y="5397500"/>
            <a:ext cx="97155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1200" b="1">
                <a:solidFill>
                  <a:srgbClr val="122033"/>
                </a:solidFill>
                <a:latin typeface="Microsoft JhengHei" panose="020B0604030504040204" pitchFamily="34" charset="-120"/>
              </a:rPr>
              <a:t>圖上可講的重點：三資料集 </a:t>
            </a:r>
            <a:r>
              <a:rPr lang="en-US" altLang="zh-TW" sz="1200" b="1">
                <a:solidFill>
                  <a:srgbClr val="122033"/>
                </a:solidFill>
                <a:latin typeface="Microsoft JhengHei" panose="020B0604030504040204" pitchFamily="34" charset="-120"/>
              </a:rPr>
              <a:t>Full </a:t>
            </a:r>
            <a:r>
              <a:rPr lang="zh-TW" altLang="en-US" sz="1200" b="1">
                <a:solidFill>
                  <a:srgbClr val="122033"/>
                </a:solidFill>
                <a:latin typeface="Microsoft JhengHei" panose="020B0604030504040204" pitchFamily="34" charset="-120"/>
              </a:rPr>
              <a:t>都接近或超過 </a:t>
            </a:r>
            <a:r>
              <a:rPr lang="en-US" altLang="zh-TW" sz="1200" b="1">
                <a:solidFill>
                  <a:srgbClr val="122033"/>
                </a:solidFill>
                <a:latin typeface="Microsoft JhengHei" panose="020B0604030504040204" pitchFamily="34" charset="-120"/>
              </a:rPr>
              <a:t>88%</a:t>
            </a:r>
            <a:r>
              <a:rPr lang="zh-TW" altLang="en-US" sz="1200" b="1">
                <a:solidFill>
                  <a:srgbClr val="122033"/>
                </a:solidFill>
                <a:latin typeface="Microsoft JhengHei" panose="020B0604030504040204" pitchFamily="34" charset="-120"/>
              </a:rPr>
              <a:t>；</a:t>
            </a:r>
            <a:r>
              <a:rPr lang="en-US" altLang="zh-TW" sz="1200" b="1">
                <a:solidFill>
                  <a:srgbClr val="122033"/>
                </a:solidFill>
                <a:latin typeface="Microsoft JhengHei" panose="020B0604030504040204" pitchFamily="34" charset="-120"/>
              </a:rPr>
              <a:t>MuSiQue </a:t>
            </a:r>
            <a:r>
              <a:rPr lang="zh-TW" altLang="en-US" sz="1200" b="1">
                <a:solidFill>
                  <a:srgbClr val="122033"/>
                </a:solidFill>
                <a:latin typeface="Microsoft JhengHei" panose="020B0604030504040204" pitchFamily="34" charset="-120"/>
              </a:rPr>
              <a:t>中 </a:t>
            </a:r>
            <a:r>
              <a:rPr lang="en-US" altLang="zh-TW" sz="1200" b="1">
                <a:solidFill>
                  <a:srgbClr val="122033"/>
                </a:solidFill>
                <a:latin typeface="Microsoft JhengHei" panose="020B0604030504040204" pitchFamily="34" charset="-120"/>
              </a:rPr>
              <a:t>keyword_search </a:t>
            </a:r>
            <a:r>
              <a:rPr lang="zh-TW" altLang="en-US" sz="1200" b="1">
                <a:solidFill>
                  <a:srgbClr val="122033"/>
                </a:solidFill>
                <a:latin typeface="Microsoft JhengHei" panose="020B0604030504040204" pitchFamily="34" charset="-120"/>
              </a:rPr>
              <a:t>與 </a:t>
            </a:r>
            <a:r>
              <a:rPr lang="en-US" altLang="zh-TW" sz="1200" b="1">
                <a:solidFill>
                  <a:srgbClr val="122033"/>
                </a:solidFill>
                <a:latin typeface="Microsoft JhengHei" panose="020B0604030504040204" pitchFamily="34" charset="-120"/>
              </a:rPr>
              <a:t>chunk_read </a:t>
            </a:r>
            <a:r>
              <a:rPr lang="zh-TW" altLang="en-US" sz="1200" b="1">
                <a:solidFill>
                  <a:srgbClr val="122033"/>
                </a:solidFill>
                <a:latin typeface="Microsoft JhengHei" panose="020B0604030504040204" pitchFamily="34" charset="-120"/>
              </a:rPr>
              <a:t>的移除最傷。</a:t>
            </a:r>
          </a:p>
        </p:txBody>
      </p:sp>
    </p:spTree>
    <p:extLst>
      <p:ext uri="{BB962C8B-B14F-4D97-AF65-F5344CB8AC3E}">
        <p14:creationId xmlns:p14="http://schemas.microsoft.com/office/powerpoint/2010/main" val="3672912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69C262A-48D6-4D3A-9513-0BC9F2359E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871AAE5-BF99-409F-87C5-859BD19C5928}"/>
              </a:ext>
            </a:extLst>
          </p:cNvPr>
          <p:cNvSpPr/>
          <p:nvPr/>
        </p:nvSpPr>
        <p:spPr>
          <a:xfrm>
            <a:off x="114300" y="0"/>
            <a:ext cx="12077700" cy="6858000"/>
          </a:xfrm>
          <a:prstGeom prst="rect">
            <a:avLst/>
          </a:prstGeom>
          <a:solidFill>
            <a:srgbClr val="F6F8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FD0EFDD-0BCE-47C1-B2A5-F4EB6A8D73F2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2A6A34D-0874-4DE4-A7DC-930D1BF9E460}"/>
              </a:ext>
            </a:extLst>
          </p:cNvPr>
          <p:cNvSpPr txBox="1"/>
          <p:nvPr/>
        </p:nvSpPr>
        <p:spPr>
          <a:xfrm>
            <a:off x="419100" y="228600"/>
            <a:ext cx="180975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900">
                <a:solidFill>
                  <a:srgbClr val="5F748F"/>
                </a:solidFill>
                <a:latin typeface="Microsoft JhengHei" panose="020B0604030504040204" pitchFamily="34" charset="-120"/>
              </a:rPr>
              <a:t>A-RAG Paper Report</a:t>
            </a:r>
            <a:endParaRPr lang="zh-TW" altLang="en-US" sz="900">
              <a:solidFill>
                <a:srgbClr val="5F748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4678516-C8CD-4D0C-A2A5-666FF93B45AC}"/>
              </a:ext>
            </a:extLst>
          </p:cNvPr>
          <p:cNvSpPr txBox="1"/>
          <p:nvPr/>
        </p:nvSpPr>
        <p:spPr>
          <a:xfrm>
            <a:off x="10572750" y="228600"/>
            <a:ext cx="104775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TW" sz="900">
                <a:solidFill>
                  <a:srgbClr val="5F748F"/>
                </a:solidFill>
                <a:latin typeface="Microsoft JhengHei" panose="020B0604030504040204" pitchFamily="34" charset="-120"/>
              </a:rPr>
              <a:t>08 / 14</a:t>
            </a:r>
            <a:endParaRPr lang="zh-TW" altLang="en-US" sz="900">
              <a:solidFill>
                <a:srgbClr val="5F748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39A0E86-BDC4-4AEA-87BC-BA27D07EB5E4}"/>
              </a:ext>
            </a:extLst>
          </p:cNvPr>
          <p:cNvSpPr txBox="1"/>
          <p:nvPr/>
        </p:nvSpPr>
        <p:spPr>
          <a:xfrm>
            <a:off x="419100" y="552450"/>
            <a:ext cx="965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延伸驗證：三個可測的提問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5B654AF-B545-41E8-8926-BE5489CA4CF9}"/>
              </a:ext>
            </a:extLst>
          </p:cNvPr>
          <p:cNvSpPr/>
          <p:nvPr/>
        </p:nvSpPr>
        <p:spPr>
          <a:xfrm>
            <a:off x="419100" y="1104900"/>
            <a:ext cx="7429500" cy="1905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E0393D9-EA7F-495B-90D2-8B0C7265827D}"/>
              </a:ext>
            </a:extLst>
          </p:cNvPr>
          <p:cNvSpPr txBox="1"/>
          <p:nvPr/>
        </p:nvSpPr>
        <p:spPr>
          <a:xfrm>
            <a:off x="419100" y="1238250"/>
            <a:ext cx="10287000" cy="1723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我把評論轉成可重跑的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100 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題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MuSiQue 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對照實驗，而不是只提出概念性質疑。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59BE0B98-C74D-4FBC-876F-F2F0DAD0CD7D}"/>
              </a:ext>
            </a:extLst>
          </p:cNvPr>
          <p:cNvSpPr/>
          <p:nvPr/>
        </p:nvSpPr>
        <p:spPr>
          <a:xfrm>
            <a:off x="698500" y="1841500"/>
            <a:ext cx="10541000" cy="91440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4097C81-D0FD-4BF2-93E4-AAE9CAB8DACE}"/>
              </a:ext>
            </a:extLst>
          </p:cNvPr>
          <p:cNvSpPr/>
          <p:nvPr/>
        </p:nvSpPr>
        <p:spPr>
          <a:xfrm>
            <a:off x="698500" y="1841500"/>
            <a:ext cx="50800" cy="914400"/>
          </a:xfrm>
          <a:prstGeom prst="rect">
            <a:avLst/>
          </a:prstGeom>
          <a:solidFill>
            <a:srgbClr val="2F9D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5CC8931-974C-4A79-A4B3-1E22C1218B33}"/>
              </a:ext>
            </a:extLst>
          </p:cNvPr>
          <p:cNvSpPr txBox="1"/>
          <p:nvPr/>
        </p:nvSpPr>
        <p:spPr>
          <a:xfrm>
            <a:off x="939800" y="1968500"/>
            <a:ext cx="3429000" cy="2031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1320" b="1">
                <a:solidFill>
                  <a:srgbClr val="122033"/>
                </a:solidFill>
                <a:latin typeface="Microsoft JhengHei" panose="020B0604030504040204" pitchFamily="34" charset="-120"/>
              </a:rPr>
              <a:t>Q1 </a:t>
            </a:r>
            <a:r>
              <a:rPr lang="zh-TW" altLang="en-US" sz="1320" b="1">
                <a:solidFill>
                  <a:srgbClr val="122033"/>
                </a:solidFill>
                <a:latin typeface="Microsoft JhengHei" panose="020B0604030504040204" pitchFamily="34" charset="-120"/>
              </a:rPr>
              <a:t>檢索資源是否不公平？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67D35015-9F6C-4C83-917D-F7D6D244A2D2}"/>
              </a:ext>
            </a:extLst>
          </p:cNvPr>
          <p:cNvSpPr txBox="1"/>
          <p:nvPr/>
        </p:nvSpPr>
        <p:spPr>
          <a:xfrm>
            <a:off x="4635500" y="1968500"/>
            <a:ext cx="6032500" cy="1585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1030">
                <a:solidFill>
                  <a:srgbClr val="5F748F"/>
                </a:solidFill>
                <a:latin typeface="Microsoft JhengHei" panose="020B0604030504040204" pitchFamily="34" charset="-120"/>
              </a:rPr>
              <a:t>若 </a:t>
            </a:r>
            <a:r>
              <a:rPr lang="en-US" altLang="zh-TW" sz="1030">
                <a:solidFill>
                  <a:srgbClr val="5F748F"/>
                </a:solidFill>
                <a:latin typeface="Microsoft JhengHei" panose="020B0604030504040204" pitchFamily="34" charset="-120"/>
              </a:rPr>
              <a:t>Naive RAG </a:t>
            </a:r>
            <a:r>
              <a:rPr lang="zh-TW" altLang="en-US" sz="1030">
                <a:solidFill>
                  <a:srgbClr val="5F748F"/>
                </a:solidFill>
                <a:latin typeface="Microsoft JhengHei" panose="020B0604030504040204" pitchFamily="34" charset="-120"/>
              </a:rPr>
              <a:t>也拿到長 </a:t>
            </a:r>
            <a:r>
              <a:rPr lang="en-US" altLang="zh-TW" sz="1030">
                <a:solidFill>
                  <a:srgbClr val="5F748F"/>
                </a:solidFill>
                <a:latin typeface="Microsoft JhengHei" panose="020B0604030504040204" pitchFamily="34" charset="-120"/>
              </a:rPr>
              <a:t>context</a:t>
            </a:r>
            <a:r>
              <a:rPr lang="zh-TW" altLang="en-US" sz="1030">
                <a:solidFill>
                  <a:srgbClr val="5F748F"/>
                </a:solidFill>
                <a:latin typeface="Microsoft JhengHei" panose="020B0604030504040204" pitchFamily="34" charset="-120"/>
              </a:rPr>
              <a:t>，是否能追上 </a:t>
            </a:r>
            <a:r>
              <a:rPr lang="en-US" altLang="zh-TW" sz="1030">
                <a:solidFill>
                  <a:srgbClr val="5F748F"/>
                </a:solidFill>
                <a:latin typeface="Microsoft JhengHei" panose="020B0604030504040204" pitchFamily="34" charset="-120"/>
              </a:rPr>
              <a:t>A-RAG</a:t>
            </a:r>
            <a:r>
              <a:rPr lang="zh-TW" altLang="en-US" sz="1030">
                <a:solidFill>
                  <a:srgbClr val="5F748F"/>
                </a:solidFill>
                <a:latin typeface="Microsoft JhengHei" panose="020B0604030504040204" pitchFamily="34" charset="-120"/>
              </a:rPr>
              <a:t>？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1634CF29-4338-47F9-BE1A-D6D9618BBDD1}"/>
              </a:ext>
            </a:extLst>
          </p:cNvPr>
          <p:cNvSpPr txBox="1"/>
          <p:nvPr/>
        </p:nvSpPr>
        <p:spPr>
          <a:xfrm>
            <a:off x="4635500" y="2336800"/>
            <a:ext cx="60325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940" b="1">
                <a:solidFill>
                  <a:srgbClr val="2F9D64"/>
                </a:solidFill>
                <a:latin typeface="Microsoft JhengHei" panose="020B0604030504040204" pitchFamily="34" charset="-120"/>
              </a:rPr>
              <a:t>對照：</a:t>
            </a:r>
            <a:r>
              <a:rPr lang="en-US" altLang="zh-TW" sz="940" b="1">
                <a:solidFill>
                  <a:srgbClr val="2F9D64"/>
                </a:solidFill>
                <a:latin typeface="Microsoft JhengHei" panose="020B0604030504040204" pitchFamily="34" charset="-120"/>
              </a:rPr>
              <a:t>Naive vs Long-context Naive vs A-RAG Full</a:t>
            </a:r>
            <a:endParaRPr lang="zh-TW" altLang="en-US" sz="940" b="1">
              <a:solidFill>
                <a:srgbClr val="2F9D64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D42D74EC-4BA0-4E29-BCFE-5F7ED1948F85}"/>
              </a:ext>
            </a:extLst>
          </p:cNvPr>
          <p:cNvSpPr/>
          <p:nvPr/>
        </p:nvSpPr>
        <p:spPr>
          <a:xfrm>
            <a:off x="698500" y="3009900"/>
            <a:ext cx="10541000" cy="91440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18AD6EF-C68A-4CB4-98A0-CC974DA0FD26}"/>
              </a:ext>
            </a:extLst>
          </p:cNvPr>
          <p:cNvSpPr/>
          <p:nvPr/>
        </p:nvSpPr>
        <p:spPr>
          <a:xfrm>
            <a:off x="698500" y="3009900"/>
            <a:ext cx="50800" cy="91440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B0A3EACB-FD9B-4F2F-9EB2-A7B1E0E35FEC}"/>
              </a:ext>
            </a:extLst>
          </p:cNvPr>
          <p:cNvSpPr txBox="1"/>
          <p:nvPr/>
        </p:nvSpPr>
        <p:spPr>
          <a:xfrm>
            <a:off x="939800" y="3136900"/>
            <a:ext cx="3429000" cy="2031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1320" b="1">
                <a:solidFill>
                  <a:srgbClr val="122033"/>
                </a:solidFill>
                <a:latin typeface="Microsoft JhengHei" panose="020B0604030504040204" pitchFamily="34" charset="-120"/>
              </a:rPr>
              <a:t>Q2 Context Efficiency </a:t>
            </a:r>
            <a:r>
              <a:rPr lang="zh-TW" altLang="en-US" sz="1320" b="1">
                <a:solidFill>
                  <a:srgbClr val="122033"/>
                </a:solidFill>
                <a:latin typeface="Microsoft JhengHei" panose="020B0604030504040204" pitchFamily="34" charset="-120"/>
              </a:rPr>
              <a:t>是否低估成本？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94A48ED8-D1AE-4734-91B3-BAE99E94995C}"/>
              </a:ext>
            </a:extLst>
          </p:cNvPr>
          <p:cNvSpPr txBox="1"/>
          <p:nvPr/>
        </p:nvSpPr>
        <p:spPr>
          <a:xfrm>
            <a:off x="4635500" y="3136900"/>
            <a:ext cx="6032500" cy="1585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1030">
                <a:solidFill>
                  <a:srgbClr val="5F748F"/>
                </a:solidFill>
                <a:latin typeface="Microsoft JhengHei" panose="020B0604030504040204" pitchFamily="34" charset="-120"/>
              </a:rPr>
              <a:t>A-RAG </a:t>
            </a:r>
            <a:r>
              <a:rPr lang="zh-TW" altLang="en-US" sz="1030">
                <a:solidFill>
                  <a:srgbClr val="5F748F"/>
                </a:solidFill>
                <a:latin typeface="Microsoft JhengHei" panose="020B0604030504040204" pitchFamily="34" charset="-120"/>
              </a:rPr>
              <a:t>多輪 </a:t>
            </a:r>
            <a:r>
              <a:rPr lang="en-US" altLang="zh-TW" sz="1030">
                <a:solidFill>
                  <a:srgbClr val="5F748F"/>
                </a:solidFill>
                <a:latin typeface="Microsoft JhengHei" panose="020B0604030504040204" pitchFamily="34" charset="-120"/>
              </a:rPr>
              <a:t>ReAct </a:t>
            </a:r>
            <a:r>
              <a:rPr lang="zh-TW" altLang="en-US" sz="1030">
                <a:solidFill>
                  <a:srgbClr val="5F748F"/>
                </a:solidFill>
                <a:latin typeface="Microsoft JhengHei" panose="020B0604030504040204" pitchFamily="34" charset="-120"/>
              </a:rPr>
              <a:t>會重複處理歷史對話，不能只算 </a:t>
            </a:r>
            <a:r>
              <a:rPr lang="en-US" altLang="zh-TW" sz="1030">
                <a:solidFill>
                  <a:srgbClr val="5F748F"/>
                </a:solidFill>
                <a:latin typeface="Microsoft JhengHei" panose="020B0604030504040204" pitchFamily="34" charset="-120"/>
              </a:rPr>
              <a:t>unique retrieved tokens</a:t>
            </a:r>
            <a:r>
              <a:rPr lang="zh-TW" altLang="en-US" sz="1030">
                <a:solidFill>
                  <a:srgbClr val="5F748F"/>
                </a:solidFill>
                <a:latin typeface="Microsoft JhengHei" panose="020B0604030504040204" pitchFamily="34" charset="-120"/>
              </a:rPr>
              <a:t>。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4506B436-2691-4251-91E5-C63222ECF9E8}"/>
              </a:ext>
            </a:extLst>
          </p:cNvPr>
          <p:cNvSpPr txBox="1"/>
          <p:nvPr/>
        </p:nvSpPr>
        <p:spPr>
          <a:xfrm>
            <a:off x="4635500" y="3505200"/>
            <a:ext cx="60325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940" b="1">
                <a:solidFill>
                  <a:srgbClr val="2F9FB8"/>
                </a:solidFill>
                <a:latin typeface="Microsoft JhengHei" panose="020B0604030504040204" pitchFamily="34" charset="-120"/>
              </a:rPr>
              <a:t>指標：</a:t>
            </a:r>
            <a:r>
              <a:rPr lang="en-US" altLang="zh-TW" sz="940" b="1">
                <a:solidFill>
                  <a:srgbClr val="2F9FB8"/>
                </a:solidFill>
                <a:latin typeface="Microsoft JhengHei" panose="020B0604030504040204" pitchFamily="34" charset="-120"/>
              </a:rPr>
              <a:t>retrieved tokens vs total input tokens processed</a:t>
            </a:r>
            <a:endParaRPr lang="zh-TW" altLang="en-US" sz="940" b="1">
              <a:solidFill>
                <a:srgbClr val="2F9FB8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B6A0BA51-B026-4F7B-BB42-BC7EDB06BA7A}"/>
              </a:ext>
            </a:extLst>
          </p:cNvPr>
          <p:cNvSpPr/>
          <p:nvPr/>
        </p:nvSpPr>
        <p:spPr>
          <a:xfrm>
            <a:off x="698500" y="4178300"/>
            <a:ext cx="10541000" cy="91440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F28EC40-F29E-4EF1-8B4E-85F95C590239}"/>
              </a:ext>
            </a:extLst>
          </p:cNvPr>
          <p:cNvSpPr/>
          <p:nvPr/>
        </p:nvSpPr>
        <p:spPr>
          <a:xfrm>
            <a:off x="698500" y="4178300"/>
            <a:ext cx="50800" cy="914400"/>
          </a:xfrm>
          <a:prstGeom prst="rect">
            <a:avLst/>
          </a:prstGeom>
          <a:solidFill>
            <a:srgbClr val="D3A12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570CBDFE-DC03-4DE6-BA42-C1F34C809173}"/>
              </a:ext>
            </a:extLst>
          </p:cNvPr>
          <p:cNvSpPr txBox="1"/>
          <p:nvPr/>
        </p:nvSpPr>
        <p:spPr>
          <a:xfrm>
            <a:off x="939800" y="4305300"/>
            <a:ext cx="3429000" cy="2031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1320" b="1">
                <a:solidFill>
                  <a:srgbClr val="122033"/>
                </a:solidFill>
                <a:latin typeface="Microsoft JhengHei" panose="020B0604030504040204" pitchFamily="34" charset="-120"/>
              </a:rPr>
              <a:t>Q3 baseline </a:t>
            </a:r>
            <a:r>
              <a:rPr lang="zh-TW" altLang="en-US" sz="1320" b="1">
                <a:solidFill>
                  <a:srgbClr val="122033"/>
                </a:solidFill>
                <a:latin typeface="Microsoft JhengHei" panose="020B0604030504040204" pitchFamily="34" charset="-120"/>
              </a:rPr>
              <a:t>是否被弱化？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05F373FD-2349-48A7-9AA4-8EF27FEEBA89}"/>
              </a:ext>
            </a:extLst>
          </p:cNvPr>
          <p:cNvSpPr txBox="1"/>
          <p:nvPr/>
        </p:nvSpPr>
        <p:spPr>
          <a:xfrm>
            <a:off x="4635500" y="4305300"/>
            <a:ext cx="6032500" cy="1585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1030">
                <a:solidFill>
                  <a:srgbClr val="5F748F"/>
                </a:solidFill>
                <a:latin typeface="Microsoft JhengHei" panose="020B0604030504040204" pitchFamily="34" charset="-120"/>
              </a:rPr>
              <a:t>多跳 </a:t>
            </a:r>
            <a:r>
              <a:rPr lang="en-US" altLang="zh-TW" sz="1030">
                <a:solidFill>
                  <a:srgbClr val="5F748F"/>
                </a:solidFill>
                <a:latin typeface="Microsoft JhengHei" panose="020B0604030504040204" pitchFamily="34" charset="-120"/>
              </a:rPr>
              <a:t>QA </a:t>
            </a:r>
            <a:r>
              <a:rPr lang="zh-TW" altLang="en-US" sz="1030">
                <a:solidFill>
                  <a:srgbClr val="5F748F"/>
                </a:solidFill>
                <a:latin typeface="Microsoft JhengHei" panose="020B0604030504040204" pitchFamily="34" charset="-120"/>
              </a:rPr>
              <a:t>需要實體匹配；若 </a:t>
            </a:r>
            <a:r>
              <a:rPr lang="en-US" altLang="zh-TW" sz="1030">
                <a:solidFill>
                  <a:srgbClr val="5F748F"/>
                </a:solidFill>
                <a:latin typeface="Microsoft JhengHei" panose="020B0604030504040204" pitchFamily="34" charset="-120"/>
              </a:rPr>
              <a:t>Naive </a:t>
            </a:r>
            <a:r>
              <a:rPr lang="zh-TW" altLang="en-US" sz="1030">
                <a:solidFill>
                  <a:srgbClr val="5F748F"/>
                </a:solidFill>
                <a:latin typeface="Microsoft JhengHei" panose="020B0604030504040204" pitchFamily="34" charset="-120"/>
              </a:rPr>
              <a:t>改成 </a:t>
            </a:r>
            <a:r>
              <a:rPr lang="en-US" altLang="zh-TW" sz="1030">
                <a:solidFill>
                  <a:srgbClr val="5F748F"/>
                </a:solidFill>
                <a:latin typeface="Microsoft JhengHei" panose="020B0604030504040204" pitchFamily="34" charset="-120"/>
              </a:rPr>
              <a:t>BM25 + vector hybrid</a:t>
            </a:r>
            <a:r>
              <a:rPr lang="zh-TW" altLang="en-US" sz="1030">
                <a:solidFill>
                  <a:srgbClr val="5F748F"/>
                </a:solidFill>
                <a:latin typeface="Microsoft JhengHei" panose="020B0604030504040204" pitchFamily="34" charset="-120"/>
              </a:rPr>
              <a:t>，差距還在嗎？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AA5946C1-32E3-48D9-A12F-EA0AE2001516}"/>
              </a:ext>
            </a:extLst>
          </p:cNvPr>
          <p:cNvSpPr txBox="1"/>
          <p:nvPr/>
        </p:nvSpPr>
        <p:spPr>
          <a:xfrm>
            <a:off x="4635500" y="4673600"/>
            <a:ext cx="60325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940" b="1">
                <a:solidFill>
                  <a:srgbClr val="D3A126"/>
                </a:solidFill>
                <a:latin typeface="Microsoft JhengHei" panose="020B0604030504040204" pitchFamily="34" charset="-120"/>
              </a:rPr>
              <a:t>對照：</a:t>
            </a:r>
            <a:r>
              <a:rPr lang="en-US" altLang="zh-TW" sz="940" b="1">
                <a:solidFill>
                  <a:srgbClr val="D3A126"/>
                </a:solidFill>
                <a:latin typeface="Microsoft JhengHei" panose="020B0604030504040204" pitchFamily="34" charset="-120"/>
              </a:rPr>
              <a:t>Naive vs Hybrid Naive vs A-RAG Full</a:t>
            </a:r>
            <a:endParaRPr lang="zh-TW" altLang="en-US" sz="940" b="1">
              <a:solidFill>
                <a:srgbClr val="D3A126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1D687979-A7F2-4C2D-B252-B444E2F214BD}"/>
              </a:ext>
            </a:extLst>
          </p:cNvPr>
          <p:cNvSpPr txBox="1"/>
          <p:nvPr/>
        </p:nvSpPr>
        <p:spPr>
          <a:xfrm>
            <a:off x="736600" y="5461000"/>
            <a:ext cx="10160000" cy="1877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設計原則：可執行（本地資料與 </a:t>
            </a:r>
            <a:r>
              <a:rPr lang="en-US" altLang="zh-TW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proxy</a:t>
            </a:r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）、可驗證（同一批 </a:t>
            </a:r>
            <a:r>
              <a:rPr lang="en-US" altLang="zh-TW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100 </a:t>
            </a:r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題、同一 </a:t>
            </a:r>
            <a:r>
              <a:rPr lang="en-US" altLang="zh-TW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evaluator</a:t>
            </a:r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）、有價值（針對論文指標與 </a:t>
            </a:r>
            <a:r>
              <a:rPr lang="en-US" altLang="zh-TW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baseline </a:t>
            </a:r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假設）。</a:t>
            </a:r>
          </a:p>
        </p:txBody>
      </p:sp>
    </p:spTree>
    <p:extLst>
      <p:ext uri="{BB962C8B-B14F-4D97-AF65-F5344CB8AC3E}">
        <p14:creationId xmlns:p14="http://schemas.microsoft.com/office/powerpoint/2010/main" val="3035254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1119564-2887-4742-98B8-2257C7EFB7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7804359-49A9-49EB-8564-32255CFE1592}"/>
              </a:ext>
            </a:extLst>
          </p:cNvPr>
          <p:cNvSpPr/>
          <p:nvPr/>
        </p:nvSpPr>
        <p:spPr>
          <a:xfrm>
            <a:off x="114300" y="0"/>
            <a:ext cx="12077700" cy="6858000"/>
          </a:xfrm>
          <a:prstGeom prst="rect">
            <a:avLst/>
          </a:prstGeom>
          <a:solidFill>
            <a:srgbClr val="F6F8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8BB036B-63C4-418A-9DA5-1555EC72E402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813806B-78D0-4BC3-A355-BA045A4766AD}"/>
              </a:ext>
            </a:extLst>
          </p:cNvPr>
          <p:cNvSpPr txBox="1"/>
          <p:nvPr/>
        </p:nvSpPr>
        <p:spPr>
          <a:xfrm>
            <a:off x="419100" y="228600"/>
            <a:ext cx="180975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900">
                <a:solidFill>
                  <a:srgbClr val="5F748F"/>
                </a:solidFill>
                <a:latin typeface="Microsoft JhengHei" panose="020B0604030504040204" pitchFamily="34" charset="-120"/>
              </a:rPr>
              <a:t>A-RAG Paper Report</a:t>
            </a:r>
            <a:endParaRPr lang="zh-TW" altLang="en-US" sz="900">
              <a:solidFill>
                <a:srgbClr val="5F748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EA02B0B-4144-4B27-9AA0-8BD3B806F91E}"/>
              </a:ext>
            </a:extLst>
          </p:cNvPr>
          <p:cNvSpPr txBox="1"/>
          <p:nvPr/>
        </p:nvSpPr>
        <p:spPr>
          <a:xfrm>
            <a:off x="10572750" y="228600"/>
            <a:ext cx="104775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TW" sz="900">
                <a:solidFill>
                  <a:srgbClr val="5F748F"/>
                </a:solidFill>
                <a:latin typeface="Microsoft JhengHei" panose="020B0604030504040204" pitchFamily="34" charset="-120"/>
              </a:rPr>
              <a:t>09 / 14</a:t>
            </a:r>
            <a:endParaRPr lang="zh-TW" altLang="en-US" sz="900">
              <a:solidFill>
                <a:srgbClr val="5F748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CE36F4B-10C0-4261-80C4-EE615A3F67E4}"/>
              </a:ext>
            </a:extLst>
          </p:cNvPr>
          <p:cNvSpPr txBox="1"/>
          <p:nvPr/>
        </p:nvSpPr>
        <p:spPr>
          <a:xfrm>
            <a:off x="419100" y="552450"/>
            <a:ext cx="965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表 </a:t>
            </a:r>
            <a:r>
              <a:rPr lang="en-US" altLang="zh-TW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1</a:t>
            </a:r>
            <a:r>
              <a:rPr lang="zh-TW" altLang="en-US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：六組方法總比較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3F0BF3E-921A-473B-8E60-FEDC2D9213F4}"/>
              </a:ext>
            </a:extLst>
          </p:cNvPr>
          <p:cNvSpPr/>
          <p:nvPr/>
        </p:nvSpPr>
        <p:spPr>
          <a:xfrm>
            <a:off x="419100" y="1104900"/>
            <a:ext cx="7429500" cy="1905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620FAD9-F910-4DA5-9B6D-B4078761060C}"/>
              </a:ext>
            </a:extLst>
          </p:cNvPr>
          <p:cNvSpPr txBox="1"/>
          <p:nvPr/>
        </p:nvSpPr>
        <p:spPr>
          <a:xfrm>
            <a:off x="419100" y="1238250"/>
            <a:ext cx="10287000" cy="1723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先用同一張表看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accuracy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、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retrieved tokens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、真實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input tokens 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與成本之間的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trade-off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89673707-6469-410E-8D5A-E4DAD06F5E41}"/>
              </a:ext>
            </a:extLst>
          </p:cNvPr>
          <p:cNvSpPr/>
          <p:nvPr/>
        </p:nvSpPr>
        <p:spPr>
          <a:xfrm>
            <a:off x="444500" y="1841500"/>
            <a:ext cx="2260600" cy="431800"/>
          </a:xfrm>
          <a:prstGeom prst="roundRect">
            <a:avLst>
              <a:gd name="adj" fmla="val 5000"/>
            </a:avLst>
          </a:prstGeom>
          <a:solidFill>
            <a:srgbClr val="DC7F29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1E6772C-65CD-448B-954B-6FA3269E9E18}"/>
              </a:ext>
            </a:extLst>
          </p:cNvPr>
          <p:cNvSpPr txBox="1"/>
          <p:nvPr/>
        </p:nvSpPr>
        <p:spPr>
          <a:xfrm>
            <a:off x="495300" y="1905000"/>
            <a:ext cx="21590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TW" sz="820" b="1">
                <a:solidFill>
                  <a:srgbClr val="FFFFFF"/>
                </a:solidFill>
                <a:latin typeface="Microsoft JhengHei" panose="020B0604030504040204" pitchFamily="34" charset="-120"/>
              </a:rPr>
              <a:t>Setting</a:t>
            </a:r>
            <a:endParaRPr lang="zh-TW" altLang="en-US" sz="820" b="1">
              <a:solidFill>
                <a:srgbClr val="FFFFF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04F05725-72E5-40FA-B664-BE8BF7D0918D}"/>
              </a:ext>
            </a:extLst>
          </p:cNvPr>
          <p:cNvSpPr/>
          <p:nvPr/>
        </p:nvSpPr>
        <p:spPr>
          <a:xfrm>
            <a:off x="2705100" y="1841500"/>
            <a:ext cx="1041400" cy="431800"/>
          </a:xfrm>
          <a:prstGeom prst="roundRect">
            <a:avLst>
              <a:gd name="adj" fmla="val 5000"/>
            </a:avLst>
          </a:prstGeom>
          <a:solidFill>
            <a:srgbClr val="DC7F29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410833C2-9A66-4677-B976-687369423317}"/>
              </a:ext>
            </a:extLst>
          </p:cNvPr>
          <p:cNvSpPr txBox="1"/>
          <p:nvPr/>
        </p:nvSpPr>
        <p:spPr>
          <a:xfrm>
            <a:off x="2755900" y="1905000"/>
            <a:ext cx="9398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 b="1">
                <a:solidFill>
                  <a:srgbClr val="FFFFFF"/>
                </a:solidFill>
                <a:latin typeface="Microsoft JhengHei" panose="020B0604030504040204" pitchFamily="34" charset="-120"/>
              </a:rPr>
              <a:t>LLM Acc</a:t>
            </a:r>
            <a:endParaRPr lang="zh-TW" altLang="en-US" sz="820" b="1">
              <a:solidFill>
                <a:srgbClr val="FFFFF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F2793CD4-ACC5-4746-996A-920D6746DE17}"/>
              </a:ext>
            </a:extLst>
          </p:cNvPr>
          <p:cNvSpPr/>
          <p:nvPr/>
        </p:nvSpPr>
        <p:spPr>
          <a:xfrm>
            <a:off x="3746500" y="1841500"/>
            <a:ext cx="1041400" cy="431800"/>
          </a:xfrm>
          <a:prstGeom prst="roundRect">
            <a:avLst>
              <a:gd name="adj" fmla="val 5000"/>
            </a:avLst>
          </a:prstGeom>
          <a:solidFill>
            <a:srgbClr val="DC7F29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135737F-BEF7-410F-8296-5FB873BAA509}"/>
              </a:ext>
            </a:extLst>
          </p:cNvPr>
          <p:cNvSpPr txBox="1"/>
          <p:nvPr/>
        </p:nvSpPr>
        <p:spPr>
          <a:xfrm>
            <a:off x="3797300" y="1905000"/>
            <a:ext cx="9398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 b="1">
                <a:solidFill>
                  <a:srgbClr val="FFFFFF"/>
                </a:solidFill>
                <a:latin typeface="Microsoft JhengHei" panose="020B0604030504040204" pitchFamily="34" charset="-120"/>
              </a:rPr>
              <a:t>Contain</a:t>
            </a:r>
            <a:endParaRPr lang="zh-TW" altLang="en-US" sz="820" b="1">
              <a:solidFill>
                <a:srgbClr val="FFFFF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B6553219-856E-4CCD-A0A1-E7871CE47E1B}"/>
              </a:ext>
            </a:extLst>
          </p:cNvPr>
          <p:cNvSpPr/>
          <p:nvPr/>
        </p:nvSpPr>
        <p:spPr>
          <a:xfrm>
            <a:off x="4787900" y="1841500"/>
            <a:ext cx="1333500" cy="431800"/>
          </a:xfrm>
          <a:prstGeom prst="roundRect">
            <a:avLst>
              <a:gd name="adj" fmla="val 5000"/>
            </a:avLst>
          </a:prstGeom>
          <a:solidFill>
            <a:srgbClr val="DC7F29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02036F95-9855-4569-9B20-93EA903ABE86}"/>
              </a:ext>
            </a:extLst>
          </p:cNvPr>
          <p:cNvSpPr txBox="1"/>
          <p:nvPr/>
        </p:nvSpPr>
        <p:spPr>
          <a:xfrm>
            <a:off x="4838700" y="1905000"/>
            <a:ext cx="12319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 b="1">
                <a:solidFill>
                  <a:srgbClr val="FFFFFF"/>
                </a:solidFill>
                <a:latin typeface="Microsoft JhengHei" panose="020B0604030504040204" pitchFamily="34" charset="-120"/>
              </a:rPr>
              <a:t>Retrieved</a:t>
            </a:r>
            <a:endParaRPr lang="zh-TW" altLang="en-US" sz="820" b="1">
              <a:solidFill>
                <a:srgbClr val="FFFFF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094817AC-E64F-4200-8673-26C74024ADE2}"/>
              </a:ext>
            </a:extLst>
          </p:cNvPr>
          <p:cNvSpPr/>
          <p:nvPr/>
        </p:nvSpPr>
        <p:spPr>
          <a:xfrm>
            <a:off x="6121400" y="1841500"/>
            <a:ext cx="1651000" cy="431800"/>
          </a:xfrm>
          <a:prstGeom prst="roundRect">
            <a:avLst>
              <a:gd name="adj" fmla="val 5000"/>
            </a:avLst>
          </a:prstGeom>
          <a:solidFill>
            <a:srgbClr val="DC7F29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FB98FA9A-E659-46E3-9B4B-04E1550FB6C8}"/>
              </a:ext>
            </a:extLst>
          </p:cNvPr>
          <p:cNvSpPr txBox="1"/>
          <p:nvPr/>
        </p:nvSpPr>
        <p:spPr>
          <a:xfrm>
            <a:off x="6172200" y="1905000"/>
            <a:ext cx="15494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 b="1">
                <a:solidFill>
                  <a:srgbClr val="FFFFFF"/>
                </a:solidFill>
                <a:latin typeface="Microsoft JhengHei" panose="020B0604030504040204" pitchFamily="34" charset="-120"/>
              </a:rPr>
              <a:t>Input Processed</a:t>
            </a:r>
            <a:endParaRPr lang="zh-TW" altLang="en-US" sz="820" b="1">
              <a:solidFill>
                <a:srgbClr val="FFFFF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0AA34808-77FC-4DF4-B6DB-CAB94221DE49}"/>
              </a:ext>
            </a:extLst>
          </p:cNvPr>
          <p:cNvSpPr/>
          <p:nvPr/>
        </p:nvSpPr>
        <p:spPr>
          <a:xfrm>
            <a:off x="7772400" y="1841500"/>
            <a:ext cx="1168400" cy="431800"/>
          </a:xfrm>
          <a:prstGeom prst="roundRect">
            <a:avLst>
              <a:gd name="adj" fmla="val 5000"/>
            </a:avLst>
          </a:prstGeom>
          <a:solidFill>
            <a:srgbClr val="DC7F29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8D96E793-297D-4711-AA66-9EAB529132BA}"/>
              </a:ext>
            </a:extLst>
          </p:cNvPr>
          <p:cNvSpPr txBox="1"/>
          <p:nvPr/>
        </p:nvSpPr>
        <p:spPr>
          <a:xfrm>
            <a:off x="7823200" y="1905000"/>
            <a:ext cx="10668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 b="1">
                <a:solidFill>
                  <a:srgbClr val="FFFFFF"/>
                </a:solidFill>
                <a:latin typeface="Microsoft JhengHei" panose="020B0604030504040204" pitchFamily="34" charset="-120"/>
              </a:rPr>
              <a:t>API Calls</a:t>
            </a:r>
            <a:endParaRPr lang="zh-TW" altLang="en-US" sz="820" b="1">
              <a:solidFill>
                <a:srgbClr val="FFFFF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24837158-C999-4A02-A025-9A1DD5884407}"/>
              </a:ext>
            </a:extLst>
          </p:cNvPr>
          <p:cNvSpPr/>
          <p:nvPr/>
        </p:nvSpPr>
        <p:spPr>
          <a:xfrm>
            <a:off x="8940800" y="1841500"/>
            <a:ext cx="1270000" cy="431800"/>
          </a:xfrm>
          <a:prstGeom prst="roundRect">
            <a:avLst>
              <a:gd name="adj" fmla="val 5000"/>
            </a:avLst>
          </a:prstGeom>
          <a:solidFill>
            <a:srgbClr val="DC7F29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F51D362-FAD1-42D8-B10A-14320AC3ABD9}"/>
              </a:ext>
            </a:extLst>
          </p:cNvPr>
          <p:cNvSpPr txBox="1"/>
          <p:nvPr/>
        </p:nvSpPr>
        <p:spPr>
          <a:xfrm>
            <a:off x="8991600" y="1905000"/>
            <a:ext cx="11684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 b="1">
                <a:solidFill>
                  <a:srgbClr val="FFFFFF"/>
                </a:solidFill>
                <a:latin typeface="Microsoft JhengHei" panose="020B0604030504040204" pitchFamily="34" charset="-120"/>
              </a:rPr>
              <a:t>Cost/Q</a:t>
            </a:r>
            <a:endParaRPr lang="zh-TW" altLang="en-US" sz="820" b="1">
              <a:solidFill>
                <a:srgbClr val="FFFFF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D8E83437-7E88-4AE3-A5BB-C63708730853}"/>
              </a:ext>
            </a:extLst>
          </p:cNvPr>
          <p:cNvSpPr/>
          <p:nvPr/>
        </p:nvSpPr>
        <p:spPr>
          <a:xfrm>
            <a:off x="444500" y="2273300"/>
            <a:ext cx="2260600" cy="431800"/>
          </a:xfrm>
          <a:prstGeom prst="roundRect">
            <a:avLst>
              <a:gd name="adj" fmla="val 5000"/>
            </a:avLst>
          </a:prstGeom>
          <a:solidFill>
            <a:srgbClr val="ECEFF2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B92A6307-3692-4AB1-BC59-E8E10552007E}"/>
              </a:ext>
            </a:extLst>
          </p:cNvPr>
          <p:cNvSpPr txBox="1"/>
          <p:nvPr/>
        </p:nvSpPr>
        <p:spPr>
          <a:xfrm>
            <a:off x="495300" y="2336800"/>
            <a:ext cx="21590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Naive RAG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9D7D99A2-EEDC-460D-BE1C-4720F42E1420}"/>
              </a:ext>
            </a:extLst>
          </p:cNvPr>
          <p:cNvSpPr/>
          <p:nvPr/>
        </p:nvSpPr>
        <p:spPr>
          <a:xfrm>
            <a:off x="2705100" y="2273300"/>
            <a:ext cx="10414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A83419F3-BCCA-46D7-9546-CC00172F8A26}"/>
              </a:ext>
            </a:extLst>
          </p:cNvPr>
          <p:cNvSpPr txBox="1"/>
          <p:nvPr/>
        </p:nvSpPr>
        <p:spPr>
          <a:xfrm>
            <a:off x="2755900" y="2336800"/>
            <a:ext cx="9398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21.0%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910487D6-92E6-4849-8B71-7B0E46339987}"/>
              </a:ext>
            </a:extLst>
          </p:cNvPr>
          <p:cNvSpPr/>
          <p:nvPr/>
        </p:nvSpPr>
        <p:spPr>
          <a:xfrm>
            <a:off x="3746500" y="2273300"/>
            <a:ext cx="10414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4A2DFB2C-244D-4C97-85E2-4382BDBC6E39}"/>
              </a:ext>
            </a:extLst>
          </p:cNvPr>
          <p:cNvSpPr txBox="1"/>
          <p:nvPr/>
        </p:nvSpPr>
        <p:spPr>
          <a:xfrm>
            <a:off x="3797300" y="2336800"/>
            <a:ext cx="9398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21.0%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C90FB33A-CBFD-4872-99D7-B305821BD037}"/>
              </a:ext>
            </a:extLst>
          </p:cNvPr>
          <p:cNvSpPr/>
          <p:nvPr/>
        </p:nvSpPr>
        <p:spPr>
          <a:xfrm>
            <a:off x="4787900" y="2273300"/>
            <a:ext cx="13335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DB8011D7-F3DA-4EAE-85D2-C71EB856CF6D}"/>
              </a:ext>
            </a:extLst>
          </p:cNvPr>
          <p:cNvSpPr txBox="1"/>
          <p:nvPr/>
        </p:nvSpPr>
        <p:spPr>
          <a:xfrm>
            <a:off x="4838700" y="2336800"/>
            <a:ext cx="12319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5.6k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8367C827-93DA-4704-9EAA-8A114F91737F}"/>
              </a:ext>
            </a:extLst>
          </p:cNvPr>
          <p:cNvSpPr/>
          <p:nvPr/>
        </p:nvSpPr>
        <p:spPr>
          <a:xfrm>
            <a:off x="6121400" y="2273300"/>
            <a:ext cx="16510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03FD3E34-32E5-4C77-A426-DDCFCE42856F}"/>
              </a:ext>
            </a:extLst>
          </p:cNvPr>
          <p:cNvSpPr txBox="1"/>
          <p:nvPr/>
        </p:nvSpPr>
        <p:spPr>
          <a:xfrm>
            <a:off x="6172200" y="2336800"/>
            <a:ext cx="15494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5.7k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49965A9E-913E-4630-BC78-0D4358BAFF9B}"/>
              </a:ext>
            </a:extLst>
          </p:cNvPr>
          <p:cNvSpPr/>
          <p:nvPr/>
        </p:nvSpPr>
        <p:spPr>
          <a:xfrm>
            <a:off x="7772400" y="2273300"/>
            <a:ext cx="11684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B4F6CDE2-7F6D-450D-8217-E72A3704B8C9}"/>
              </a:ext>
            </a:extLst>
          </p:cNvPr>
          <p:cNvSpPr txBox="1"/>
          <p:nvPr/>
        </p:nvSpPr>
        <p:spPr>
          <a:xfrm>
            <a:off x="7823200" y="2336800"/>
            <a:ext cx="10668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1.00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6" name="矩形: 圓角 35">
            <a:extLst>
              <a:ext uri="{FF2B5EF4-FFF2-40B4-BE49-F238E27FC236}">
                <a16:creationId xmlns:a16="http://schemas.microsoft.com/office/drawing/2014/main" id="{B1CFA72E-821D-4E90-A6B8-CCF268D27A73}"/>
              </a:ext>
            </a:extLst>
          </p:cNvPr>
          <p:cNvSpPr/>
          <p:nvPr/>
        </p:nvSpPr>
        <p:spPr>
          <a:xfrm>
            <a:off x="8940800" y="2273300"/>
            <a:ext cx="12700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94E8C65C-908B-4AF9-9B4F-9BE9EEBBE98C}"/>
              </a:ext>
            </a:extLst>
          </p:cNvPr>
          <p:cNvSpPr txBox="1"/>
          <p:nvPr/>
        </p:nvSpPr>
        <p:spPr>
          <a:xfrm>
            <a:off x="8991600" y="2336800"/>
            <a:ext cx="11684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0.004621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8" name="矩形: 圓角 37">
            <a:extLst>
              <a:ext uri="{FF2B5EF4-FFF2-40B4-BE49-F238E27FC236}">
                <a16:creationId xmlns:a16="http://schemas.microsoft.com/office/drawing/2014/main" id="{9E73B46C-DA5D-4BEB-91BE-3085D9F30D19}"/>
              </a:ext>
            </a:extLst>
          </p:cNvPr>
          <p:cNvSpPr/>
          <p:nvPr/>
        </p:nvSpPr>
        <p:spPr>
          <a:xfrm>
            <a:off x="444500" y="2705100"/>
            <a:ext cx="2260600" cy="431800"/>
          </a:xfrm>
          <a:prstGeom prst="roundRect">
            <a:avLst>
              <a:gd name="adj" fmla="val 5000"/>
            </a:avLst>
          </a:prstGeom>
          <a:solidFill>
            <a:srgbClr val="ECEFF2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B044535E-0689-40B6-814C-2C709CFC2813}"/>
              </a:ext>
            </a:extLst>
          </p:cNvPr>
          <p:cNvSpPr txBox="1"/>
          <p:nvPr/>
        </p:nvSpPr>
        <p:spPr>
          <a:xfrm>
            <a:off x="495300" y="2768600"/>
            <a:ext cx="21590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Long-context Naive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40" name="矩形: 圓角 39">
            <a:extLst>
              <a:ext uri="{FF2B5EF4-FFF2-40B4-BE49-F238E27FC236}">
                <a16:creationId xmlns:a16="http://schemas.microsoft.com/office/drawing/2014/main" id="{D77D22F3-428D-4425-BC01-FE230613FAC8}"/>
              </a:ext>
            </a:extLst>
          </p:cNvPr>
          <p:cNvSpPr/>
          <p:nvPr/>
        </p:nvSpPr>
        <p:spPr>
          <a:xfrm>
            <a:off x="2705100" y="2705100"/>
            <a:ext cx="10414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07D068E7-291F-4F05-B19F-3E271EB4C735}"/>
              </a:ext>
            </a:extLst>
          </p:cNvPr>
          <p:cNvSpPr txBox="1"/>
          <p:nvPr/>
        </p:nvSpPr>
        <p:spPr>
          <a:xfrm>
            <a:off x="2755900" y="2768600"/>
            <a:ext cx="9398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24.0%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42" name="矩形: 圓角 41">
            <a:extLst>
              <a:ext uri="{FF2B5EF4-FFF2-40B4-BE49-F238E27FC236}">
                <a16:creationId xmlns:a16="http://schemas.microsoft.com/office/drawing/2014/main" id="{51843B96-5912-4C48-A76C-5E99A17CC955}"/>
              </a:ext>
            </a:extLst>
          </p:cNvPr>
          <p:cNvSpPr/>
          <p:nvPr/>
        </p:nvSpPr>
        <p:spPr>
          <a:xfrm>
            <a:off x="3746500" y="2705100"/>
            <a:ext cx="10414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84FD9CA-46CC-4DCD-9CBE-6B063CD45E21}"/>
              </a:ext>
            </a:extLst>
          </p:cNvPr>
          <p:cNvSpPr txBox="1"/>
          <p:nvPr/>
        </p:nvSpPr>
        <p:spPr>
          <a:xfrm>
            <a:off x="3797300" y="2768600"/>
            <a:ext cx="9398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24.0%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44" name="矩形: 圓角 43">
            <a:extLst>
              <a:ext uri="{FF2B5EF4-FFF2-40B4-BE49-F238E27FC236}">
                <a16:creationId xmlns:a16="http://schemas.microsoft.com/office/drawing/2014/main" id="{0D5708B4-35EA-4952-AAC9-041C4E3DBFA7}"/>
              </a:ext>
            </a:extLst>
          </p:cNvPr>
          <p:cNvSpPr/>
          <p:nvPr/>
        </p:nvSpPr>
        <p:spPr>
          <a:xfrm>
            <a:off x="4787900" y="2705100"/>
            <a:ext cx="13335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8E58AC1B-6FE4-4273-8308-04C795345432}"/>
              </a:ext>
            </a:extLst>
          </p:cNvPr>
          <p:cNvSpPr txBox="1"/>
          <p:nvPr/>
        </p:nvSpPr>
        <p:spPr>
          <a:xfrm>
            <a:off x="4838700" y="2768600"/>
            <a:ext cx="12319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22.4k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46" name="矩形: 圓角 45">
            <a:extLst>
              <a:ext uri="{FF2B5EF4-FFF2-40B4-BE49-F238E27FC236}">
                <a16:creationId xmlns:a16="http://schemas.microsoft.com/office/drawing/2014/main" id="{6A1500BD-B001-4267-AE42-DFCF49389224}"/>
              </a:ext>
            </a:extLst>
          </p:cNvPr>
          <p:cNvSpPr/>
          <p:nvPr/>
        </p:nvSpPr>
        <p:spPr>
          <a:xfrm>
            <a:off x="6121400" y="2705100"/>
            <a:ext cx="16510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834AFB8B-342A-49D7-831B-26FB4C6D1EC9}"/>
              </a:ext>
            </a:extLst>
          </p:cNvPr>
          <p:cNvSpPr txBox="1"/>
          <p:nvPr/>
        </p:nvSpPr>
        <p:spPr>
          <a:xfrm>
            <a:off x="6172200" y="2768600"/>
            <a:ext cx="15494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22.4k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48" name="矩形: 圓角 47">
            <a:extLst>
              <a:ext uri="{FF2B5EF4-FFF2-40B4-BE49-F238E27FC236}">
                <a16:creationId xmlns:a16="http://schemas.microsoft.com/office/drawing/2014/main" id="{1EF22DF3-2AFD-47F8-A5C9-79CBC9ECA68F}"/>
              </a:ext>
            </a:extLst>
          </p:cNvPr>
          <p:cNvSpPr/>
          <p:nvPr/>
        </p:nvSpPr>
        <p:spPr>
          <a:xfrm>
            <a:off x="7772400" y="2705100"/>
            <a:ext cx="11684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3C6030A5-DAFB-49F1-9CAB-9E9134242D1A}"/>
              </a:ext>
            </a:extLst>
          </p:cNvPr>
          <p:cNvSpPr txBox="1"/>
          <p:nvPr/>
        </p:nvSpPr>
        <p:spPr>
          <a:xfrm>
            <a:off x="7823200" y="2768600"/>
            <a:ext cx="10668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1.00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50" name="矩形: 圓角 49">
            <a:extLst>
              <a:ext uri="{FF2B5EF4-FFF2-40B4-BE49-F238E27FC236}">
                <a16:creationId xmlns:a16="http://schemas.microsoft.com/office/drawing/2014/main" id="{E7F3C3FE-F816-4394-A4D7-86F75F19636A}"/>
              </a:ext>
            </a:extLst>
          </p:cNvPr>
          <p:cNvSpPr/>
          <p:nvPr/>
        </p:nvSpPr>
        <p:spPr>
          <a:xfrm>
            <a:off x="8940800" y="2705100"/>
            <a:ext cx="12700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EE00D39F-95F0-4201-9DD9-17DA653592B7}"/>
              </a:ext>
            </a:extLst>
          </p:cNvPr>
          <p:cNvSpPr txBox="1"/>
          <p:nvPr/>
        </p:nvSpPr>
        <p:spPr>
          <a:xfrm>
            <a:off x="8991600" y="2768600"/>
            <a:ext cx="11684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0.010447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52" name="矩形: 圓角 51">
            <a:extLst>
              <a:ext uri="{FF2B5EF4-FFF2-40B4-BE49-F238E27FC236}">
                <a16:creationId xmlns:a16="http://schemas.microsoft.com/office/drawing/2014/main" id="{73156AE8-72FD-4BDC-A563-B0778F353DD9}"/>
              </a:ext>
            </a:extLst>
          </p:cNvPr>
          <p:cNvSpPr/>
          <p:nvPr/>
        </p:nvSpPr>
        <p:spPr>
          <a:xfrm>
            <a:off x="444500" y="3136900"/>
            <a:ext cx="2260600" cy="431800"/>
          </a:xfrm>
          <a:prstGeom prst="roundRect">
            <a:avLst>
              <a:gd name="adj" fmla="val 5000"/>
            </a:avLst>
          </a:prstGeom>
          <a:solidFill>
            <a:srgbClr val="ECEFF2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C1BCED20-74B1-42A2-A207-713F0A8B2661}"/>
              </a:ext>
            </a:extLst>
          </p:cNvPr>
          <p:cNvSpPr txBox="1"/>
          <p:nvPr/>
        </p:nvSpPr>
        <p:spPr>
          <a:xfrm>
            <a:off x="495300" y="3200400"/>
            <a:ext cx="21590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BM25+Vector Hybrid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54" name="矩形: 圓角 53">
            <a:extLst>
              <a:ext uri="{FF2B5EF4-FFF2-40B4-BE49-F238E27FC236}">
                <a16:creationId xmlns:a16="http://schemas.microsoft.com/office/drawing/2014/main" id="{FD68E36E-6F3D-415A-9928-16DC253ABED8}"/>
              </a:ext>
            </a:extLst>
          </p:cNvPr>
          <p:cNvSpPr/>
          <p:nvPr/>
        </p:nvSpPr>
        <p:spPr>
          <a:xfrm>
            <a:off x="2705100" y="3136900"/>
            <a:ext cx="10414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8E72CBF9-257B-4339-9FEF-BFB9CB94C1D7}"/>
              </a:ext>
            </a:extLst>
          </p:cNvPr>
          <p:cNvSpPr txBox="1"/>
          <p:nvPr/>
        </p:nvSpPr>
        <p:spPr>
          <a:xfrm>
            <a:off x="2755900" y="3200400"/>
            <a:ext cx="9398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47.0%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56" name="矩形: 圓角 55">
            <a:extLst>
              <a:ext uri="{FF2B5EF4-FFF2-40B4-BE49-F238E27FC236}">
                <a16:creationId xmlns:a16="http://schemas.microsoft.com/office/drawing/2014/main" id="{EAF9F5E2-187B-4207-8A98-38180F60A6F2}"/>
              </a:ext>
            </a:extLst>
          </p:cNvPr>
          <p:cNvSpPr/>
          <p:nvPr/>
        </p:nvSpPr>
        <p:spPr>
          <a:xfrm>
            <a:off x="3746500" y="3136900"/>
            <a:ext cx="10414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FD38D6EE-6036-4639-91CC-D41AF26443DA}"/>
              </a:ext>
            </a:extLst>
          </p:cNvPr>
          <p:cNvSpPr txBox="1"/>
          <p:nvPr/>
        </p:nvSpPr>
        <p:spPr>
          <a:xfrm>
            <a:off x="3797300" y="3200400"/>
            <a:ext cx="9398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46.0%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58" name="矩形: 圓角 57">
            <a:extLst>
              <a:ext uri="{FF2B5EF4-FFF2-40B4-BE49-F238E27FC236}">
                <a16:creationId xmlns:a16="http://schemas.microsoft.com/office/drawing/2014/main" id="{85B22F42-A188-4ABA-82FD-47F2E903AADA}"/>
              </a:ext>
            </a:extLst>
          </p:cNvPr>
          <p:cNvSpPr/>
          <p:nvPr/>
        </p:nvSpPr>
        <p:spPr>
          <a:xfrm>
            <a:off x="4787900" y="3136900"/>
            <a:ext cx="13335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ABB17E64-8BB4-49A0-A1B0-E04229E605F8}"/>
              </a:ext>
            </a:extLst>
          </p:cNvPr>
          <p:cNvSpPr txBox="1"/>
          <p:nvPr/>
        </p:nvSpPr>
        <p:spPr>
          <a:xfrm>
            <a:off x="4838700" y="3200400"/>
            <a:ext cx="12319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11.3k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60" name="矩形: 圓角 59">
            <a:extLst>
              <a:ext uri="{FF2B5EF4-FFF2-40B4-BE49-F238E27FC236}">
                <a16:creationId xmlns:a16="http://schemas.microsoft.com/office/drawing/2014/main" id="{C1E8DABC-A80A-4148-A4EA-26D9CE561EA1}"/>
              </a:ext>
            </a:extLst>
          </p:cNvPr>
          <p:cNvSpPr/>
          <p:nvPr/>
        </p:nvSpPr>
        <p:spPr>
          <a:xfrm>
            <a:off x="6121400" y="3136900"/>
            <a:ext cx="16510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2CBD84BB-A01E-4E3C-ADBD-BE25AB25AB27}"/>
              </a:ext>
            </a:extLst>
          </p:cNvPr>
          <p:cNvSpPr txBox="1"/>
          <p:nvPr/>
        </p:nvSpPr>
        <p:spPr>
          <a:xfrm>
            <a:off x="6172200" y="3200400"/>
            <a:ext cx="15494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11.4k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62" name="矩形: 圓角 61">
            <a:extLst>
              <a:ext uri="{FF2B5EF4-FFF2-40B4-BE49-F238E27FC236}">
                <a16:creationId xmlns:a16="http://schemas.microsoft.com/office/drawing/2014/main" id="{982942B2-34B4-4F1C-AB07-B04C030C0150}"/>
              </a:ext>
            </a:extLst>
          </p:cNvPr>
          <p:cNvSpPr/>
          <p:nvPr/>
        </p:nvSpPr>
        <p:spPr>
          <a:xfrm>
            <a:off x="7772400" y="3136900"/>
            <a:ext cx="11684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75224DF6-279A-460F-8548-29917CF7C1F3}"/>
              </a:ext>
            </a:extLst>
          </p:cNvPr>
          <p:cNvSpPr txBox="1"/>
          <p:nvPr/>
        </p:nvSpPr>
        <p:spPr>
          <a:xfrm>
            <a:off x="7823200" y="3200400"/>
            <a:ext cx="10668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1.00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64" name="矩形: 圓角 63">
            <a:extLst>
              <a:ext uri="{FF2B5EF4-FFF2-40B4-BE49-F238E27FC236}">
                <a16:creationId xmlns:a16="http://schemas.microsoft.com/office/drawing/2014/main" id="{1FE68694-20A9-4362-AB89-F81DBFFA3B10}"/>
              </a:ext>
            </a:extLst>
          </p:cNvPr>
          <p:cNvSpPr/>
          <p:nvPr/>
        </p:nvSpPr>
        <p:spPr>
          <a:xfrm>
            <a:off x="8940800" y="3136900"/>
            <a:ext cx="12700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0127CDFC-5086-4E2F-9A3E-9CABE18F6B60}"/>
              </a:ext>
            </a:extLst>
          </p:cNvPr>
          <p:cNvSpPr txBox="1"/>
          <p:nvPr/>
        </p:nvSpPr>
        <p:spPr>
          <a:xfrm>
            <a:off x="8991600" y="3200400"/>
            <a:ext cx="11684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0.007043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66" name="矩形: 圓角 65">
            <a:extLst>
              <a:ext uri="{FF2B5EF4-FFF2-40B4-BE49-F238E27FC236}">
                <a16:creationId xmlns:a16="http://schemas.microsoft.com/office/drawing/2014/main" id="{04A620EF-4696-47F4-BAF9-E24A9194311B}"/>
              </a:ext>
            </a:extLst>
          </p:cNvPr>
          <p:cNvSpPr/>
          <p:nvPr/>
        </p:nvSpPr>
        <p:spPr>
          <a:xfrm>
            <a:off x="444500" y="3568700"/>
            <a:ext cx="2260600" cy="431800"/>
          </a:xfrm>
          <a:prstGeom prst="roundRect">
            <a:avLst>
              <a:gd name="adj" fmla="val 5000"/>
            </a:avLst>
          </a:prstGeom>
          <a:solidFill>
            <a:srgbClr val="ECEFF2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3BAACE69-A98C-42A3-B3E7-CECEB0DB6EC1}"/>
              </a:ext>
            </a:extLst>
          </p:cNvPr>
          <p:cNvSpPr txBox="1"/>
          <p:nvPr/>
        </p:nvSpPr>
        <p:spPr>
          <a:xfrm>
            <a:off x="495300" y="3632200"/>
            <a:ext cx="21590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A-RAG Naive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68" name="矩形: 圓角 67">
            <a:extLst>
              <a:ext uri="{FF2B5EF4-FFF2-40B4-BE49-F238E27FC236}">
                <a16:creationId xmlns:a16="http://schemas.microsoft.com/office/drawing/2014/main" id="{D7ADE8B9-81DC-4B04-90E7-45176FF0364C}"/>
              </a:ext>
            </a:extLst>
          </p:cNvPr>
          <p:cNvSpPr/>
          <p:nvPr/>
        </p:nvSpPr>
        <p:spPr>
          <a:xfrm>
            <a:off x="2705100" y="3568700"/>
            <a:ext cx="10414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71E11655-601C-4870-A5BB-11D522A1CA38}"/>
              </a:ext>
            </a:extLst>
          </p:cNvPr>
          <p:cNvSpPr txBox="1"/>
          <p:nvPr/>
        </p:nvSpPr>
        <p:spPr>
          <a:xfrm>
            <a:off x="2755900" y="3632200"/>
            <a:ext cx="9398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66.7%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70" name="矩形: 圓角 69">
            <a:extLst>
              <a:ext uri="{FF2B5EF4-FFF2-40B4-BE49-F238E27FC236}">
                <a16:creationId xmlns:a16="http://schemas.microsoft.com/office/drawing/2014/main" id="{D7C22C9E-245A-4112-A469-10BBCE1CAAF9}"/>
              </a:ext>
            </a:extLst>
          </p:cNvPr>
          <p:cNvSpPr/>
          <p:nvPr/>
        </p:nvSpPr>
        <p:spPr>
          <a:xfrm>
            <a:off x="3746500" y="3568700"/>
            <a:ext cx="10414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1A7812CB-7637-490B-9D8B-E4244C3F0517}"/>
              </a:ext>
            </a:extLst>
          </p:cNvPr>
          <p:cNvSpPr txBox="1"/>
          <p:nvPr/>
        </p:nvSpPr>
        <p:spPr>
          <a:xfrm>
            <a:off x="3797300" y="3632200"/>
            <a:ext cx="9398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63.6%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72" name="矩形: 圓角 71">
            <a:extLst>
              <a:ext uri="{FF2B5EF4-FFF2-40B4-BE49-F238E27FC236}">
                <a16:creationId xmlns:a16="http://schemas.microsoft.com/office/drawing/2014/main" id="{E163753A-B5EA-4635-8789-E06F500214BF}"/>
              </a:ext>
            </a:extLst>
          </p:cNvPr>
          <p:cNvSpPr/>
          <p:nvPr/>
        </p:nvSpPr>
        <p:spPr>
          <a:xfrm>
            <a:off x="4787900" y="3568700"/>
            <a:ext cx="13335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3" name="文字方塊 72">
            <a:extLst>
              <a:ext uri="{FF2B5EF4-FFF2-40B4-BE49-F238E27FC236}">
                <a16:creationId xmlns:a16="http://schemas.microsoft.com/office/drawing/2014/main" id="{6781760A-5D0C-4DDC-8505-E1B9F507E940}"/>
              </a:ext>
            </a:extLst>
          </p:cNvPr>
          <p:cNvSpPr txBox="1"/>
          <p:nvPr/>
        </p:nvSpPr>
        <p:spPr>
          <a:xfrm>
            <a:off x="4838700" y="3632200"/>
            <a:ext cx="12319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3.5k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74" name="矩形: 圓角 73">
            <a:extLst>
              <a:ext uri="{FF2B5EF4-FFF2-40B4-BE49-F238E27FC236}">
                <a16:creationId xmlns:a16="http://schemas.microsoft.com/office/drawing/2014/main" id="{5CEAB938-DC09-4C6D-8A4B-D78B9431B1D0}"/>
              </a:ext>
            </a:extLst>
          </p:cNvPr>
          <p:cNvSpPr/>
          <p:nvPr/>
        </p:nvSpPr>
        <p:spPr>
          <a:xfrm>
            <a:off x="6121400" y="3568700"/>
            <a:ext cx="16510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6B8BE335-264A-44FB-847A-9AB75E4D1ABA}"/>
              </a:ext>
            </a:extLst>
          </p:cNvPr>
          <p:cNvSpPr txBox="1"/>
          <p:nvPr/>
        </p:nvSpPr>
        <p:spPr>
          <a:xfrm>
            <a:off x="6172200" y="3632200"/>
            <a:ext cx="15494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28.8k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76" name="矩形: 圓角 75">
            <a:extLst>
              <a:ext uri="{FF2B5EF4-FFF2-40B4-BE49-F238E27FC236}">
                <a16:creationId xmlns:a16="http://schemas.microsoft.com/office/drawing/2014/main" id="{659D53A1-774B-4CB9-88EF-CA9D650676CA}"/>
              </a:ext>
            </a:extLst>
          </p:cNvPr>
          <p:cNvSpPr/>
          <p:nvPr/>
        </p:nvSpPr>
        <p:spPr>
          <a:xfrm>
            <a:off x="7772400" y="3568700"/>
            <a:ext cx="11684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32D79CA5-6678-47BD-B78A-C020C53E6905}"/>
              </a:ext>
            </a:extLst>
          </p:cNvPr>
          <p:cNvSpPr txBox="1"/>
          <p:nvPr/>
        </p:nvSpPr>
        <p:spPr>
          <a:xfrm>
            <a:off x="7823200" y="3632200"/>
            <a:ext cx="10668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8.29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78" name="矩形: 圓角 77">
            <a:extLst>
              <a:ext uri="{FF2B5EF4-FFF2-40B4-BE49-F238E27FC236}">
                <a16:creationId xmlns:a16="http://schemas.microsoft.com/office/drawing/2014/main" id="{8787FA29-0F7E-4E7E-82D3-2290CD3CD995}"/>
              </a:ext>
            </a:extLst>
          </p:cNvPr>
          <p:cNvSpPr/>
          <p:nvPr/>
        </p:nvSpPr>
        <p:spPr>
          <a:xfrm>
            <a:off x="8940800" y="3568700"/>
            <a:ext cx="12700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A7374968-DCB3-41C5-BED4-AFF3B2808655}"/>
              </a:ext>
            </a:extLst>
          </p:cNvPr>
          <p:cNvSpPr txBox="1"/>
          <p:nvPr/>
        </p:nvSpPr>
        <p:spPr>
          <a:xfrm>
            <a:off x="8991600" y="3632200"/>
            <a:ext cx="11684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0.026000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80" name="矩形: 圓角 79">
            <a:extLst>
              <a:ext uri="{FF2B5EF4-FFF2-40B4-BE49-F238E27FC236}">
                <a16:creationId xmlns:a16="http://schemas.microsoft.com/office/drawing/2014/main" id="{EA63F3A9-816A-49FD-B318-459DD1558D16}"/>
              </a:ext>
            </a:extLst>
          </p:cNvPr>
          <p:cNvSpPr/>
          <p:nvPr/>
        </p:nvSpPr>
        <p:spPr>
          <a:xfrm>
            <a:off x="444500" y="4000500"/>
            <a:ext cx="2260600" cy="431800"/>
          </a:xfrm>
          <a:prstGeom prst="roundRect">
            <a:avLst>
              <a:gd name="adj" fmla="val 5000"/>
            </a:avLst>
          </a:prstGeom>
          <a:solidFill>
            <a:srgbClr val="ECEFF2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1" name="文字方塊 80">
            <a:extLst>
              <a:ext uri="{FF2B5EF4-FFF2-40B4-BE49-F238E27FC236}">
                <a16:creationId xmlns:a16="http://schemas.microsoft.com/office/drawing/2014/main" id="{3C7E307E-9C87-44CA-9EE4-4EF7EA8EE57F}"/>
              </a:ext>
            </a:extLst>
          </p:cNvPr>
          <p:cNvSpPr txBox="1"/>
          <p:nvPr/>
        </p:nvSpPr>
        <p:spPr>
          <a:xfrm>
            <a:off x="495300" y="4064000"/>
            <a:ext cx="21590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A-RAG w/o keyword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82" name="矩形: 圓角 81">
            <a:extLst>
              <a:ext uri="{FF2B5EF4-FFF2-40B4-BE49-F238E27FC236}">
                <a16:creationId xmlns:a16="http://schemas.microsoft.com/office/drawing/2014/main" id="{DA7A2B99-5AD0-49A0-AA42-69B4EA5019E6}"/>
              </a:ext>
            </a:extLst>
          </p:cNvPr>
          <p:cNvSpPr/>
          <p:nvPr/>
        </p:nvSpPr>
        <p:spPr>
          <a:xfrm>
            <a:off x="2705100" y="4000500"/>
            <a:ext cx="10414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3" name="文字方塊 82">
            <a:extLst>
              <a:ext uri="{FF2B5EF4-FFF2-40B4-BE49-F238E27FC236}">
                <a16:creationId xmlns:a16="http://schemas.microsoft.com/office/drawing/2014/main" id="{AC131B5B-47C8-48F2-962C-27C70F2E64D1}"/>
              </a:ext>
            </a:extLst>
          </p:cNvPr>
          <p:cNvSpPr txBox="1"/>
          <p:nvPr/>
        </p:nvSpPr>
        <p:spPr>
          <a:xfrm>
            <a:off x="2755900" y="4064000"/>
            <a:ext cx="9398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69.0%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84" name="矩形: 圓角 83">
            <a:extLst>
              <a:ext uri="{FF2B5EF4-FFF2-40B4-BE49-F238E27FC236}">
                <a16:creationId xmlns:a16="http://schemas.microsoft.com/office/drawing/2014/main" id="{53BE235F-82EB-4CAF-8841-B836E51909CF}"/>
              </a:ext>
            </a:extLst>
          </p:cNvPr>
          <p:cNvSpPr/>
          <p:nvPr/>
        </p:nvSpPr>
        <p:spPr>
          <a:xfrm>
            <a:off x="3746500" y="4000500"/>
            <a:ext cx="10414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D5F6E662-796B-4702-8EF4-5159ADCFBCF8}"/>
              </a:ext>
            </a:extLst>
          </p:cNvPr>
          <p:cNvSpPr txBox="1"/>
          <p:nvPr/>
        </p:nvSpPr>
        <p:spPr>
          <a:xfrm>
            <a:off x="3797300" y="4064000"/>
            <a:ext cx="9398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64.0%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86" name="矩形: 圓角 85">
            <a:extLst>
              <a:ext uri="{FF2B5EF4-FFF2-40B4-BE49-F238E27FC236}">
                <a16:creationId xmlns:a16="http://schemas.microsoft.com/office/drawing/2014/main" id="{2640D38F-1153-4C5A-B334-F702DA7E67B1}"/>
              </a:ext>
            </a:extLst>
          </p:cNvPr>
          <p:cNvSpPr/>
          <p:nvPr/>
        </p:nvSpPr>
        <p:spPr>
          <a:xfrm>
            <a:off x="4787900" y="4000500"/>
            <a:ext cx="13335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56552C41-94E3-48E1-8A5D-AFA08555B1E7}"/>
              </a:ext>
            </a:extLst>
          </p:cNvPr>
          <p:cNvSpPr txBox="1"/>
          <p:nvPr/>
        </p:nvSpPr>
        <p:spPr>
          <a:xfrm>
            <a:off x="4838700" y="4064000"/>
            <a:ext cx="12319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3.7k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88" name="矩形: 圓角 87">
            <a:extLst>
              <a:ext uri="{FF2B5EF4-FFF2-40B4-BE49-F238E27FC236}">
                <a16:creationId xmlns:a16="http://schemas.microsoft.com/office/drawing/2014/main" id="{BCB4A066-24B7-4261-8934-680EDC0987DF}"/>
              </a:ext>
            </a:extLst>
          </p:cNvPr>
          <p:cNvSpPr/>
          <p:nvPr/>
        </p:nvSpPr>
        <p:spPr>
          <a:xfrm>
            <a:off x="6121400" y="4000500"/>
            <a:ext cx="16510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9" name="文字方塊 88">
            <a:extLst>
              <a:ext uri="{FF2B5EF4-FFF2-40B4-BE49-F238E27FC236}">
                <a16:creationId xmlns:a16="http://schemas.microsoft.com/office/drawing/2014/main" id="{F4C94E44-9781-4F40-B791-357DC015E389}"/>
              </a:ext>
            </a:extLst>
          </p:cNvPr>
          <p:cNvSpPr txBox="1"/>
          <p:nvPr/>
        </p:nvSpPr>
        <p:spPr>
          <a:xfrm>
            <a:off x="6172200" y="4064000"/>
            <a:ext cx="15494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30.4k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90" name="矩形: 圓角 89">
            <a:extLst>
              <a:ext uri="{FF2B5EF4-FFF2-40B4-BE49-F238E27FC236}">
                <a16:creationId xmlns:a16="http://schemas.microsoft.com/office/drawing/2014/main" id="{767A3BC5-8765-411E-8D25-E04BBE7F2950}"/>
              </a:ext>
            </a:extLst>
          </p:cNvPr>
          <p:cNvSpPr/>
          <p:nvPr/>
        </p:nvSpPr>
        <p:spPr>
          <a:xfrm>
            <a:off x="7772400" y="4000500"/>
            <a:ext cx="11684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1" name="文字方塊 90">
            <a:extLst>
              <a:ext uri="{FF2B5EF4-FFF2-40B4-BE49-F238E27FC236}">
                <a16:creationId xmlns:a16="http://schemas.microsoft.com/office/drawing/2014/main" id="{D6C281A8-30B7-4191-BA1E-BD290F465518}"/>
              </a:ext>
            </a:extLst>
          </p:cNvPr>
          <p:cNvSpPr txBox="1"/>
          <p:nvPr/>
        </p:nvSpPr>
        <p:spPr>
          <a:xfrm>
            <a:off x="7823200" y="4064000"/>
            <a:ext cx="10668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8.41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92" name="矩形: 圓角 91">
            <a:extLst>
              <a:ext uri="{FF2B5EF4-FFF2-40B4-BE49-F238E27FC236}">
                <a16:creationId xmlns:a16="http://schemas.microsoft.com/office/drawing/2014/main" id="{6964DD3E-D646-459E-BBAF-39CE4A68A10B}"/>
              </a:ext>
            </a:extLst>
          </p:cNvPr>
          <p:cNvSpPr/>
          <p:nvPr/>
        </p:nvSpPr>
        <p:spPr>
          <a:xfrm>
            <a:off x="8940800" y="4000500"/>
            <a:ext cx="12700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3" name="文字方塊 92">
            <a:extLst>
              <a:ext uri="{FF2B5EF4-FFF2-40B4-BE49-F238E27FC236}">
                <a16:creationId xmlns:a16="http://schemas.microsoft.com/office/drawing/2014/main" id="{07F66992-62FC-49E9-9BED-9DEAA53CD02D}"/>
              </a:ext>
            </a:extLst>
          </p:cNvPr>
          <p:cNvSpPr txBox="1"/>
          <p:nvPr/>
        </p:nvSpPr>
        <p:spPr>
          <a:xfrm>
            <a:off x="8991600" y="4064000"/>
            <a:ext cx="11684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0.025906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94" name="矩形: 圓角 93">
            <a:extLst>
              <a:ext uri="{FF2B5EF4-FFF2-40B4-BE49-F238E27FC236}">
                <a16:creationId xmlns:a16="http://schemas.microsoft.com/office/drawing/2014/main" id="{26778761-2BB5-4CEE-BF15-FF8FF9F56218}"/>
              </a:ext>
            </a:extLst>
          </p:cNvPr>
          <p:cNvSpPr/>
          <p:nvPr/>
        </p:nvSpPr>
        <p:spPr>
          <a:xfrm>
            <a:off x="444500" y="4432300"/>
            <a:ext cx="2260600" cy="431800"/>
          </a:xfrm>
          <a:prstGeom prst="roundRect">
            <a:avLst>
              <a:gd name="adj" fmla="val 5000"/>
            </a:avLst>
          </a:prstGeom>
          <a:solidFill>
            <a:srgbClr val="ECEFF2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5" name="文字方塊 94">
            <a:extLst>
              <a:ext uri="{FF2B5EF4-FFF2-40B4-BE49-F238E27FC236}">
                <a16:creationId xmlns:a16="http://schemas.microsoft.com/office/drawing/2014/main" id="{C7B9862C-4D51-4DE3-B9B6-2ED94D72EFD3}"/>
              </a:ext>
            </a:extLst>
          </p:cNvPr>
          <p:cNvSpPr txBox="1"/>
          <p:nvPr/>
        </p:nvSpPr>
        <p:spPr>
          <a:xfrm>
            <a:off x="495300" y="4495800"/>
            <a:ext cx="21590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A-RAG Full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96" name="矩形: 圓角 95">
            <a:extLst>
              <a:ext uri="{FF2B5EF4-FFF2-40B4-BE49-F238E27FC236}">
                <a16:creationId xmlns:a16="http://schemas.microsoft.com/office/drawing/2014/main" id="{E6617095-1851-473B-A366-E65834892D3B}"/>
              </a:ext>
            </a:extLst>
          </p:cNvPr>
          <p:cNvSpPr/>
          <p:nvPr/>
        </p:nvSpPr>
        <p:spPr>
          <a:xfrm>
            <a:off x="2705100" y="4432300"/>
            <a:ext cx="10414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7" name="文字方塊 96">
            <a:extLst>
              <a:ext uri="{FF2B5EF4-FFF2-40B4-BE49-F238E27FC236}">
                <a16:creationId xmlns:a16="http://schemas.microsoft.com/office/drawing/2014/main" id="{9F806756-A5FA-44C2-A4B3-A0C4D73BB2A7}"/>
              </a:ext>
            </a:extLst>
          </p:cNvPr>
          <p:cNvSpPr txBox="1"/>
          <p:nvPr/>
        </p:nvSpPr>
        <p:spPr>
          <a:xfrm>
            <a:off x="2755900" y="4495800"/>
            <a:ext cx="9398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85.0%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98" name="矩形: 圓角 97">
            <a:extLst>
              <a:ext uri="{FF2B5EF4-FFF2-40B4-BE49-F238E27FC236}">
                <a16:creationId xmlns:a16="http://schemas.microsoft.com/office/drawing/2014/main" id="{6F7FFD49-9582-4ED4-BB53-93F4BD413790}"/>
              </a:ext>
            </a:extLst>
          </p:cNvPr>
          <p:cNvSpPr/>
          <p:nvPr/>
        </p:nvSpPr>
        <p:spPr>
          <a:xfrm>
            <a:off x="3746500" y="4432300"/>
            <a:ext cx="10414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9" name="文字方塊 98">
            <a:extLst>
              <a:ext uri="{FF2B5EF4-FFF2-40B4-BE49-F238E27FC236}">
                <a16:creationId xmlns:a16="http://schemas.microsoft.com/office/drawing/2014/main" id="{85B3B3AB-1A41-4EDC-8885-7482ACE3EC29}"/>
              </a:ext>
            </a:extLst>
          </p:cNvPr>
          <p:cNvSpPr txBox="1"/>
          <p:nvPr/>
        </p:nvSpPr>
        <p:spPr>
          <a:xfrm>
            <a:off x="3797300" y="4495800"/>
            <a:ext cx="9398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83.0%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00" name="矩形: 圓角 99">
            <a:extLst>
              <a:ext uri="{FF2B5EF4-FFF2-40B4-BE49-F238E27FC236}">
                <a16:creationId xmlns:a16="http://schemas.microsoft.com/office/drawing/2014/main" id="{661B78F4-5B1B-4E78-AB86-F1869CADCEB2}"/>
              </a:ext>
            </a:extLst>
          </p:cNvPr>
          <p:cNvSpPr/>
          <p:nvPr/>
        </p:nvSpPr>
        <p:spPr>
          <a:xfrm>
            <a:off x="4787900" y="4432300"/>
            <a:ext cx="13335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文字方塊 100">
            <a:extLst>
              <a:ext uri="{FF2B5EF4-FFF2-40B4-BE49-F238E27FC236}">
                <a16:creationId xmlns:a16="http://schemas.microsoft.com/office/drawing/2014/main" id="{C7489B0A-02E1-4FF6-9BCD-0DCDB7713D4A}"/>
              </a:ext>
            </a:extLst>
          </p:cNvPr>
          <p:cNvSpPr txBox="1"/>
          <p:nvPr/>
        </p:nvSpPr>
        <p:spPr>
          <a:xfrm>
            <a:off x="4838700" y="4495800"/>
            <a:ext cx="12319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4.2k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02" name="矩形: 圓角 101">
            <a:extLst>
              <a:ext uri="{FF2B5EF4-FFF2-40B4-BE49-F238E27FC236}">
                <a16:creationId xmlns:a16="http://schemas.microsoft.com/office/drawing/2014/main" id="{65A31010-D4FC-4762-9EDA-F63DFC1B1016}"/>
              </a:ext>
            </a:extLst>
          </p:cNvPr>
          <p:cNvSpPr/>
          <p:nvPr/>
        </p:nvSpPr>
        <p:spPr>
          <a:xfrm>
            <a:off x="6121400" y="4432300"/>
            <a:ext cx="16510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3" name="文字方塊 102">
            <a:extLst>
              <a:ext uri="{FF2B5EF4-FFF2-40B4-BE49-F238E27FC236}">
                <a16:creationId xmlns:a16="http://schemas.microsoft.com/office/drawing/2014/main" id="{4020DD07-2B9A-4E97-83AA-98B18B24E7E8}"/>
              </a:ext>
            </a:extLst>
          </p:cNvPr>
          <p:cNvSpPr txBox="1"/>
          <p:nvPr/>
        </p:nvSpPr>
        <p:spPr>
          <a:xfrm>
            <a:off x="6172200" y="4495800"/>
            <a:ext cx="15494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30.4k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04" name="矩形: 圓角 103">
            <a:extLst>
              <a:ext uri="{FF2B5EF4-FFF2-40B4-BE49-F238E27FC236}">
                <a16:creationId xmlns:a16="http://schemas.microsoft.com/office/drawing/2014/main" id="{598B414A-AB77-4889-B225-BF1A39AFFD98}"/>
              </a:ext>
            </a:extLst>
          </p:cNvPr>
          <p:cNvSpPr/>
          <p:nvPr/>
        </p:nvSpPr>
        <p:spPr>
          <a:xfrm>
            <a:off x="7772400" y="4432300"/>
            <a:ext cx="11684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5" name="文字方塊 104">
            <a:extLst>
              <a:ext uri="{FF2B5EF4-FFF2-40B4-BE49-F238E27FC236}">
                <a16:creationId xmlns:a16="http://schemas.microsoft.com/office/drawing/2014/main" id="{B4BE5435-27EE-4DE2-A0D1-22BBA22ACAB4}"/>
              </a:ext>
            </a:extLst>
          </p:cNvPr>
          <p:cNvSpPr txBox="1"/>
          <p:nvPr/>
        </p:nvSpPr>
        <p:spPr>
          <a:xfrm>
            <a:off x="7823200" y="4495800"/>
            <a:ext cx="10668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7.93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06" name="矩形: 圓角 105">
            <a:extLst>
              <a:ext uri="{FF2B5EF4-FFF2-40B4-BE49-F238E27FC236}">
                <a16:creationId xmlns:a16="http://schemas.microsoft.com/office/drawing/2014/main" id="{C96E7327-C1B0-43DF-B0E0-2954A4E22C97}"/>
              </a:ext>
            </a:extLst>
          </p:cNvPr>
          <p:cNvSpPr/>
          <p:nvPr/>
        </p:nvSpPr>
        <p:spPr>
          <a:xfrm>
            <a:off x="8940800" y="4432300"/>
            <a:ext cx="1270000" cy="4318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7" name="文字方塊 106">
            <a:extLst>
              <a:ext uri="{FF2B5EF4-FFF2-40B4-BE49-F238E27FC236}">
                <a16:creationId xmlns:a16="http://schemas.microsoft.com/office/drawing/2014/main" id="{0849BBB2-0D22-4A6D-A4CC-56556AA3DBA9}"/>
              </a:ext>
            </a:extLst>
          </p:cNvPr>
          <p:cNvSpPr txBox="1"/>
          <p:nvPr/>
        </p:nvSpPr>
        <p:spPr>
          <a:xfrm>
            <a:off x="8991600" y="4495800"/>
            <a:ext cx="1168400" cy="1261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820">
                <a:solidFill>
                  <a:srgbClr val="122033"/>
                </a:solidFill>
                <a:latin typeface="Microsoft JhengHei" panose="020B0604030504040204" pitchFamily="34" charset="-120"/>
              </a:rPr>
              <a:t>0.027383</a:t>
            </a:r>
            <a:endParaRPr lang="zh-TW" altLang="en-US" sz="82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08" name="矩形: 圓角 107">
            <a:extLst>
              <a:ext uri="{FF2B5EF4-FFF2-40B4-BE49-F238E27FC236}">
                <a16:creationId xmlns:a16="http://schemas.microsoft.com/office/drawing/2014/main" id="{53DB3779-DC78-45D5-B98A-0DFAD8F45DBA}"/>
              </a:ext>
            </a:extLst>
          </p:cNvPr>
          <p:cNvSpPr/>
          <p:nvPr/>
        </p:nvSpPr>
        <p:spPr>
          <a:xfrm>
            <a:off x="711200" y="5257800"/>
            <a:ext cx="10033000" cy="68580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3DCC50CA-0925-42C5-8E2C-30A2B3DF7714}"/>
              </a:ext>
            </a:extLst>
          </p:cNvPr>
          <p:cNvSpPr/>
          <p:nvPr/>
        </p:nvSpPr>
        <p:spPr>
          <a:xfrm>
            <a:off x="711200" y="5257800"/>
            <a:ext cx="50800" cy="685800"/>
          </a:xfrm>
          <a:prstGeom prst="rect">
            <a:avLst/>
          </a:prstGeom>
          <a:solidFill>
            <a:srgbClr val="D3A12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0" name="文字方塊 109">
            <a:extLst>
              <a:ext uri="{FF2B5EF4-FFF2-40B4-BE49-F238E27FC236}">
                <a16:creationId xmlns:a16="http://schemas.microsoft.com/office/drawing/2014/main" id="{EE7B859E-FF44-4722-9C4C-127A72C48DB7}"/>
              </a:ext>
            </a:extLst>
          </p:cNvPr>
          <p:cNvSpPr txBox="1"/>
          <p:nvPr/>
        </p:nvSpPr>
        <p:spPr>
          <a:xfrm>
            <a:off x="965200" y="5435600"/>
            <a:ext cx="9525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1150" b="1">
                <a:solidFill>
                  <a:srgbClr val="122033"/>
                </a:solidFill>
                <a:latin typeface="Microsoft JhengHei" panose="020B0604030504040204" pitchFamily="34" charset="-120"/>
              </a:rPr>
              <a:t>讀法：</a:t>
            </a:r>
            <a:r>
              <a:rPr lang="en-US" altLang="zh-TW" sz="1150" b="1">
                <a:solidFill>
                  <a:srgbClr val="122033"/>
                </a:solidFill>
                <a:latin typeface="Microsoft JhengHei" panose="020B0604030504040204" pitchFamily="34" charset="-120"/>
              </a:rPr>
              <a:t>A-RAG Full </a:t>
            </a:r>
            <a:r>
              <a:rPr lang="zh-TW" altLang="en-US" sz="1150" b="1">
                <a:solidFill>
                  <a:srgbClr val="122033"/>
                </a:solidFill>
                <a:latin typeface="Microsoft JhengHei" panose="020B0604030504040204" pitchFamily="34" charset="-120"/>
              </a:rPr>
              <a:t>準確率最高，但真實 </a:t>
            </a:r>
            <a:r>
              <a:rPr lang="en-US" altLang="zh-TW" sz="1150" b="1">
                <a:solidFill>
                  <a:srgbClr val="122033"/>
                </a:solidFill>
                <a:latin typeface="Microsoft JhengHei" panose="020B0604030504040204" pitchFamily="34" charset="-120"/>
              </a:rPr>
              <a:t>input tokens </a:t>
            </a:r>
            <a:r>
              <a:rPr lang="zh-TW" altLang="en-US" sz="1150" b="1">
                <a:solidFill>
                  <a:srgbClr val="122033"/>
                </a:solidFill>
                <a:latin typeface="Microsoft JhengHei" panose="020B0604030504040204" pitchFamily="34" charset="-120"/>
              </a:rPr>
              <a:t>與成本也最高；</a:t>
            </a:r>
            <a:r>
              <a:rPr lang="en-US" altLang="zh-TW" sz="1150" b="1">
                <a:solidFill>
                  <a:srgbClr val="122033"/>
                </a:solidFill>
                <a:latin typeface="Microsoft JhengHei" panose="020B0604030504040204" pitchFamily="34" charset="-120"/>
              </a:rPr>
              <a:t>Hybrid baseline </a:t>
            </a:r>
            <a:r>
              <a:rPr lang="zh-TW" altLang="en-US" sz="1150" b="1">
                <a:solidFill>
                  <a:srgbClr val="122033"/>
                </a:solidFill>
                <a:latin typeface="Microsoft JhengHei" panose="020B0604030504040204" pitchFamily="34" charset="-120"/>
              </a:rPr>
              <a:t>明顯變強，適合作為更公平的對照組。</a:t>
            </a:r>
          </a:p>
        </p:txBody>
      </p:sp>
    </p:spTree>
    <p:extLst>
      <p:ext uri="{BB962C8B-B14F-4D97-AF65-F5344CB8AC3E}">
        <p14:creationId xmlns:p14="http://schemas.microsoft.com/office/powerpoint/2010/main" val="3695841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7610442-D52F-4FDA-9F54-1F660292C68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878143-675C-46C6-8EE8-776ADAA49555}"/>
              </a:ext>
            </a:extLst>
          </p:cNvPr>
          <p:cNvSpPr/>
          <p:nvPr/>
        </p:nvSpPr>
        <p:spPr>
          <a:xfrm>
            <a:off x="114300" y="0"/>
            <a:ext cx="12077700" cy="6858000"/>
          </a:xfrm>
          <a:prstGeom prst="rect">
            <a:avLst/>
          </a:prstGeom>
          <a:solidFill>
            <a:srgbClr val="F6F8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F80704F-648E-4A08-A55B-C5020449574C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2C28356-1192-41F4-A8D8-11DEF1CC22BB}"/>
              </a:ext>
            </a:extLst>
          </p:cNvPr>
          <p:cNvSpPr txBox="1"/>
          <p:nvPr/>
        </p:nvSpPr>
        <p:spPr>
          <a:xfrm>
            <a:off x="419100" y="228600"/>
            <a:ext cx="180975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900">
                <a:solidFill>
                  <a:srgbClr val="5F748F"/>
                </a:solidFill>
                <a:latin typeface="Microsoft JhengHei" panose="020B0604030504040204" pitchFamily="34" charset="-120"/>
              </a:rPr>
              <a:t>A-RAG Paper Report</a:t>
            </a:r>
            <a:endParaRPr lang="zh-TW" altLang="en-US" sz="900">
              <a:solidFill>
                <a:srgbClr val="5F748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DBF3C8C-04C6-43B8-8DA0-D22DA0396C51}"/>
              </a:ext>
            </a:extLst>
          </p:cNvPr>
          <p:cNvSpPr txBox="1"/>
          <p:nvPr/>
        </p:nvSpPr>
        <p:spPr>
          <a:xfrm>
            <a:off x="10572750" y="228600"/>
            <a:ext cx="104775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TW" sz="900">
                <a:solidFill>
                  <a:srgbClr val="5F748F"/>
                </a:solidFill>
                <a:latin typeface="Microsoft JhengHei" panose="020B0604030504040204" pitchFamily="34" charset="-120"/>
              </a:rPr>
              <a:t>10 / 14</a:t>
            </a:r>
            <a:endParaRPr lang="zh-TW" altLang="en-US" sz="900">
              <a:solidFill>
                <a:srgbClr val="5F748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7301AEC-2429-4DF0-8350-B91EFE83A436}"/>
              </a:ext>
            </a:extLst>
          </p:cNvPr>
          <p:cNvSpPr txBox="1"/>
          <p:nvPr/>
        </p:nvSpPr>
        <p:spPr>
          <a:xfrm>
            <a:off x="419100" y="552450"/>
            <a:ext cx="965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表 </a:t>
            </a:r>
            <a:r>
              <a:rPr lang="en-US" altLang="zh-TW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2</a:t>
            </a:r>
            <a:r>
              <a:rPr lang="zh-TW" altLang="en-US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：</a:t>
            </a:r>
            <a:r>
              <a:rPr lang="en-US" altLang="zh-TW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Q1 </a:t>
            </a:r>
            <a:r>
              <a:rPr lang="zh-TW" altLang="en-US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長 </a:t>
            </a:r>
            <a:r>
              <a:rPr lang="en-US" altLang="zh-TW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context </a:t>
            </a:r>
            <a:r>
              <a:rPr lang="zh-TW" altLang="en-US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是否就夠？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2A3B22F-AB1F-48AD-960B-533DBE67DDD3}"/>
              </a:ext>
            </a:extLst>
          </p:cNvPr>
          <p:cNvSpPr/>
          <p:nvPr/>
        </p:nvSpPr>
        <p:spPr>
          <a:xfrm>
            <a:off x="419100" y="1104900"/>
            <a:ext cx="7429500" cy="1905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E9394FF-030A-4FB7-B801-2136DC8F726E}"/>
              </a:ext>
            </a:extLst>
          </p:cNvPr>
          <p:cNvSpPr txBox="1"/>
          <p:nvPr/>
        </p:nvSpPr>
        <p:spPr>
          <a:xfrm>
            <a:off x="419100" y="1238250"/>
            <a:ext cx="10287000" cy="1723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如果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A-RAG 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只是因為拿到更多內容，那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Long-context Naive 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應該要大幅接近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A-RAG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9A6AD6F1-9F71-4DED-8A03-1E33FFB638B2}"/>
              </a:ext>
            </a:extLst>
          </p:cNvPr>
          <p:cNvSpPr/>
          <p:nvPr/>
        </p:nvSpPr>
        <p:spPr>
          <a:xfrm>
            <a:off x="685800" y="2006600"/>
            <a:ext cx="2286000" cy="609600"/>
          </a:xfrm>
          <a:prstGeom prst="roundRect">
            <a:avLst>
              <a:gd name="adj" fmla="val 5000"/>
            </a:avLst>
          </a:prstGeom>
          <a:solidFill>
            <a:srgbClr val="DC7F29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5C2002A-7041-4027-98AF-91979CFD72BE}"/>
              </a:ext>
            </a:extLst>
          </p:cNvPr>
          <p:cNvSpPr txBox="1"/>
          <p:nvPr/>
        </p:nvSpPr>
        <p:spPr>
          <a:xfrm>
            <a:off x="736600" y="2070100"/>
            <a:ext cx="2184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zh-TW" altLang="en-US" sz="1050" b="1">
                <a:solidFill>
                  <a:srgbClr val="FFFFFF"/>
                </a:solidFill>
                <a:latin typeface="Microsoft JhengHei" panose="020B0604030504040204" pitchFamily="34" charset="-120"/>
              </a:rPr>
              <a:t>方法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F44725F8-435C-4A44-BE34-E8307D5095FE}"/>
              </a:ext>
            </a:extLst>
          </p:cNvPr>
          <p:cNvSpPr/>
          <p:nvPr/>
        </p:nvSpPr>
        <p:spPr>
          <a:xfrm>
            <a:off x="2971800" y="2006600"/>
            <a:ext cx="2921000" cy="609600"/>
          </a:xfrm>
          <a:prstGeom prst="roundRect">
            <a:avLst>
              <a:gd name="adj" fmla="val 5000"/>
            </a:avLst>
          </a:prstGeom>
          <a:solidFill>
            <a:srgbClr val="DC7F29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DA979F6-9378-4C53-820F-CCD7FA4DF8E9}"/>
              </a:ext>
            </a:extLst>
          </p:cNvPr>
          <p:cNvSpPr txBox="1"/>
          <p:nvPr/>
        </p:nvSpPr>
        <p:spPr>
          <a:xfrm>
            <a:off x="3022600" y="2070100"/>
            <a:ext cx="2819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1050" b="1">
                <a:solidFill>
                  <a:srgbClr val="FFFFFF"/>
                </a:solidFill>
                <a:latin typeface="Microsoft JhengHei" panose="020B0604030504040204" pitchFamily="34" charset="-120"/>
              </a:rPr>
              <a:t>Context </a:t>
            </a:r>
            <a:r>
              <a:rPr lang="zh-TW" altLang="en-US" sz="1050" b="1">
                <a:solidFill>
                  <a:srgbClr val="FFFFFF"/>
                </a:solidFill>
                <a:latin typeface="Microsoft JhengHei" panose="020B0604030504040204" pitchFamily="34" charset="-120"/>
              </a:rPr>
              <a:t>規模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2B30411B-DB6E-44E4-8400-4E623BDFCB13}"/>
              </a:ext>
            </a:extLst>
          </p:cNvPr>
          <p:cNvSpPr/>
          <p:nvPr/>
        </p:nvSpPr>
        <p:spPr>
          <a:xfrm>
            <a:off x="5892800" y="2006600"/>
            <a:ext cx="1397000" cy="609600"/>
          </a:xfrm>
          <a:prstGeom prst="roundRect">
            <a:avLst>
              <a:gd name="adj" fmla="val 5000"/>
            </a:avLst>
          </a:prstGeom>
          <a:solidFill>
            <a:srgbClr val="DC7F29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3C6320F2-801E-481D-9F7D-4E0D895CFA4C}"/>
              </a:ext>
            </a:extLst>
          </p:cNvPr>
          <p:cNvSpPr txBox="1"/>
          <p:nvPr/>
        </p:nvSpPr>
        <p:spPr>
          <a:xfrm>
            <a:off x="5943600" y="2070100"/>
            <a:ext cx="1295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1050" b="1">
                <a:solidFill>
                  <a:srgbClr val="FFFFFF"/>
                </a:solidFill>
                <a:latin typeface="Microsoft JhengHei" panose="020B0604030504040204" pitchFamily="34" charset="-120"/>
              </a:rPr>
              <a:t>LLM Acc</a:t>
            </a:r>
            <a:endParaRPr lang="zh-TW" altLang="en-US" sz="1050" b="1">
              <a:solidFill>
                <a:srgbClr val="FFFFF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37900FB7-EAF1-4366-A239-551DD9FD82DB}"/>
              </a:ext>
            </a:extLst>
          </p:cNvPr>
          <p:cNvSpPr/>
          <p:nvPr/>
        </p:nvSpPr>
        <p:spPr>
          <a:xfrm>
            <a:off x="7289800" y="2006600"/>
            <a:ext cx="3937000" cy="609600"/>
          </a:xfrm>
          <a:prstGeom prst="roundRect">
            <a:avLst>
              <a:gd name="adj" fmla="val 5000"/>
            </a:avLst>
          </a:prstGeom>
          <a:solidFill>
            <a:srgbClr val="DC7F29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0FA0997C-22AE-48C3-8779-8ED032448205}"/>
              </a:ext>
            </a:extLst>
          </p:cNvPr>
          <p:cNvSpPr txBox="1"/>
          <p:nvPr/>
        </p:nvSpPr>
        <p:spPr>
          <a:xfrm>
            <a:off x="7340600" y="2070100"/>
            <a:ext cx="3835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TW" altLang="en-US" sz="1050" b="1">
                <a:solidFill>
                  <a:srgbClr val="FFFFFF"/>
                </a:solidFill>
                <a:latin typeface="Microsoft JhengHei" panose="020B0604030504040204" pitchFamily="34" charset="-120"/>
              </a:rPr>
              <a:t>實驗意義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BE52DB6A-3589-4AD1-8808-89F5FC69E287}"/>
              </a:ext>
            </a:extLst>
          </p:cNvPr>
          <p:cNvSpPr/>
          <p:nvPr/>
        </p:nvSpPr>
        <p:spPr>
          <a:xfrm>
            <a:off x="685800" y="2616200"/>
            <a:ext cx="2286000" cy="609600"/>
          </a:xfrm>
          <a:prstGeom prst="roundRect">
            <a:avLst>
              <a:gd name="adj" fmla="val 5000"/>
            </a:avLst>
          </a:prstGeom>
          <a:solidFill>
            <a:srgbClr val="ECEFF2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03DFCDD3-7183-4236-AD5F-E7277D78029B}"/>
              </a:ext>
            </a:extLst>
          </p:cNvPr>
          <p:cNvSpPr txBox="1"/>
          <p:nvPr/>
        </p:nvSpPr>
        <p:spPr>
          <a:xfrm>
            <a:off x="736600" y="2679700"/>
            <a:ext cx="2184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Naive RAG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AFC27FC2-C876-4716-98DA-C54E1FE6113F}"/>
              </a:ext>
            </a:extLst>
          </p:cNvPr>
          <p:cNvSpPr/>
          <p:nvPr/>
        </p:nvSpPr>
        <p:spPr>
          <a:xfrm>
            <a:off x="2971800" y="2616200"/>
            <a:ext cx="29210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9B388741-B3C7-4CE6-A72D-50C0993B1614}"/>
              </a:ext>
            </a:extLst>
          </p:cNvPr>
          <p:cNvSpPr txBox="1"/>
          <p:nvPr/>
        </p:nvSpPr>
        <p:spPr>
          <a:xfrm>
            <a:off x="3022600" y="2679700"/>
            <a:ext cx="2819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5.6k retrieved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D4DCEAFF-D3EC-4B82-BB4B-12118C58470A}"/>
              </a:ext>
            </a:extLst>
          </p:cNvPr>
          <p:cNvSpPr/>
          <p:nvPr/>
        </p:nvSpPr>
        <p:spPr>
          <a:xfrm>
            <a:off x="5892800" y="2616200"/>
            <a:ext cx="13970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BF825801-72FE-4D09-9785-F6ACFCC8972C}"/>
              </a:ext>
            </a:extLst>
          </p:cNvPr>
          <p:cNvSpPr txBox="1"/>
          <p:nvPr/>
        </p:nvSpPr>
        <p:spPr>
          <a:xfrm>
            <a:off x="5943600" y="2679700"/>
            <a:ext cx="1295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21.0%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1875CFEE-C695-425C-8026-5BC46C41830D}"/>
              </a:ext>
            </a:extLst>
          </p:cNvPr>
          <p:cNvSpPr/>
          <p:nvPr/>
        </p:nvSpPr>
        <p:spPr>
          <a:xfrm>
            <a:off x="7289800" y="2616200"/>
            <a:ext cx="39370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0EBC7FA9-9ABD-4261-9123-D721902E19B9}"/>
              </a:ext>
            </a:extLst>
          </p:cNvPr>
          <p:cNvSpPr txBox="1"/>
          <p:nvPr/>
        </p:nvSpPr>
        <p:spPr>
          <a:xfrm>
            <a:off x="7340600" y="2679700"/>
            <a:ext cx="3835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TW" altLang="en-US" sz="1050">
                <a:solidFill>
                  <a:srgbClr val="122033"/>
                </a:solidFill>
                <a:latin typeface="Microsoft JhengHei" panose="020B0604030504040204" pitchFamily="34" charset="-120"/>
              </a:rPr>
              <a:t>原始單次檢索 </a:t>
            </a:r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baseline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D29BD008-2282-4E90-9826-4DB5CC1C0D2D}"/>
              </a:ext>
            </a:extLst>
          </p:cNvPr>
          <p:cNvSpPr/>
          <p:nvPr/>
        </p:nvSpPr>
        <p:spPr>
          <a:xfrm>
            <a:off x="685800" y="3225800"/>
            <a:ext cx="2286000" cy="609600"/>
          </a:xfrm>
          <a:prstGeom prst="roundRect">
            <a:avLst>
              <a:gd name="adj" fmla="val 5000"/>
            </a:avLst>
          </a:prstGeom>
          <a:solidFill>
            <a:srgbClr val="ECEFF2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0948E330-70B0-4E2A-AD75-9C319809CBD7}"/>
              </a:ext>
            </a:extLst>
          </p:cNvPr>
          <p:cNvSpPr txBox="1"/>
          <p:nvPr/>
        </p:nvSpPr>
        <p:spPr>
          <a:xfrm>
            <a:off x="736600" y="3289300"/>
            <a:ext cx="2184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Long-context Naive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48C131C5-6CCC-4933-BFF6-FDBCAD9A539B}"/>
              </a:ext>
            </a:extLst>
          </p:cNvPr>
          <p:cNvSpPr/>
          <p:nvPr/>
        </p:nvSpPr>
        <p:spPr>
          <a:xfrm>
            <a:off x="2971800" y="3225800"/>
            <a:ext cx="29210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AFE6AD17-07FE-406B-A31D-A15B4E2DE6FB}"/>
              </a:ext>
            </a:extLst>
          </p:cNvPr>
          <p:cNvSpPr txBox="1"/>
          <p:nvPr/>
        </p:nvSpPr>
        <p:spPr>
          <a:xfrm>
            <a:off x="3022600" y="3289300"/>
            <a:ext cx="2819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22.4k retrieved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F3FDCDEA-D61E-45DB-8C8B-B8BAA0CA410E}"/>
              </a:ext>
            </a:extLst>
          </p:cNvPr>
          <p:cNvSpPr/>
          <p:nvPr/>
        </p:nvSpPr>
        <p:spPr>
          <a:xfrm>
            <a:off x="5892800" y="3225800"/>
            <a:ext cx="13970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DE2B5011-B6F4-4367-9D62-AD04DE545C8D}"/>
              </a:ext>
            </a:extLst>
          </p:cNvPr>
          <p:cNvSpPr txBox="1"/>
          <p:nvPr/>
        </p:nvSpPr>
        <p:spPr>
          <a:xfrm>
            <a:off x="5943600" y="3289300"/>
            <a:ext cx="1295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24.0%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35D83119-0CCD-47CA-82C5-7D1A8EF87C6D}"/>
              </a:ext>
            </a:extLst>
          </p:cNvPr>
          <p:cNvSpPr/>
          <p:nvPr/>
        </p:nvSpPr>
        <p:spPr>
          <a:xfrm>
            <a:off x="7289800" y="3225800"/>
            <a:ext cx="39370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55476858-F5E6-457C-A5F0-717F03D53A24}"/>
              </a:ext>
            </a:extLst>
          </p:cNvPr>
          <p:cNvSpPr txBox="1"/>
          <p:nvPr/>
        </p:nvSpPr>
        <p:spPr>
          <a:xfrm>
            <a:off x="7340600" y="3289300"/>
            <a:ext cx="3835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TW" altLang="en-US" sz="1050">
                <a:solidFill>
                  <a:srgbClr val="122033"/>
                </a:solidFill>
                <a:latin typeface="Microsoft JhengHei" panose="020B0604030504040204" pitchFamily="34" charset="-120"/>
              </a:rPr>
              <a:t>把更多 </a:t>
            </a:r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context </a:t>
            </a:r>
            <a:r>
              <a:rPr lang="zh-TW" altLang="en-US" sz="1050">
                <a:solidFill>
                  <a:srgbClr val="122033"/>
                </a:solidFill>
                <a:latin typeface="Microsoft JhengHei" panose="020B0604030504040204" pitchFamily="34" charset="-120"/>
              </a:rPr>
              <a:t>一次塞給模型</a:t>
            </a:r>
          </a:p>
        </p:txBody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176E966F-7201-4937-8BFB-C72BF73815AA}"/>
              </a:ext>
            </a:extLst>
          </p:cNvPr>
          <p:cNvSpPr/>
          <p:nvPr/>
        </p:nvSpPr>
        <p:spPr>
          <a:xfrm>
            <a:off x="685800" y="3835400"/>
            <a:ext cx="2286000" cy="609600"/>
          </a:xfrm>
          <a:prstGeom prst="roundRect">
            <a:avLst>
              <a:gd name="adj" fmla="val 5000"/>
            </a:avLst>
          </a:prstGeom>
          <a:solidFill>
            <a:srgbClr val="ECEFF2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B588DCE6-2C00-4587-B0C6-D951C583CDAC}"/>
              </a:ext>
            </a:extLst>
          </p:cNvPr>
          <p:cNvSpPr txBox="1"/>
          <p:nvPr/>
        </p:nvSpPr>
        <p:spPr>
          <a:xfrm>
            <a:off x="736600" y="3898900"/>
            <a:ext cx="2184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A-RAG Full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6" name="矩形: 圓角 35">
            <a:extLst>
              <a:ext uri="{FF2B5EF4-FFF2-40B4-BE49-F238E27FC236}">
                <a16:creationId xmlns:a16="http://schemas.microsoft.com/office/drawing/2014/main" id="{6977629A-DF81-4F9C-BAE3-5B1553B09227}"/>
              </a:ext>
            </a:extLst>
          </p:cNvPr>
          <p:cNvSpPr/>
          <p:nvPr/>
        </p:nvSpPr>
        <p:spPr>
          <a:xfrm>
            <a:off x="2971800" y="3835400"/>
            <a:ext cx="29210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F4447A1A-05E8-40B8-B34A-8E1F483753C9}"/>
              </a:ext>
            </a:extLst>
          </p:cNvPr>
          <p:cNvSpPr txBox="1"/>
          <p:nvPr/>
        </p:nvSpPr>
        <p:spPr>
          <a:xfrm>
            <a:off x="3022600" y="3898900"/>
            <a:ext cx="2819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4.2k retrieved / 30.4k processed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8" name="矩形: 圓角 37">
            <a:extLst>
              <a:ext uri="{FF2B5EF4-FFF2-40B4-BE49-F238E27FC236}">
                <a16:creationId xmlns:a16="http://schemas.microsoft.com/office/drawing/2014/main" id="{2A255F11-8AD1-4347-99BE-CBAF3D9E9203}"/>
              </a:ext>
            </a:extLst>
          </p:cNvPr>
          <p:cNvSpPr/>
          <p:nvPr/>
        </p:nvSpPr>
        <p:spPr>
          <a:xfrm>
            <a:off x="5892800" y="3835400"/>
            <a:ext cx="13970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01C88E88-7254-4AF8-983F-79A60DBEB427}"/>
              </a:ext>
            </a:extLst>
          </p:cNvPr>
          <p:cNvSpPr txBox="1"/>
          <p:nvPr/>
        </p:nvSpPr>
        <p:spPr>
          <a:xfrm>
            <a:off x="5943600" y="3898900"/>
            <a:ext cx="1295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85.0%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40" name="矩形: 圓角 39">
            <a:extLst>
              <a:ext uri="{FF2B5EF4-FFF2-40B4-BE49-F238E27FC236}">
                <a16:creationId xmlns:a16="http://schemas.microsoft.com/office/drawing/2014/main" id="{3BAFA6EC-41B8-4976-BF65-FAEC9AB39DC5}"/>
              </a:ext>
            </a:extLst>
          </p:cNvPr>
          <p:cNvSpPr/>
          <p:nvPr/>
        </p:nvSpPr>
        <p:spPr>
          <a:xfrm>
            <a:off x="7289800" y="3835400"/>
            <a:ext cx="39370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26902BC5-C440-488D-8936-E9A9F2D5363C}"/>
              </a:ext>
            </a:extLst>
          </p:cNvPr>
          <p:cNvSpPr txBox="1"/>
          <p:nvPr/>
        </p:nvSpPr>
        <p:spPr>
          <a:xfrm>
            <a:off x="7340600" y="3898900"/>
            <a:ext cx="3835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TW" altLang="en-US" sz="1050">
                <a:solidFill>
                  <a:srgbClr val="122033"/>
                </a:solidFill>
                <a:latin typeface="Microsoft JhengHei" panose="020B0604030504040204" pitchFamily="34" charset="-120"/>
              </a:rPr>
              <a:t>多輪工具使用與證據讀取</a:t>
            </a:r>
          </a:p>
        </p:txBody>
      </p:sp>
      <p:sp>
        <p:nvSpPr>
          <p:cNvPr id="42" name="矩形: 圓角 41">
            <a:extLst>
              <a:ext uri="{FF2B5EF4-FFF2-40B4-BE49-F238E27FC236}">
                <a16:creationId xmlns:a16="http://schemas.microsoft.com/office/drawing/2014/main" id="{E945EEBF-0E85-49E7-9D97-95F350833B15}"/>
              </a:ext>
            </a:extLst>
          </p:cNvPr>
          <p:cNvSpPr/>
          <p:nvPr/>
        </p:nvSpPr>
        <p:spPr>
          <a:xfrm>
            <a:off x="952500" y="4889500"/>
            <a:ext cx="9906000" cy="99060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63DF767C-712C-4487-9F24-7A82F86D13CF}"/>
              </a:ext>
            </a:extLst>
          </p:cNvPr>
          <p:cNvSpPr/>
          <p:nvPr/>
        </p:nvSpPr>
        <p:spPr>
          <a:xfrm>
            <a:off x="952500" y="4889500"/>
            <a:ext cx="50800" cy="990600"/>
          </a:xfrm>
          <a:prstGeom prst="rect">
            <a:avLst/>
          </a:prstGeom>
          <a:solidFill>
            <a:srgbClr val="2F9D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E2CD88F9-563D-416E-8A18-65DBE00E52CA}"/>
              </a:ext>
            </a:extLst>
          </p:cNvPr>
          <p:cNvSpPr txBox="1"/>
          <p:nvPr/>
        </p:nvSpPr>
        <p:spPr>
          <a:xfrm>
            <a:off x="1193800" y="5080000"/>
            <a:ext cx="9398000" cy="1877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結論：</a:t>
            </a:r>
            <a:r>
              <a:rPr lang="en-US" altLang="zh-TW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Long-context Naive </a:t>
            </a:r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只從 </a:t>
            </a:r>
            <a:r>
              <a:rPr lang="en-US" altLang="zh-TW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21% </a:t>
            </a:r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到 </a:t>
            </a:r>
            <a:r>
              <a:rPr lang="en-US" altLang="zh-TW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24%</a:t>
            </a:r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，沒有追上 </a:t>
            </a:r>
            <a:r>
              <a:rPr lang="en-US" altLang="zh-TW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A-RAG Full</a:t>
            </a:r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。這表示「多給文字」本身不足以解釋 </a:t>
            </a:r>
            <a:r>
              <a:rPr lang="en-US" altLang="zh-TW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A-RAG </a:t>
            </a:r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的 </a:t>
            </a:r>
            <a:r>
              <a:rPr lang="en-US" altLang="zh-TW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85%</a:t>
            </a:r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。</a:t>
            </a: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6789CCCB-2233-441B-A5BE-7D5245B773DE}"/>
              </a:ext>
            </a:extLst>
          </p:cNvPr>
          <p:cNvSpPr txBox="1"/>
          <p:nvPr/>
        </p:nvSpPr>
        <p:spPr>
          <a:xfrm>
            <a:off x="1193800" y="5461000"/>
            <a:ext cx="9398000" cy="1600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1040">
                <a:solidFill>
                  <a:srgbClr val="5F748F"/>
                </a:solidFill>
                <a:latin typeface="Microsoft JhengHei" panose="020B0604030504040204" pitchFamily="34" charset="-120"/>
              </a:rPr>
              <a:t>但這個 </a:t>
            </a:r>
            <a:r>
              <a:rPr lang="en-US" altLang="zh-TW" sz="1040">
                <a:solidFill>
                  <a:srgbClr val="5F748F"/>
                </a:solidFill>
                <a:latin typeface="Microsoft JhengHei" panose="020B0604030504040204" pitchFamily="34" charset="-120"/>
              </a:rPr>
              <a:t>control </a:t>
            </a:r>
            <a:r>
              <a:rPr lang="zh-TW" altLang="en-US" sz="1040">
                <a:solidFill>
                  <a:srgbClr val="5F748F"/>
                </a:solidFill>
                <a:latin typeface="Microsoft JhengHei" panose="020B0604030504040204" pitchFamily="34" charset="-120"/>
              </a:rPr>
              <a:t>仍然應該放進論文，因為它能分離 </a:t>
            </a:r>
            <a:r>
              <a:rPr lang="en-US" altLang="zh-TW" sz="1040">
                <a:solidFill>
                  <a:srgbClr val="5F748F"/>
                </a:solidFill>
                <a:latin typeface="Microsoft JhengHei" panose="020B0604030504040204" pitchFamily="34" charset="-120"/>
              </a:rPr>
              <a:t>more context </a:t>
            </a:r>
            <a:r>
              <a:rPr lang="zh-TW" altLang="en-US" sz="1040">
                <a:solidFill>
                  <a:srgbClr val="5F748F"/>
                </a:solidFill>
                <a:latin typeface="Microsoft JhengHei" panose="020B0604030504040204" pitchFamily="34" charset="-120"/>
              </a:rPr>
              <a:t>與 </a:t>
            </a:r>
            <a:r>
              <a:rPr lang="en-US" altLang="zh-TW" sz="1040">
                <a:solidFill>
                  <a:srgbClr val="5F748F"/>
                </a:solidFill>
                <a:latin typeface="Microsoft JhengHei" panose="020B0604030504040204" pitchFamily="34" charset="-120"/>
              </a:rPr>
              <a:t>multi-step retrieval/reasoning </a:t>
            </a:r>
            <a:r>
              <a:rPr lang="zh-TW" altLang="en-US" sz="1040">
                <a:solidFill>
                  <a:srgbClr val="5F748F"/>
                </a:solidFill>
                <a:latin typeface="Microsoft JhengHei" panose="020B0604030504040204" pitchFamily="34" charset="-120"/>
              </a:rPr>
              <a:t>的效果。</a:t>
            </a:r>
          </a:p>
        </p:txBody>
      </p:sp>
    </p:spTree>
    <p:extLst>
      <p:ext uri="{BB962C8B-B14F-4D97-AF65-F5344CB8AC3E}">
        <p14:creationId xmlns:p14="http://schemas.microsoft.com/office/powerpoint/2010/main" val="4230483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198CDFA-6B51-45EB-9C06-0454A876D00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A60FE22-310A-47DC-B2EE-4EBE7953EFF3}"/>
              </a:ext>
            </a:extLst>
          </p:cNvPr>
          <p:cNvSpPr/>
          <p:nvPr/>
        </p:nvSpPr>
        <p:spPr>
          <a:xfrm>
            <a:off x="114300" y="0"/>
            <a:ext cx="12077700" cy="6858000"/>
          </a:xfrm>
          <a:prstGeom prst="rect">
            <a:avLst/>
          </a:prstGeom>
          <a:solidFill>
            <a:srgbClr val="F6F8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C5F9EDD-8A17-4038-A199-E56D7419C025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4BBCBF8-39F4-41C3-BC79-DCA500D00F17}"/>
              </a:ext>
            </a:extLst>
          </p:cNvPr>
          <p:cNvSpPr txBox="1"/>
          <p:nvPr/>
        </p:nvSpPr>
        <p:spPr>
          <a:xfrm>
            <a:off x="419100" y="228600"/>
            <a:ext cx="180975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900">
                <a:solidFill>
                  <a:srgbClr val="5F748F"/>
                </a:solidFill>
                <a:latin typeface="Microsoft JhengHei" panose="020B0604030504040204" pitchFamily="34" charset="-120"/>
              </a:rPr>
              <a:t>A-RAG Paper Report</a:t>
            </a:r>
            <a:endParaRPr lang="zh-TW" altLang="en-US" sz="900">
              <a:solidFill>
                <a:srgbClr val="5F748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440DE7B-83C4-4D02-B8A1-7FB948DE009C}"/>
              </a:ext>
            </a:extLst>
          </p:cNvPr>
          <p:cNvSpPr txBox="1"/>
          <p:nvPr/>
        </p:nvSpPr>
        <p:spPr>
          <a:xfrm>
            <a:off x="10572750" y="228600"/>
            <a:ext cx="104775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TW" sz="900">
                <a:solidFill>
                  <a:srgbClr val="5F748F"/>
                </a:solidFill>
                <a:latin typeface="Microsoft JhengHei" panose="020B0604030504040204" pitchFamily="34" charset="-120"/>
              </a:rPr>
              <a:t>11 / 14</a:t>
            </a:r>
            <a:endParaRPr lang="zh-TW" altLang="en-US" sz="900">
              <a:solidFill>
                <a:srgbClr val="5F748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56C928A-6206-494B-9462-8BE2CA55C9E8}"/>
              </a:ext>
            </a:extLst>
          </p:cNvPr>
          <p:cNvSpPr txBox="1"/>
          <p:nvPr/>
        </p:nvSpPr>
        <p:spPr>
          <a:xfrm>
            <a:off x="419100" y="552450"/>
            <a:ext cx="965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表 </a:t>
            </a:r>
            <a:r>
              <a:rPr lang="en-US" altLang="zh-TW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3</a:t>
            </a:r>
            <a:r>
              <a:rPr lang="zh-TW" altLang="en-US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：</a:t>
            </a:r>
            <a:r>
              <a:rPr lang="en-US" altLang="zh-TW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Q2 </a:t>
            </a:r>
            <a:r>
              <a:rPr lang="zh-TW" altLang="en-US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真實 </a:t>
            </a:r>
            <a:r>
              <a:rPr lang="en-US" altLang="zh-TW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token </a:t>
            </a:r>
            <a:r>
              <a:rPr lang="zh-TW" altLang="en-US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成本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FB2F809-1FED-455A-8910-5ED7CF33172D}"/>
              </a:ext>
            </a:extLst>
          </p:cNvPr>
          <p:cNvSpPr/>
          <p:nvPr/>
        </p:nvSpPr>
        <p:spPr>
          <a:xfrm>
            <a:off x="419100" y="1104900"/>
            <a:ext cx="7429500" cy="1905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0393523-8943-4686-9CA7-2CC57FA38CFC}"/>
              </a:ext>
            </a:extLst>
          </p:cNvPr>
          <p:cNvSpPr txBox="1"/>
          <p:nvPr/>
        </p:nvSpPr>
        <p:spPr>
          <a:xfrm>
            <a:off x="419100" y="1238250"/>
            <a:ext cx="10287000" cy="1723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論文的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Context Efficiency 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只算撈出的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unique tokens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；我補算每輪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LLM 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實際處理的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input tokens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7B593714-E77A-46D8-96AB-3E352E43EE54}"/>
              </a:ext>
            </a:extLst>
          </p:cNvPr>
          <p:cNvSpPr/>
          <p:nvPr/>
        </p:nvSpPr>
        <p:spPr>
          <a:xfrm>
            <a:off x="825500" y="2006600"/>
            <a:ext cx="2222500" cy="609600"/>
          </a:xfrm>
          <a:prstGeom prst="roundRect">
            <a:avLst>
              <a:gd name="adj" fmla="val 5000"/>
            </a:avLst>
          </a:prstGeom>
          <a:solidFill>
            <a:srgbClr val="DC7F29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25F67FB-B939-4335-A475-9AD01ACBFAC2}"/>
              </a:ext>
            </a:extLst>
          </p:cNvPr>
          <p:cNvSpPr txBox="1"/>
          <p:nvPr/>
        </p:nvSpPr>
        <p:spPr>
          <a:xfrm>
            <a:off x="876300" y="2070100"/>
            <a:ext cx="21209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zh-TW" altLang="en-US" sz="1050" b="1">
                <a:solidFill>
                  <a:srgbClr val="FFFFFF"/>
                </a:solidFill>
                <a:latin typeface="Microsoft JhengHei" panose="020B0604030504040204" pitchFamily="34" charset="-120"/>
              </a:rPr>
              <a:t>方法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42FB4855-3F3E-4AA2-A2CF-8B493828264D}"/>
              </a:ext>
            </a:extLst>
          </p:cNvPr>
          <p:cNvSpPr/>
          <p:nvPr/>
        </p:nvSpPr>
        <p:spPr>
          <a:xfrm>
            <a:off x="3048000" y="2006600"/>
            <a:ext cx="2095500" cy="609600"/>
          </a:xfrm>
          <a:prstGeom prst="roundRect">
            <a:avLst>
              <a:gd name="adj" fmla="val 5000"/>
            </a:avLst>
          </a:prstGeom>
          <a:solidFill>
            <a:srgbClr val="DC7F29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937194F-1716-43F0-81F2-80615F24054A}"/>
              </a:ext>
            </a:extLst>
          </p:cNvPr>
          <p:cNvSpPr txBox="1"/>
          <p:nvPr/>
        </p:nvSpPr>
        <p:spPr>
          <a:xfrm>
            <a:off x="3098800" y="2070100"/>
            <a:ext cx="19939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1050" b="1">
                <a:solidFill>
                  <a:srgbClr val="FFFFFF"/>
                </a:solidFill>
                <a:latin typeface="Microsoft JhengHei" panose="020B0604030504040204" pitchFamily="34" charset="-120"/>
              </a:rPr>
              <a:t>Retrieved Tokens</a:t>
            </a:r>
            <a:endParaRPr lang="zh-TW" altLang="en-US" sz="1050" b="1">
              <a:solidFill>
                <a:srgbClr val="FFFFF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279E315E-C764-4BA2-974C-7068311C9823}"/>
              </a:ext>
            </a:extLst>
          </p:cNvPr>
          <p:cNvSpPr/>
          <p:nvPr/>
        </p:nvSpPr>
        <p:spPr>
          <a:xfrm>
            <a:off x="5143500" y="2006600"/>
            <a:ext cx="2286000" cy="609600"/>
          </a:xfrm>
          <a:prstGeom prst="roundRect">
            <a:avLst>
              <a:gd name="adj" fmla="val 5000"/>
            </a:avLst>
          </a:prstGeom>
          <a:solidFill>
            <a:srgbClr val="DC7F29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76A3013E-7BFC-4532-96F5-7093C0D20784}"/>
              </a:ext>
            </a:extLst>
          </p:cNvPr>
          <p:cNvSpPr txBox="1"/>
          <p:nvPr/>
        </p:nvSpPr>
        <p:spPr>
          <a:xfrm>
            <a:off x="5194300" y="2070100"/>
            <a:ext cx="2184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1050" b="1">
                <a:solidFill>
                  <a:srgbClr val="FFFFFF"/>
                </a:solidFill>
                <a:latin typeface="Microsoft JhengHei" panose="020B0604030504040204" pitchFamily="34" charset="-120"/>
              </a:rPr>
              <a:t>Input Processed</a:t>
            </a:r>
            <a:endParaRPr lang="zh-TW" altLang="en-US" sz="1050" b="1">
              <a:solidFill>
                <a:srgbClr val="FFFFF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4AC8AC60-A1DA-4465-AFD0-FDA5B40D89FB}"/>
              </a:ext>
            </a:extLst>
          </p:cNvPr>
          <p:cNvSpPr/>
          <p:nvPr/>
        </p:nvSpPr>
        <p:spPr>
          <a:xfrm>
            <a:off x="7429500" y="2006600"/>
            <a:ext cx="1651000" cy="609600"/>
          </a:xfrm>
          <a:prstGeom prst="roundRect">
            <a:avLst>
              <a:gd name="adj" fmla="val 5000"/>
            </a:avLst>
          </a:prstGeom>
          <a:solidFill>
            <a:srgbClr val="DC7F29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0708B8AC-788A-40C7-8003-B5E1E7D1E428}"/>
              </a:ext>
            </a:extLst>
          </p:cNvPr>
          <p:cNvSpPr txBox="1"/>
          <p:nvPr/>
        </p:nvSpPr>
        <p:spPr>
          <a:xfrm>
            <a:off x="7480300" y="2070100"/>
            <a:ext cx="1549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TW" altLang="en-US" sz="1050" b="1">
                <a:solidFill>
                  <a:srgbClr val="FFFFFF"/>
                </a:solidFill>
                <a:latin typeface="Microsoft JhengHei" panose="020B0604030504040204" pitchFamily="34" charset="-120"/>
              </a:rPr>
              <a:t>放大倍率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113810EA-5FB6-4011-863F-C79A64DDDA4D}"/>
              </a:ext>
            </a:extLst>
          </p:cNvPr>
          <p:cNvSpPr/>
          <p:nvPr/>
        </p:nvSpPr>
        <p:spPr>
          <a:xfrm>
            <a:off x="9080500" y="2006600"/>
            <a:ext cx="1778000" cy="609600"/>
          </a:xfrm>
          <a:prstGeom prst="roundRect">
            <a:avLst>
              <a:gd name="adj" fmla="val 5000"/>
            </a:avLst>
          </a:prstGeom>
          <a:solidFill>
            <a:srgbClr val="DC7F29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B15179D6-432E-4A24-9850-F94E810CA8F4}"/>
              </a:ext>
            </a:extLst>
          </p:cNvPr>
          <p:cNvSpPr txBox="1"/>
          <p:nvPr/>
        </p:nvSpPr>
        <p:spPr>
          <a:xfrm>
            <a:off x="9131300" y="2070100"/>
            <a:ext cx="1676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1050" b="1">
                <a:solidFill>
                  <a:srgbClr val="FFFFFF"/>
                </a:solidFill>
                <a:latin typeface="Microsoft JhengHei" panose="020B0604030504040204" pitchFamily="34" charset="-120"/>
              </a:rPr>
              <a:t>Cost/Q</a:t>
            </a:r>
            <a:endParaRPr lang="zh-TW" altLang="en-US" sz="1050" b="1">
              <a:solidFill>
                <a:srgbClr val="FFFFF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27BC7225-D70B-43D3-876E-43F69E92DF7F}"/>
              </a:ext>
            </a:extLst>
          </p:cNvPr>
          <p:cNvSpPr/>
          <p:nvPr/>
        </p:nvSpPr>
        <p:spPr>
          <a:xfrm>
            <a:off x="825500" y="2616200"/>
            <a:ext cx="2222500" cy="609600"/>
          </a:xfrm>
          <a:prstGeom prst="roundRect">
            <a:avLst>
              <a:gd name="adj" fmla="val 5000"/>
            </a:avLst>
          </a:prstGeom>
          <a:solidFill>
            <a:srgbClr val="ECEFF2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8848751A-6D6E-4576-A21A-773DB9374293}"/>
              </a:ext>
            </a:extLst>
          </p:cNvPr>
          <p:cNvSpPr txBox="1"/>
          <p:nvPr/>
        </p:nvSpPr>
        <p:spPr>
          <a:xfrm>
            <a:off x="876300" y="2679700"/>
            <a:ext cx="21209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A-RAG Naive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98625701-2FA0-4EFC-B811-EFF15F6E51EF}"/>
              </a:ext>
            </a:extLst>
          </p:cNvPr>
          <p:cNvSpPr/>
          <p:nvPr/>
        </p:nvSpPr>
        <p:spPr>
          <a:xfrm>
            <a:off x="3048000" y="2616200"/>
            <a:ext cx="20955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02C54D11-3E7B-4A7F-BB62-3AF731FB5D7B}"/>
              </a:ext>
            </a:extLst>
          </p:cNvPr>
          <p:cNvSpPr txBox="1"/>
          <p:nvPr/>
        </p:nvSpPr>
        <p:spPr>
          <a:xfrm>
            <a:off x="3098800" y="2679700"/>
            <a:ext cx="19939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3.5k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9D8C2E1B-44C0-45BA-95D9-F8A453E4BBB1}"/>
              </a:ext>
            </a:extLst>
          </p:cNvPr>
          <p:cNvSpPr/>
          <p:nvPr/>
        </p:nvSpPr>
        <p:spPr>
          <a:xfrm>
            <a:off x="5143500" y="2616200"/>
            <a:ext cx="22860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01D9E58E-1E99-4869-8A15-41D725944C0C}"/>
              </a:ext>
            </a:extLst>
          </p:cNvPr>
          <p:cNvSpPr txBox="1"/>
          <p:nvPr/>
        </p:nvSpPr>
        <p:spPr>
          <a:xfrm>
            <a:off x="5194300" y="2679700"/>
            <a:ext cx="2184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28.8k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5FF18F47-7313-4208-84A4-9A7792157393}"/>
              </a:ext>
            </a:extLst>
          </p:cNvPr>
          <p:cNvSpPr/>
          <p:nvPr/>
        </p:nvSpPr>
        <p:spPr>
          <a:xfrm>
            <a:off x="7429500" y="2616200"/>
            <a:ext cx="16510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F9478431-9143-4ACD-A634-069B8CF21983}"/>
              </a:ext>
            </a:extLst>
          </p:cNvPr>
          <p:cNvSpPr txBox="1"/>
          <p:nvPr/>
        </p:nvSpPr>
        <p:spPr>
          <a:xfrm>
            <a:off x="7480300" y="2679700"/>
            <a:ext cx="1549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8.3x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BCD8A668-563D-44B5-931B-F82DDEA64AA3}"/>
              </a:ext>
            </a:extLst>
          </p:cNvPr>
          <p:cNvSpPr/>
          <p:nvPr/>
        </p:nvSpPr>
        <p:spPr>
          <a:xfrm>
            <a:off x="9080500" y="2616200"/>
            <a:ext cx="17780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3B06FAF7-98B9-4B4C-8EED-19B25125A706}"/>
              </a:ext>
            </a:extLst>
          </p:cNvPr>
          <p:cNvSpPr txBox="1"/>
          <p:nvPr/>
        </p:nvSpPr>
        <p:spPr>
          <a:xfrm>
            <a:off x="9131300" y="2679700"/>
            <a:ext cx="1676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0.026000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CD0026DC-D6A0-4DDD-93A0-6B28C16B1BE3}"/>
              </a:ext>
            </a:extLst>
          </p:cNvPr>
          <p:cNvSpPr/>
          <p:nvPr/>
        </p:nvSpPr>
        <p:spPr>
          <a:xfrm>
            <a:off x="825500" y="3225800"/>
            <a:ext cx="2222500" cy="609600"/>
          </a:xfrm>
          <a:prstGeom prst="roundRect">
            <a:avLst>
              <a:gd name="adj" fmla="val 5000"/>
            </a:avLst>
          </a:prstGeom>
          <a:solidFill>
            <a:srgbClr val="ECEFF2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E52A2D9F-2FE9-44F6-B371-8EB61B591596}"/>
              </a:ext>
            </a:extLst>
          </p:cNvPr>
          <p:cNvSpPr txBox="1"/>
          <p:nvPr/>
        </p:nvSpPr>
        <p:spPr>
          <a:xfrm>
            <a:off x="876300" y="3289300"/>
            <a:ext cx="21209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A-RAG w/o keyword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6BC339F5-7BA8-433C-B597-36A20A65D250}"/>
              </a:ext>
            </a:extLst>
          </p:cNvPr>
          <p:cNvSpPr/>
          <p:nvPr/>
        </p:nvSpPr>
        <p:spPr>
          <a:xfrm>
            <a:off x="3048000" y="3225800"/>
            <a:ext cx="20955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3C8E8F00-D528-4D34-AFE1-03CABBFFBD70}"/>
              </a:ext>
            </a:extLst>
          </p:cNvPr>
          <p:cNvSpPr txBox="1"/>
          <p:nvPr/>
        </p:nvSpPr>
        <p:spPr>
          <a:xfrm>
            <a:off x="3098800" y="3289300"/>
            <a:ext cx="19939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3.7k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26F0065F-A0D3-4F54-9E15-D28C0E74334D}"/>
              </a:ext>
            </a:extLst>
          </p:cNvPr>
          <p:cNvSpPr/>
          <p:nvPr/>
        </p:nvSpPr>
        <p:spPr>
          <a:xfrm>
            <a:off x="5143500" y="3225800"/>
            <a:ext cx="22860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46A166B4-C206-487B-94B0-7913FDE34E94}"/>
              </a:ext>
            </a:extLst>
          </p:cNvPr>
          <p:cNvSpPr txBox="1"/>
          <p:nvPr/>
        </p:nvSpPr>
        <p:spPr>
          <a:xfrm>
            <a:off x="5194300" y="3289300"/>
            <a:ext cx="2184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30.4k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6" name="矩形: 圓角 35">
            <a:extLst>
              <a:ext uri="{FF2B5EF4-FFF2-40B4-BE49-F238E27FC236}">
                <a16:creationId xmlns:a16="http://schemas.microsoft.com/office/drawing/2014/main" id="{697D6E21-234E-4167-BCDC-EC6CB4725E06}"/>
              </a:ext>
            </a:extLst>
          </p:cNvPr>
          <p:cNvSpPr/>
          <p:nvPr/>
        </p:nvSpPr>
        <p:spPr>
          <a:xfrm>
            <a:off x="7429500" y="3225800"/>
            <a:ext cx="16510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40D8D924-FE7F-42C4-ABBB-3EB624D0A763}"/>
              </a:ext>
            </a:extLst>
          </p:cNvPr>
          <p:cNvSpPr txBox="1"/>
          <p:nvPr/>
        </p:nvSpPr>
        <p:spPr>
          <a:xfrm>
            <a:off x="7480300" y="3289300"/>
            <a:ext cx="1549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8.2x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8" name="矩形: 圓角 37">
            <a:extLst>
              <a:ext uri="{FF2B5EF4-FFF2-40B4-BE49-F238E27FC236}">
                <a16:creationId xmlns:a16="http://schemas.microsoft.com/office/drawing/2014/main" id="{C52DED0B-A575-4B7E-8548-5702529395BC}"/>
              </a:ext>
            </a:extLst>
          </p:cNvPr>
          <p:cNvSpPr/>
          <p:nvPr/>
        </p:nvSpPr>
        <p:spPr>
          <a:xfrm>
            <a:off x="9080500" y="3225800"/>
            <a:ext cx="17780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3A8E0B1D-2A7D-4860-B04F-2CDC00EA902B}"/>
              </a:ext>
            </a:extLst>
          </p:cNvPr>
          <p:cNvSpPr txBox="1"/>
          <p:nvPr/>
        </p:nvSpPr>
        <p:spPr>
          <a:xfrm>
            <a:off x="9131300" y="3289300"/>
            <a:ext cx="1676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0.025906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40" name="矩形: 圓角 39">
            <a:extLst>
              <a:ext uri="{FF2B5EF4-FFF2-40B4-BE49-F238E27FC236}">
                <a16:creationId xmlns:a16="http://schemas.microsoft.com/office/drawing/2014/main" id="{0F2406B3-3003-4446-9E19-B8C6DF26D6DF}"/>
              </a:ext>
            </a:extLst>
          </p:cNvPr>
          <p:cNvSpPr/>
          <p:nvPr/>
        </p:nvSpPr>
        <p:spPr>
          <a:xfrm>
            <a:off x="825500" y="3835400"/>
            <a:ext cx="2222500" cy="609600"/>
          </a:xfrm>
          <a:prstGeom prst="roundRect">
            <a:avLst>
              <a:gd name="adj" fmla="val 5000"/>
            </a:avLst>
          </a:prstGeom>
          <a:solidFill>
            <a:srgbClr val="ECEFF2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64456B32-78A6-4F67-8BB0-5B86271D0AF6}"/>
              </a:ext>
            </a:extLst>
          </p:cNvPr>
          <p:cNvSpPr txBox="1"/>
          <p:nvPr/>
        </p:nvSpPr>
        <p:spPr>
          <a:xfrm>
            <a:off x="876300" y="3898900"/>
            <a:ext cx="21209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A-RAG Full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42" name="矩形: 圓角 41">
            <a:extLst>
              <a:ext uri="{FF2B5EF4-FFF2-40B4-BE49-F238E27FC236}">
                <a16:creationId xmlns:a16="http://schemas.microsoft.com/office/drawing/2014/main" id="{56A4F774-413E-4280-A17C-7DF5501C0762}"/>
              </a:ext>
            </a:extLst>
          </p:cNvPr>
          <p:cNvSpPr/>
          <p:nvPr/>
        </p:nvSpPr>
        <p:spPr>
          <a:xfrm>
            <a:off x="3048000" y="3835400"/>
            <a:ext cx="20955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A7E1EA83-0DC5-445A-A6BB-C742128FE95C}"/>
              </a:ext>
            </a:extLst>
          </p:cNvPr>
          <p:cNvSpPr txBox="1"/>
          <p:nvPr/>
        </p:nvSpPr>
        <p:spPr>
          <a:xfrm>
            <a:off x="3098800" y="3898900"/>
            <a:ext cx="19939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4.2k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44" name="矩形: 圓角 43">
            <a:extLst>
              <a:ext uri="{FF2B5EF4-FFF2-40B4-BE49-F238E27FC236}">
                <a16:creationId xmlns:a16="http://schemas.microsoft.com/office/drawing/2014/main" id="{03A95D99-5F02-47EB-94B8-50BA4CAAABE3}"/>
              </a:ext>
            </a:extLst>
          </p:cNvPr>
          <p:cNvSpPr/>
          <p:nvPr/>
        </p:nvSpPr>
        <p:spPr>
          <a:xfrm>
            <a:off x="5143500" y="3835400"/>
            <a:ext cx="22860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46539B58-FB92-4E1E-9BBF-F8C2D2E54354}"/>
              </a:ext>
            </a:extLst>
          </p:cNvPr>
          <p:cNvSpPr txBox="1"/>
          <p:nvPr/>
        </p:nvSpPr>
        <p:spPr>
          <a:xfrm>
            <a:off x="5194300" y="3898900"/>
            <a:ext cx="2184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30.4k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46" name="矩形: 圓角 45">
            <a:extLst>
              <a:ext uri="{FF2B5EF4-FFF2-40B4-BE49-F238E27FC236}">
                <a16:creationId xmlns:a16="http://schemas.microsoft.com/office/drawing/2014/main" id="{4BF71918-B6BD-4959-AF55-457A51F67D3C}"/>
              </a:ext>
            </a:extLst>
          </p:cNvPr>
          <p:cNvSpPr/>
          <p:nvPr/>
        </p:nvSpPr>
        <p:spPr>
          <a:xfrm>
            <a:off x="7429500" y="3835400"/>
            <a:ext cx="16510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D711C6DD-8D92-43B6-96DA-C5E42F472E34}"/>
              </a:ext>
            </a:extLst>
          </p:cNvPr>
          <p:cNvSpPr txBox="1"/>
          <p:nvPr/>
        </p:nvSpPr>
        <p:spPr>
          <a:xfrm>
            <a:off x="7480300" y="3898900"/>
            <a:ext cx="1549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7.2x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48" name="矩形: 圓角 47">
            <a:extLst>
              <a:ext uri="{FF2B5EF4-FFF2-40B4-BE49-F238E27FC236}">
                <a16:creationId xmlns:a16="http://schemas.microsoft.com/office/drawing/2014/main" id="{C75E3A58-23DE-4695-B8FA-37EE6C852459}"/>
              </a:ext>
            </a:extLst>
          </p:cNvPr>
          <p:cNvSpPr/>
          <p:nvPr/>
        </p:nvSpPr>
        <p:spPr>
          <a:xfrm>
            <a:off x="9080500" y="3835400"/>
            <a:ext cx="17780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406987F3-F482-4B33-89D9-9D2D6B8AD0A6}"/>
              </a:ext>
            </a:extLst>
          </p:cNvPr>
          <p:cNvSpPr txBox="1"/>
          <p:nvPr/>
        </p:nvSpPr>
        <p:spPr>
          <a:xfrm>
            <a:off x="9131300" y="3898900"/>
            <a:ext cx="1676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0.027383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50" name="矩形: 圓角 49">
            <a:extLst>
              <a:ext uri="{FF2B5EF4-FFF2-40B4-BE49-F238E27FC236}">
                <a16:creationId xmlns:a16="http://schemas.microsoft.com/office/drawing/2014/main" id="{0FE8E22F-572B-4B1B-A374-A33CF8DE69F6}"/>
              </a:ext>
            </a:extLst>
          </p:cNvPr>
          <p:cNvSpPr/>
          <p:nvPr/>
        </p:nvSpPr>
        <p:spPr>
          <a:xfrm>
            <a:off x="1016000" y="4889500"/>
            <a:ext cx="9652000" cy="99060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09825E8A-81AE-46B8-9F45-11682707D333}"/>
              </a:ext>
            </a:extLst>
          </p:cNvPr>
          <p:cNvSpPr/>
          <p:nvPr/>
        </p:nvSpPr>
        <p:spPr>
          <a:xfrm>
            <a:off x="1016000" y="4889500"/>
            <a:ext cx="50800" cy="99060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B355DDCF-A921-4BBA-855F-D2ED127A9CF9}"/>
              </a:ext>
            </a:extLst>
          </p:cNvPr>
          <p:cNvSpPr txBox="1"/>
          <p:nvPr/>
        </p:nvSpPr>
        <p:spPr>
          <a:xfrm>
            <a:off x="1257300" y="5080000"/>
            <a:ext cx="9144000" cy="1877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結論：</a:t>
            </a:r>
            <a:r>
              <a:rPr lang="en-US" altLang="zh-TW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A-RAG Full </a:t>
            </a:r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看似只 </a:t>
            </a:r>
            <a:r>
              <a:rPr lang="en-US" altLang="zh-TW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retrieve 4.2k tokens</a:t>
            </a:r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，但 </a:t>
            </a:r>
            <a:r>
              <a:rPr lang="en-US" altLang="zh-TW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LLM </a:t>
            </a:r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實際處理約 </a:t>
            </a:r>
            <a:r>
              <a:rPr lang="en-US" altLang="zh-TW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30.4k input tokens</a:t>
            </a:r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。</a:t>
            </a:r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2B1FA566-64B8-42A1-873C-90440EDC1D80}"/>
              </a:ext>
            </a:extLst>
          </p:cNvPr>
          <p:cNvSpPr txBox="1"/>
          <p:nvPr/>
        </p:nvSpPr>
        <p:spPr>
          <a:xfrm>
            <a:off x="1257300" y="5461000"/>
            <a:ext cx="9144000" cy="1600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1040">
                <a:solidFill>
                  <a:srgbClr val="5F748F"/>
                </a:solidFill>
                <a:latin typeface="Microsoft JhengHei" panose="020B0604030504040204" pitchFamily="34" charset="-120"/>
              </a:rPr>
              <a:t>所以 </a:t>
            </a:r>
            <a:r>
              <a:rPr lang="en-US" altLang="zh-TW" sz="1040">
                <a:solidFill>
                  <a:srgbClr val="5F748F"/>
                </a:solidFill>
                <a:latin typeface="Microsoft JhengHei" panose="020B0604030504040204" pitchFamily="34" charset="-120"/>
              </a:rPr>
              <a:t>Context Efficiency </a:t>
            </a:r>
            <a:r>
              <a:rPr lang="zh-TW" altLang="en-US" sz="1040">
                <a:solidFill>
                  <a:srgbClr val="5F748F"/>
                </a:solidFill>
                <a:latin typeface="Microsoft JhengHei" panose="020B0604030504040204" pitchFamily="34" charset="-120"/>
              </a:rPr>
              <a:t>不能等同於 </a:t>
            </a:r>
            <a:r>
              <a:rPr lang="en-US" altLang="zh-TW" sz="1040">
                <a:solidFill>
                  <a:srgbClr val="5F748F"/>
                </a:solidFill>
                <a:latin typeface="Microsoft JhengHei" panose="020B0604030504040204" pitchFamily="34" charset="-120"/>
              </a:rPr>
              <a:t>compute efficiency</a:t>
            </a:r>
            <a:r>
              <a:rPr lang="zh-TW" altLang="en-US" sz="1040">
                <a:solidFill>
                  <a:srgbClr val="5F748F"/>
                </a:solidFill>
                <a:latin typeface="Microsoft JhengHei" panose="020B0604030504040204" pitchFamily="34" charset="-120"/>
              </a:rPr>
              <a:t>；報告時應同時列 </a:t>
            </a:r>
            <a:r>
              <a:rPr lang="en-US" altLang="zh-TW" sz="1040">
                <a:solidFill>
                  <a:srgbClr val="5F748F"/>
                </a:solidFill>
                <a:latin typeface="Microsoft JhengHei" panose="020B0604030504040204" pitchFamily="34" charset="-120"/>
              </a:rPr>
              <a:t>API calls</a:t>
            </a:r>
            <a:r>
              <a:rPr lang="zh-TW" altLang="en-US" sz="1040">
                <a:solidFill>
                  <a:srgbClr val="5F748F"/>
                </a:solidFill>
                <a:latin typeface="Microsoft JhengHei" panose="020B0604030504040204" pitchFamily="34" charset="-120"/>
              </a:rPr>
              <a:t>、</a:t>
            </a:r>
            <a:r>
              <a:rPr lang="en-US" altLang="zh-TW" sz="1040">
                <a:solidFill>
                  <a:srgbClr val="5F748F"/>
                </a:solidFill>
                <a:latin typeface="Microsoft JhengHei" panose="020B0604030504040204" pitchFamily="34" charset="-120"/>
              </a:rPr>
              <a:t>input processed tokens </a:t>
            </a:r>
            <a:r>
              <a:rPr lang="zh-TW" altLang="en-US" sz="1040">
                <a:solidFill>
                  <a:srgbClr val="5F748F"/>
                </a:solidFill>
                <a:latin typeface="Microsoft JhengHei" panose="020B0604030504040204" pitchFamily="34" charset="-120"/>
              </a:rPr>
              <a:t>與 </a:t>
            </a:r>
            <a:r>
              <a:rPr lang="en-US" altLang="zh-TW" sz="1040">
                <a:solidFill>
                  <a:srgbClr val="5F748F"/>
                </a:solidFill>
                <a:latin typeface="Microsoft JhengHei" panose="020B0604030504040204" pitchFamily="34" charset="-120"/>
              </a:rPr>
              <a:t>cost</a:t>
            </a:r>
            <a:r>
              <a:rPr lang="zh-TW" altLang="en-US" sz="1040">
                <a:solidFill>
                  <a:srgbClr val="5F748F"/>
                </a:solidFill>
                <a:latin typeface="Microsoft JhengHei" panose="020B0604030504040204" pitchFamily="34" charset="-12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5576759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B68CC8C-DC4D-4BBC-8631-F0BD3B88284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FFCFBA2-42F8-46B7-8E89-9C6EE31BFE07}"/>
              </a:ext>
            </a:extLst>
          </p:cNvPr>
          <p:cNvSpPr/>
          <p:nvPr/>
        </p:nvSpPr>
        <p:spPr>
          <a:xfrm>
            <a:off x="114300" y="0"/>
            <a:ext cx="12077700" cy="6858000"/>
          </a:xfrm>
          <a:prstGeom prst="rect">
            <a:avLst/>
          </a:prstGeom>
          <a:solidFill>
            <a:srgbClr val="F6F8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D4BE4B8-0B87-4F5C-B69F-C394B530DE64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AEF1B99-B000-42E7-B832-5E297E0C1D54}"/>
              </a:ext>
            </a:extLst>
          </p:cNvPr>
          <p:cNvSpPr txBox="1"/>
          <p:nvPr/>
        </p:nvSpPr>
        <p:spPr>
          <a:xfrm>
            <a:off x="419100" y="228600"/>
            <a:ext cx="180975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900">
                <a:solidFill>
                  <a:srgbClr val="5F748F"/>
                </a:solidFill>
                <a:latin typeface="Microsoft JhengHei" panose="020B0604030504040204" pitchFamily="34" charset="-120"/>
              </a:rPr>
              <a:t>A-RAG Paper Report</a:t>
            </a:r>
            <a:endParaRPr lang="zh-TW" altLang="en-US" sz="900">
              <a:solidFill>
                <a:srgbClr val="5F748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9F80FA9-5AD8-49FB-93AD-F1CB9F8BF865}"/>
              </a:ext>
            </a:extLst>
          </p:cNvPr>
          <p:cNvSpPr txBox="1"/>
          <p:nvPr/>
        </p:nvSpPr>
        <p:spPr>
          <a:xfrm>
            <a:off x="10572750" y="228600"/>
            <a:ext cx="104775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TW" sz="900">
                <a:solidFill>
                  <a:srgbClr val="5F748F"/>
                </a:solidFill>
                <a:latin typeface="Microsoft JhengHei" panose="020B0604030504040204" pitchFamily="34" charset="-120"/>
              </a:rPr>
              <a:t>12 / 14</a:t>
            </a:r>
            <a:endParaRPr lang="zh-TW" altLang="en-US" sz="900">
              <a:solidFill>
                <a:srgbClr val="5F748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B12BFDB-0264-432E-A4E2-D573B5947681}"/>
              </a:ext>
            </a:extLst>
          </p:cNvPr>
          <p:cNvSpPr txBox="1"/>
          <p:nvPr/>
        </p:nvSpPr>
        <p:spPr>
          <a:xfrm>
            <a:off x="419100" y="552450"/>
            <a:ext cx="965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表 </a:t>
            </a:r>
            <a:r>
              <a:rPr lang="en-US" altLang="zh-TW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4</a:t>
            </a:r>
            <a:r>
              <a:rPr lang="zh-TW" altLang="en-US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：</a:t>
            </a:r>
            <a:r>
              <a:rPr lang="en-US" altLang="zh-TW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Q3 Hybrid baseline </a:t>
            </a:r>
            <a:r>
              <a:rPr lang="zh-TW" altLang="en-US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是否追上？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E212279-E7AA-4129-93FD-FBA380E3BC06}"/>
              </a:ext>
            </a:extLst>
          </p:cNvPr>
          <p:cNvSpPr/>
          <p:nvPr/>
        </p:nvSpPr>
        <p:spPr>
          <a:xfrm>
            <a:off x="419100" y="1104900"/>
            <a:ext cx="7429500" cy="1905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8244B42-28AE-4E0D-9038-B65EC9E1CFCB}"/>
              </a:ext>
            </a:extLst>
          </p:cNvPr>
          <p:cNvSpPr txBox="1"/>
          <p:nvPr/>
        </p:nvSpPr>
        <p:spPr>
          <a:xfrm>
            <a:off x="419100" y="1238250"/>
            <a:ext cx="10287000" cy="1723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把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Naive RAG 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升級為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BM25 + vector hybrid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，檢查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A-RAG Full 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的優勢是否只是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keyword_search 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帶來。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6D491198-653C-4057-AA19-189E886F8C54}"/>
              </a:ext>
            </a:extLst>
          </p:cNvPr>
          <p:cNvSpPr/>
          <p:nvPr/>
        </p:nvSpPr>
        <p:spPr>
          <a:xfrm>
            <a:off x="685800" y="2006600"/>
            <a:ext cx="2349500" cy="609600"/>
          </a:xfrm>
          <a:prstGeom prst="roundRect">
            <a:avLst>
              <a:gd name="adj" fmla="val 5000"/>
            </a:avLst>
          </a:prstGeom>
          <a:solidFill>
            <a:srgbClr val="DC7F29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FDA5E84-492C-4B67-8825-C1DB72E19E5C}"/>
              </a:ext>
            </a:extLst>
          </p:cNvPr>
          <p:cNvSpPr txBox="1"/>
          <p:nvPr/>
        </p:nvSpPr>
        <p:spPr>
          <a:xfrm>
            <a:off x="736600" y="2070100"/>
            <a:ext cx="22479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zh-TW" altLang="en-US" sz="1050" b="1">
                <a:solidFill>
                  <a:srgbClr val="FFFFFF"/>
                </a:solidFill>
                <a:latin typeface="Microsoft JhengHei" panose="020B0604030504040204" pitchFamily="34" charset="-120"/>
              </a:rPr>
              <a:t>方法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519A971B-8825-494B-8BC9-AE651A5EFB7F}"/>
              </a:ext>
            </a:extLst>
          </p:cNvPr>
          <p:cNvSpPr/>
          <p:nvPr/>
        </p:nvSpPr>
        <p:spPr>
          <a:xfrm>
            <a:off x="3035300" y="2006600"/>
            <a:ext cx="3238500" cy="609600"/>
          </a:xfrm>
          <a:prstGeom prst="roundRect">
            <a:avLst>
              <a:gd name="adj" fmla="val 5000"/>
            </a:avLst>
          </a:prstGeom>
          <a:solidFill>
            <a:srgbClr val="DC7F29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310A5DD9-7506-49E1-938B-FB51BF6EB2DB}"/>
              </a:ext>
            </a:extLst>
          </p:cNvPr>
          <p:cNvSpPr txBox="1"/>
          <p:nvPr/>
        </p:nvSpPr>
        <p:spPr>
          <a:xfrm>
            <a:off x="3086100" y="2070100"/>
            <a:ext cx="31369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TW" altLang="en-US" sz="1050" b="1">
                <a:solidFill>
                  <a:srgbClr val="FFFFFF"/>
                </a:solidFill>
                <a:latin typeface="Microsoft JhengHei" panose="020B0604030504040204" pitchFamily="34" charset="-120"/>
              </a:rPr>
              <a:t>檢索策略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05BE2074-CB0F-41C5-B094-695F718890E3}"/>
              </a:ext>
            </a:extLst>
          </p:cNvPr>
          <p:cNvSpPr/>
          <p:nvPr/>
        </p:nvSpPr>
        <p:spPr>
          <a:xfrm>
            <a:off x="6273800" y="2006600"/>
            <a:ext cx="1524000" cy="609600"/>
          </a:xfrm>
          <a:prstGeom prst="roundRect">
            <a:avLst>
              <a:gd name="adj" fmla="val 5000"/>
            </a:avLst>
          </a:prstGeom>
          <a:solidFill>
            <a:srgbClr val="DC7F29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79136CDA-9E03-4104-BF69-65FBA663B88B}"/>
              </a:ext>
            </a:extLst>
          </p:cNvPr>
          <p:cNvSpPr txBox="1"/>
          <p:nvPr/>
        </p:nvSpPr>
        <p:spPr>
          <a:xfrm>
            <a:off x="6324600" y="2070100"/>
            <a:ext cx="1422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1050" b="1">
                <a:solidFill>
                  <a:srgbClr val="FFFFFF"/>
                </a:solidFill>
                <a:latin typeface="Microsoft JhengHei" panose="020B0604030504040204" pitchFamily="34" charset="-120"/>
              </a:rPr>
              <a:t>LLM Acc</a:t>
            </a:r>
            <a:endParaRPr lang="zh-TW" altLang="en-US" sz="1050" b="1">
              <a:solidFill>
                <a:srgbClr val="FFFFF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6FBD3244-4C52-4C7B-801E-E79380A7459C}"/>
              </a:ext>
            </a:extLst>
          </p:cNvPr>
          <p:cNvSpPr/>
          <p:nvPr/>
        </p:nvSpPr>
        <p:spPr>
          <a:xfrm>
            <a:off x="7797800" y="2006600"/>
            <a:ext cx="3175000" cy="609600"/>
          </a:xfrm>
          <a:prstGeom prst="roundRect">
            <a:avLst>
              <a:gd name="adj" fmla="val 5000"/>
            </a:avLst>
          </a:prstGeom>
          <a:solidFill>
            <a:srgbClr val="DC7F29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B8BD2924-40DB-4B60-8729-616845D8D26F}"/>
              </a:ext>
            </a:extLst>
          </p:cNvPr>
          <p:cNvSpPr txBox="1"/>
          <p:nvPr/>
        </p:nvSpPr>
        <p:spPr>
          <a:xfrm>
            <a:off x="7848600" y="2070100"/>
            <a:ext cx="3073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TW" altLang="en-US" sz="1050" b="1">
                <a:solidFill>
                  <a:srgbClr val="FFFFFF"/>
                </a:solidFill>
                <a:latin typeface="Microsoft JhengHei" panose="020B0604030504040204" pitchFamily="34" charset="-120"/>
              </a:rPr>
              <a:t>與前一組差距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A2D4EF4C-AEF6-4BEA-B428-1A6636F71921}"/>
              </a:ext>
            </a:extLst>
          </p:cNvPr>
          <p:cNvSpPr/>
          <p:nvPr/>
        </p:nvSpPr>
        <p:spPr>
          <a:xfrm>
            <a:off x="685800" y="2616200"/>
            <a:ext cx="2349500" cy="609600"/>
          </a:xfrm>
          <a:prstGeom prst="roundRect">
            <a:avLst>
              <a:gd name="adj" fmla="val 5000"/>
            </a:avLst>
          </a:prstGeom>
          <a:solidFill>
            <a:srgbClr val="ECEFF2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BCC47397-8CDB-48ED-B37C-3CD29AA85357}"/>
              </a:ext>
            </a:extLst>
          </p:cNvPr>
          <p:cNvSpPr txBox="1"/>
          <p:nvPr/>
        </p:nvSpPr>
        <p:spPr>
          <a:xfrm>
            <a:off x="736600" y="2679700"/>
            <a:ext cx="22479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Naive RAG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6614C4DF-2565-4AE2-9BC8-2F8CDDF93651}"/>
              </a:ext>
            </a:extLst>
          </p:cNvPr>
          <p:cNvSpPr/>
          <p:nvPr/>
        </p:nvSpPr>
        <p:spPr>
          <a:xfrm>
            <a:off x="3035300" y="2616200"/>
            <a:ext cx="32385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DDE0BA79-4691-427F-92D2-010BE012BC97}"/>
              </a:ext>
            </a:extLst>
          </p:cNvPr>
          <p:cNvSpPr txBox="1"/>
          <p:nvPr/>
        </p:nvSpPr>
        <p:spPr>
          <a:xfrm>
            <a:off x="3086100" y="2679700"/>
            <a:ext cx="31369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Vector top-k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427D204B-6557-4505-908E-7075E1448525}"/>
              </a:ext>
            </a:extLst>
          </p:cNvPr>
          <p:cNvSpPr/>
          <p:nvPr/>
        </p:nvSpPr>
        <p:spPr>
          <a:xfrm>
            <a:off x="6273800" y="2616200"/>
            <a:ext cx="15240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D0F0F1F3-F14B-45E1-9CC5-B68D46BFEAA2}"/>
              </a:ext>
            </a:extLst>
          </p:cNvPr>
          <p:cNvSpPr txBox="1"/>
          <p:nvPr/>
        </p:nvSpPr>
        <p:spPr>
          <a:xfrm>
            <a:off x="6324600" y="2679700"/>
            <a:ext cx="1422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21.0%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9535CB7D-79B8-49CD-B39B-CC0769514195}"/>
              </a:ext>
            </a:extLst>
          </p:cNvPr>
          <p:cNvSpPr/>
          <p:nvPr/>
        </p:nvSpPr>
        <p:spPr>
          <a:xfrm>
            <a:off x="7797800" y="2616200"/>
            <a:ext cx="31750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840747EB-1689-45E3-90EB-7873FBC04223}"/>
              </a:ext>
            </a:extLst>
          </p:cNvPr>
          <p:cNvSpPr txBox="1"/>
          <p:nvPr/>
        </p:nvSpPr>
        <p:spPr>
          <a:xfrm>
            <a:off x="7848600" y="2679700"/>
            <a:ext cx="3073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baseline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C077C69C-1967-4BB0-8F30-E3501A3F1CFF}"/>
              </a:ext>
            </a:extLst>
          </p:cNvPr>
          <p:cNvSpPr/>
          <p:nvPr/>
        </p:nvSpPr>
        <p:spPr>
          <a:xfrm>
            <a:off x="685800" y="3225800"/>
            <a:ext cx="2349500" cy="609600"/>
          </a:xfrm>
          <a:prstGeom prst="roundRect">
            <a:avLst>
              <a:gd name="adj" fmla="val 5000"/>
            </a:avLst>
          </a:prstGeom>
          <a:solidFill>
            <a:srgbClr val="ECEFF2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610AED06-5541-4137-9896-B9C885593928}"/>
              </a:ext>
            </a:extLst>
          </p:cNvPr>
          <p:cNvSpPr txBox="1"/>
          <p:nvPr/>
        </p:nvSpPr>
        <p:spPr>
          <a:xfrm>
            <a:off x="736600" y="3289300"/>
            <a:ext cx="22479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Hybrid Naive RAG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E862C8C6-A558-4AAE-BEA5-11C6C064858C}"/>
              </a:ext>
            </a:extLst>
          </p:cNvPr>
          <p:cNvSpPr/>
          <p:nvPr/>
        </p:nvSpPr>
        <p:spPr>
          <a:xfrm>
            <a:off x="3035300" y="3225800"/>
            <a:ext cx="32385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D889CDA8-F5B1-4680-9989-29E6CC0A9224}"/>
              </a:ext>
            </a:extLst>
          </p:cNvPr>
          <p:cNvSpPr txBox="1"/>
          <p:nvPr/>
        </p:nvSpPr>
        <p:spPr>
          <a:xfrm>
            <a:off x="3086100" y="3289300"/>
            <a:ext cx="31369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BM25 + Vector RRF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551A4585-2969-4930-9CEA-92C6D28E9377}"/>
              </a:ext>
            </a:extLst>
          </p:cNvPr>
          <p:cNvSpPr/>
          <p:nvPr/>
        </p:nvSpPr>
        <p:spPr>
          <a:xfrm>
            <a:off x="6273800" y="3225800"/>
            <a:ext cx="15240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AB41C858-8066-451A-9711-8DCFAC9515C5}"/>
              </a:ext>
            </a:extLst>
          </p:cNvPr>
          <p:cNvSpPr txBox="1"/>
          <p:nvPr/>
        </p:nvSpPr>
        <p:spPr>
          <a:xfrm>
            <a:off x="6324600" y="3289300"/>
            <a:ext cx="1422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47.0%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559EAD32-5B7E-42E6-A14B-C21A41572FA1}"/>
              </a:ext>
            </a:extLst>
          </p:cNvPr>
          <p:cNvSpPr/>
          <p:nvPr/>
        </p:nvSpPr>
        <p:spPr>
          <a:xfrm>
            <a:off x="7797800" y="3225800"/>
            <a:ext cx="31750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E3B2F232-30DC-4725-A0AB-5FCABDA7378E}"/>
              </a:ext>
            </a:extLst>
          </p:cNvPr>
          <p:cNvSpPr txBox="1"/>
          <p:nvPr/>
        </p:nvSpPr>
        <p:spPr>
          <a:xfrm>
            <a:off x="7848600" y="3289300"/>
            <a:ext cx="3073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+26.0 pts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B1E4D248-D2C3-4EFA-8850-24B20309B689}"/>
              </a:ext>
            </a:extLst>
          </p:cNvPr>
          <p:cNvSpPr/>
          <p:nvPr/>
        </p:nvSpPr>
        <p:spPr>
          <a:xfrm>
            <a:off x="685800" y="3835400"/>
            <a:ext cx="2349500" cy="609600"/>
          </a:xfrm>
          <a:prstGeom prst="roundRect">
            <a:avLst>
              <a:gd name="adj" fmla="val 5000"/>
            </a:avLst>
          </a:prstGeom>
          <a:solidFill>
            <a:srgbClr val="ECEFF2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2B53E46B-AD3F-480E-B9FD-087C910C75E9}"/>
              </a:ext>
            </a:extLst>
          </p:cNvPr>
          <p:cNvSpPr txBox="1"/>
          <p:nvPr/>
        </p:nvSpPr>
        <p:spPr>
          <a:xfrm>
            <a:off x="736600" y="3898900"/>
            <a:ext cx="22479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A-RAG Full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6" name="矩形: 圓角 35">
            <a:extLst>
              <a:ext uri="{FF2B5EF4-FFF2-40B4-BE49-F238E27FC236}">
                <a16:creationId xmlns:a16="http://schemas.microsoft.com/office/drawing/2014/main" id="{52AE633C-879D-42D8-BCA4-5219F37544A0}"/>
              </a:ext>
            </a:extLst>
          </p:cNvPr>
          <p:cNvSpPr/>
          <p:nvPr/>
        </p:nvSpPr>
        <p:spPr>
          <a:xfrm>
            <a:off x="3035300" y="3835400"/>
            <a:ext cx="32385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A7121CDF-6CDF-442E-B73C-C1FD7D4CAC49}"/>
              </a:ext>
            </a:extLst>
          </p:cNvPr>
          <p:cNvSpPr txBox="1"/>
          <p:nvPr/>
        </p:nvSpPr>
        <p:spPr>
          <a:xfrm>
            <a:off x="3086100" y="3898900"/>
            <a:ext cx="31369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keyword + semantic + chunk_read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8" name="矩形: 圓角 37">
            <a:extLst>
              <a:ext uri="{FF2B5EF4-FFF2-40B4-BE49-F238E27FC236}">
                <a16:creationId xmlns:a16="http://schemas.microsoft.com/office/drawing/2014/main" id="{7DDFB975-EEA2-4973-ADFF-0A5C77C2628A}"/>
              </a:ext>
            </a:extLst>
          </p:cNvPr>
          <p:cNvSpPr/>
          <p:nvPr/>
        </p:nvSpPr>
        <p:spPr>
          <a:xfrm>
            <a:off x="6273800" y="3835400"/>
            <a:ext cx="15240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24AE8B0E-24E9-4FD5-B6D9-19110B1BC808}"/>
              </a:ext>
            </a:extLst>
          </p:cNvPr>
          <p:cNvSpPr txBox="1"/>
          <p:nvPr/>
        </p:nvSpPr>
        <p:spPr>
          <a:xfrm>
            <a:off x="6324600" y="3898900"/>
            <a:ext cx="1422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85.0%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40" name="矩形: 圓角 39">
            <a:extLst>
              <a:ext uri="{FF2B5EF4-FFF2-40B4-BE49-F238E27FC236}">
                <a16:creationId xmlns:a16="http://schemas.microsoft.com/office/drawing/2014/main" id="{46DB6F85-A987-47E8-9C5F-8F1DD224528C}"/>
              </a:ext>
            </a:extLst>
          </p:cNvPr>
          <p:cNvSpPr/>
          <p:nvPr/>
        </p:nvSpPr>
        <p:spPr>
          <a:xfrm>
            <a:off x="7797800" y="3835400"/>
            <a:ext cx="3175000" cy="60960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E002468B-7DE6-4F89-AC41-9D8A1538B7B5}"/>
              </a:ext>
            </a:extLst>
          </p:cNvPr>
          <p:cNvSpPr txBox="1"/>
          <p:nvPr/>
        </p:nvSpPr>
        <p:spPr>
          <a:xfrm>
            <a:off x="7848600" y="3898900"/>
            <a:ext cx="3073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TW" sz="1050">
                <a:solidFill>
                  <a:srgbClr val="122033"/>
                </a:solidFill>
                <a:latin typeface="Microsoft JhengHei" panose="020B0604030504040204" pitchFamily="34" charset="-120"/>
              </a:rPr>
              <a:t>+38.0 pts vs Hybrid</a:t>
            </a:r>
            <a:endParaRPr lang="zh-TW" altLang="en-US" sz="1050">
              <a:solidFill>
                <a:srgbClr val="122033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42" name="矩形: 圓角 41">
            <a:extLst>
              <a:ext uri="{FF2B5EF4-FFF2-40B4-BE49-F238E27FC236}">
                <a16:creationId xmlns:a16="http://schemas.microsoft.com/office/drawing/2014/main" id="{6D4AE559-AE6F-4270-8C1B-EA391E6B5774}"/>
              </a:ext>
            </a:extLst>
          </p:cNvPr>
          <p:cNvSpPr/>
          <p:nvPr/>
        </p:nvSpPr>
        <p:spPr>
          <a:xfrm>
            <a:off x="952500" y="4889500"/>
            <a:ext cx="9906000" cy="99060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C43374B-F597-4F0E-B7B0-C82A34447511}"/>
              </a:ext>
            </a:extLst>
          </p:cNvPr>
          <p:cNvSpPr/>
          <p:nvPr/>
        </p:nvSpPr>
        <p:spPr>
          <a:xfrm>
            <a:off x="952500" y="4889500"/>
            <a:ext cx="50800" cy="990600"/>
          </a:xfrm>
          <a:prstGeom prst="rect">
            <a:avLst/>
          </a:prstGeom>
          <a:solidFill>
            <a:srgbClr val="D3A12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C793F1F2-6C97-4B54-8165-55B5806329D7}"/>
              </a:ext>
            </a:extLst>
          </p:cNvPr>
          <p:cNvSpPr txBox="1"/>
          <p:nvPr/>
        </p:nvSpPr>
        <p:spPr>
          <a:xfrm>
            <a:off x="1193800" y="5080000"/>
            <a:ext cx="9398000" cy="1877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結論：問題 </a:t>
            </a:r>
            <a:r>
              <a:rPr lang="en-US" altLang="zh-TW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3 </a:t>
            </a:r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的確需要修復 </a:t>
            </a:r>
            <a:r>
              <a:rPr lang="en-US" altLang="zh-TW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baseline</a:t>
            </a:r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，因為 </a:t>
            </a:r>
            <a:r>
              <a:rPr lang="en-US" altLang="zh-TW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Hybrid </a:t>
            </a:r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從 </a:t>
            </a:r>
            <a:r>
              <a:rPr lang="en-US" altLang="zh-TW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21% </a:t>
            </a:r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拉到 </a:t>
            </a:r>
            <a:r>
              <a:rPr lang="en-US" altLang="zh-TW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47%</a:t>
            </a:r>
            <a:r>
              <a:rPr lang="zh-TW" altLang="en-US" sz="1220" b="1">
                <a:solidFill>
                  <a:srgbClr val="122033"/>
                </a:solidFill>
                <a:latin typeface="Microsoft JhengHei" panose="020B0604030504040204" pitchFamily="34" charset="-120"/>
              </a:rPr>
              <a:t>。</a:t>
            </a: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AA230CAE-C602-4FEF-8D63-F61C9A339C08}"/>
              </a:ext>
            </a:extLst>
          </p:cNvPr>
          <p:cNvSpPr txBox="1"/>
          <p:nvPr/>
        </p:nvSpPr>
        <p:spPr>
          <a:xfrm>
            <a:off x="1193800" y="5461000"/>
            <a:ext cx="9398000" cy="1600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1040">
                <a:solidFill>
                  <a:srgbClr val="5F748F"/>
                </a:solidFill>
                <a:latin typeface="Microsoft JhengHei" panose="020B0604030504040204" pitchFamily="34" charset="-120"/>
              </a:rPr>
              <a:t>但 </a:t>
            </a:r>
            <a:r>
              <a:rPr lang="en-US" altLang="zh-TW" sz="1040">
                <a:solidFill>
                  <a:srgbClr val="5F748F"/>
                </a:solidFill>
                <a:latin typeface="Microsoft JhengHei" panose="020B0604030504040204" pitchFamily="34" charset="-120"/>
              </a:rPr>
              <a:t>A-RAG Full </a:t>
            </a:r>
            <a:r>
              <a:rPr lang="zh-TW" altLang="en-US" sz="1040">
                <a:solidFill>
                  <a:srgbClr val="5F748F"/>
                </a:solidFill>
                <a:latin typeface="Microsoft JhengHei" panose="020B0604030504040204" pitchFamily="34" charset="-120"/>
              </a:rPr>
              <a:t>仍有 </a:t>
            </a:r>
            <a:r>
              <a:rPr lang="en-US" altLang="zh-TW" sz="1040">
                <a:solidFill>
                  <a:srgbClr val="5F748F"/>
                </a:solidFill>
                <a:latin typeface="Microsoft JhengHei" panose="020B0604030504040204" pitchFamily="34" charset="-120"/>
              </a:rPr>
              <a:t>85%</a:t>
            </a:r>
            <a:r>
              <a:rPr lang="zh-TW" altLang="en-US" sz="1040">
                <a:solidFill>
                  <a:srgbClr val="5F748F"/>
                </a:solidFill>
                <a:latin typeface="Microsoft JhengHei" panose="020B0604030504040204" pitchFamily="34" charset="-120"/>
              </a:rPr>
              <a:t>，所以優勢沒有被 </a:t>
            </a:r>
            <a:r>
              <a:rPr lang="en-US" altLang="zh-TW" sz="1040">
                <a:solidFill>
                  <a:srgbClr val="5F748F"/>
                </a:solidFill>
                <a:latin typeface="Microsoft JhengHei" panose="020B0604030504040204" pitchFamily="34" charset="-120"/>
              </a:rPr>
              <a:t>Hybrid baseline </a:t>
            </a:r>
            <a:r>
              <a:rPr lang="zh-TW" altLang="en-US" sz="1040">
                <a:solidFill>
                  <a:srgbClr val="5F748F"/>
                </a:solidFill>
                <a:latin typeface="Microsoft JhengHei" panose="020B0604030504040204" pitchFamily="34" charset="-120"/>
              </a:rPr>
              <a:t>完全消除；應解讀為 </a:t>
            </a:r>
            <a:r>
              <a:rPr lang="en-US" altLang="zh-TW" sz="1040">
                <a:solidFill>
                  <a:srgbClr val="5F748F"/>
                </a:solidFill>
                <a:latin typeface="Microsoft JhengHei" panose="020B0604030504040204" pitchFamily="34" charset="-120"/>
              </a:rPr>
              <a:t>iterative tools </a:t>
            </a:r>
            <a:r>
              <a:rPr lang="zh-TW" altLang="en-US" sz="1040">
                <a:solidFill>
                  <a:srgbClr val="5F748F"/>
                </a:solidFill>
                <a:latin typeface="Microsoft JhengHei" panose="020B0604030504040204" pitchFamily="34" charset="-120"/>
              </a:rPr>
              <a:t>仍有額外價值。</a:t>
            </a:r>
          </a:p>
        </p:txBody>
      </p:sp>
    </p:spTree>
    <p:extLst>
      <p:ext uri="{BB962C8B-B14F-4D97-AF65-F5344CB8AC3E}">
        <p14:creationId xmlns:p14="http://schemas.microsoft.com/office/powerpoint/2010/main" val="21967594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01DEB37-9784-4AB4-A152-600FF7A0E2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B5FFA29-603B-4D8B-AD66-DC68E64692A0}"/>
              </a:ext>
            </a:extLst>
          </p:cNvPr>
          <p:cNvSpPr/>
          <p:nvPr/>
        </p:nvSpPr>
        <p:spPr>
          <a:xfrm>
            <a:off x="114300" y="0"/>
            <a:ext cx="12077700" cy="6858000"/>
          </a:xfrm>
          <a:prstGeom prst="rect">
            <a:avLst/>
          </a:prstGeom>
          <a:solidFill>
            <a:srgbClr val="F6F8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51A72FF-4FDF-4006-BD7F-BF3161C91B16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0B95D4C-21D6-44B4-B919-65F141548519}"/>
              </a:ext>
            </a:extLst>
          </p:cNvPr>
          <p:cNvSpPr txBox="1"/>
          <p:nvPr/>
        </p:nvSpPr>
        <p:spPr>
          <a:xfrm>
            <a:off x="419100" y="228600"/>
            <a:ext cx="180975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900">
                <a:solidFill>
                  <a:srgbClr val="5F748F"/>
                </a:solidFill>
                <a:latin typeface="Aptos"/>
              </a:rPr>
              <a:t>A-RAG Paper Report</a:t>
            </a:r>
            <a:endParaRPr lang="zh-TW" altLang="en-US" sz="900">
              <a:solidFill>
                <a:srgbClr val="5F748F"/>
              </a:solidFill>
              <a:latin typeface="Aptos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8426E1B-56C7-4996-9563-5832E2A21FFF}"/>
              </a:ext>
            </a:extLst>
          </p:cNvPr>
          <p:cNvSpPr txBox="1"/>
          <p:nvPr/>
        </p:nvSpPr>
        <p:spPr>
          <a:xfrm>
            <a:off x="10572750" y="228600"/>
            <a:ext cx="104775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US" altLang="zh-TW" sz="900">
                <a:solidFill>
                  <a:srgbClr val="8798AD"/>
                </a:solidFill>
                <a:latin typeface="Aptos"/>
              </a:rPr>
              <a:t>13 / 14</a:t>
            </a:r>
            <a:endParaRPr lang="zh-TW" altLang="en-US" sz="900">
              <a:solidFill>
                <a:srgbClr val="8798AD"/>
              </a:solidFill>
              <a:latin typeface="Apto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D478BA0-EB43-4287-8249-BB8CAE1EDCCE}"/>
              </a:ext>
            </a:extLst>
          </p:cNvPr>
          <p:cNvSpPr txBox="1"/>
          <p:nvPr/>
        </p:nvSpPr>
        <p:spPr>
          <a:xfrm>
            <a:off x="419100" y="552450"/>
            <a:ext cx="89535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實作結果小結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EDAC4E-32D4-4289-BD0A-E07298CE8A31}"/>
              </a:ext>
            </a:extLst>
          </p:cNvPr>
          <p:cNvSpPr/>
          <p:nvPr/>
        </p:nvSpPr>
        <p:spPr>
          <a:xfrm>
            <a:off x="419100" y="1104900"/>
            <a:ext cx="7429500" cy="1905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ED89384-51CC-42A9-85F5-6B021AC4AA01}"/>
              </a:ext>
            </a:extLst>
          </p:cNvPr>
          <p:cNvSpPr txBox="1"/>
          <p:nvPr/>
        </p:nvSpPr>
        <p:spPr>
          <a:xfrm>
            <a:off x="419100" y="1238250"/>
            <a:ext cx="9652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先收斂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official pipeline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、主結果與消融，再接到最後的公平性驗證結論。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E634D85F-C278-478F-B537-30CA416A1B0E}"/>
              </a:ext>
            </a:extLst>
          </p:cNvPr>
          <p:cNvSpPr/>
          <p:nvPr/>
        </p:nvSpPr>
        <p:spPr>
          <a:xfrm>
            <a:off x="927100" y="1955800"/>
            <a:ext cx="9652000" cy="8128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120B06F-E868-4E67-8E3A-D1C12CCB0D12}"/>
              </a:ext>
            </a:extLst>
          </p:cNvPr>
          <p:cNvSpPr/>
          <p:nvPr/>
        </p:nvSpPr>
        <p:spPr>
          <a:xfrm>
            <a:off x="927100" y="1955800"/>
            <a:ext cx="50800" cy="812800"/>
          </a:xfrm>
          <a:prstGeom prst="rect">
            <a:avLst/>
          </a:prstGeom>
          <a:solidFill>
            <a:srgbClr val="2F9D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7FE34AE-D147-4023-B5F1-374FFC9613B3}"/>
              </a:ext>
            </a:extLst>
          </p:cNvPr>
          <p:cNvSpPr txBox="1"/>
          <p:nvPr/>
        </p:nvSpPr>
        <p:spPr>
          <a:xfrm>
            <a:off x="1117600" y="2108200"/>
            <a:ext cx="9271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1280" b="1">
                <a:solidFill>
                  <a:srgbClr val="2F9D64"/>
                </a:solidFill>
                <a:latin typeface="Microsoft JhengHei" panose="020B0604030504040204" pitchFamily="34" charset="-120"/>
              </a:rPr>
              <a:t>1. </a:t>
            </a:r>
            <a:r>
              <a:rPr lang="zh-TW" altLang="en-US" sz="1280" b="1">
                <a:solidFill>
                  <a:srgbClr val="2F9D64"/>
                </a:solidFill>
                <a:latin typeface="Microsoft JhengHei" panose="020B0604030504040204" pitchFamily="34" charset="-120"/>
              </a:rPr>
              <a:t>官方 </a:t>
            </a:r>
            <a:r>
              <a:rPr lang="en-US" altLang="zh-TW" sz="1280" b="1">
                <a:solidFill>
                  <a:srgbClr val="2F9D64"/>
                </a:solidFill>
                <a:latin typeface="Microsoft JhengHei" panose="020B0604030504040204" pitchFamily="34" charset="-120"/>
              </a:rPr>
              <a:t>A-RAG </a:t>
            </a:r>
            <a:r>
              <a:rPr lang="zh-TW" altLang="en-US" sz="1280" b="1">
                <a:solidFill>
                  <a:srgbClr val="2F9D64"/>
                </a:solidFill>
                <a:latin typeface="Microsoft JhengHei" panose="020B0604030504040204" pitchFamily="34" charset="-120"/>
              </a:rPr>
              <a:t>在三個資料集上可穩定跑通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20BA10D7-EBE1-4505-A021-7DFA33294B5A}"/>
              </a:ext>
            </a:extLst>
          </p:cNvPr>
          <p:cNvSpPr txBox="1"/>
          <p:nvPr/>
        </p:nvSpPr>
        <p:spPr>
          <a:xfrm>
            <a:off x="1219200" y="2387600"/>
            <a:ext cx="87630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1020">
                <a:solidFill>
                  <a:srgbClr val="122033"/>
                </a:solidFill>
                <a:latin typeface="Microsoft JhengHei" panose="020B0604030504040204" pitchFamily="34" charset="-120"/>
              </a:rPr>
              <a:t>MuSiQue</a:t>
            </a:r>
            <a:r>
              <a:rPr lang="zh-TW" altLang="en-US" sz="1020">
                <a:solidFill>
                  <a:srgbClr val="122033"/>
                </a:solidFill>
                <a:latin typeface="Microsoft JhengHei" panose="020B0604030504040204" pitchFamily="34" charset="-120"/>
              </a:rPr>
              <a:t>、</a:t>
            </a:r>
            <a:r>
              <a:rPr lang="en-US" altLang="zh-TW" sz="1020">
                <a:solidFill>
                  <a:srgbClr val="122033"/>
                </a:solidFill>
                <a:latin typeface="Microsoft JhengHei" panose="020B0604030504040204" pitchFamily="34" charset="-120"/>
              </a:rPr>
              <a:t>HotpotQA</a:t>
            </a:r>
            <a:r>
              <a:rPr lang="zh-TW" altLang="en-US" sz="1020">
                <a:solidFill>
                  <a:srgbClr val="122033"/>
                </a:solidFill>
                <a:latin typeface="Microsoft JhengHei" panose="020B0604030504040204" pitchFamily="34" charset="-120"/>
              </a:rPr>
              <a:t>、</a:t>
            </a:r>
            <a:r>
              <a:rPr lang="en-US" altLang="zh-TW" sz="1020">
                <a:solidFill>
                  <a:srgbClr val="122033"/>
                </a:solidFill>
                <a:latin typeface="Microsoft JhengHei" panose="020B0604030504040204" pitchFamily="34" charset="-120"/>
              </a:rPr>
              <a:t>2WikiMultiHop </a:t>
            </a:r>
            <a:r>
              <a:rPr lang="zh-TW" altLang="en-US" sz="1020">
                <a:solidFill>
                  <a:srgbClr val="122033"/>
                </a:solidFill>
                <a:latin typeface="Microsoft JhengHei" panose="020B0604030504040204" pitchFamily="34" charset="-120"/>
              </a:rPr>
              <a:t>都完成 </a:t>
            </a:r>
            <a:r>
              <a:rPr lang="en-US" altLang="zh-TW" sz="1020">
                <a:solidFill>
                  <a:srgbClr val="122033"/>
                </a:solidFill>
                <a:latin typeface="Microsoft JhengHei" panose="020B0604030504040204" pitchFamily="34" charset="-120"/>
              </a:rPr>
              <a:t>100 </a:t>
            </a:r>
            <a:r>
              <a:rPr lang="zh-TW" altLang="en-US" sz="1020">
                <a:solidFill>
                  <a:srgbClr val="122033"/>
                </a:solidFill>
                <a:latin typeface="Microsoft JhengHei" panose="020B0604030504040204" pitchFamily="34" charset="-120"/>
              </a:rPr>
              <a:t>題 </a:t>
            </a:r>
            <a:r>
              <a:rPr lang="en-US" altLang="zh-TW" sz="1020">
                <a:solidFill>
                  <a:srgbClr val="122033"/>
                </a:solidFill>
                <a:latin typeface="Microsoft JhengHei" panose="020B0604030504040204" pitchFamily="34" charset="-120"/>
              </a:rPr>
              <a:t>subset</a:t>
            </a:r>
            <a:r>
              <a:rPr lang="zh-TW" altLang="en-US" sz="1020">
                <a:solidFill>
                  <a:srgbClr val="122033"/>
                </a:solidFill>
                <a:latin typeface="Microsoft JhengHei" panose="020B0604030504040204" pitchFamily="34" charset="-120"/>
              </a:rPr>
              <a:t>；流程使用 </a:t>
            </a:r>
            <a:r>
              <a:rPr lang="en-US" altLang="zh-TW" sz="1020">
                <a:solidFill>
                  <a:srgbClr val="122033"/>
                </a:solidFill>
                <a:latin typeface="Microsoft JhengHei" panose="020B0604030504040204" pitchFamily="34" charset="-120"/>
              </a:rPr>
              <a:t>official repo </a:t>
            </a:r>
            <a:r>
              <a:rPr lang="zh-TW" altLang="en-US" sz="1020">
                <a:solidFill>
                  <a:srgbClr val="122033"/>
                </a:solidFill>
                <a:latin typeface="Microsoft JhengHei" panose="020B0604030504040204" pitchFamily="34" charset="-120"/>
              </a:rPr>
              <a:t>的 </a:t>
            </a:r>
            <a:r>
              <a:rPr lang="en-US" altLang="zh-TW" sz="1020">
                <a:solidFill>
                  <a:srgbClr val="122033"/>
                </a:solidFill>
                <a:latin typeface="Microsoft JhengHei" panose="020B0604030504040204" pitchFamily="34" charset="-120"/>
              </a:rPr>
              <a:t>build_index / batch_runner / eval</a:t>
            </a:r>
            <a:r>
              <a:rPr lang="zh-TW" altLang="en-US" sz="1020">
                <a:solidFill>
                  <a:srgbClr val="122033"/>
                </a:solidFill>
                <a:latin typeface="Microsoft JhengHei" panose="020B0604030504040204" pitchFamily="34" charset="-120"/>
              </a:rPr>
              <a:t>。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FB0AA9FB-575C-4945-AC3C-05B79807E40D}"/>
              </a:ext>
            </a:extLst>
          </p:cNvPr>
          <p:cNvSpPr/>
          <p:nvPr/>
        </p:nvSpPr>
        <p:spPr>
          <a:xfrm>
            <a:off x="927100" y="3098800"/>
            <a:ext cx="9652000" cy="8128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F79932B-977A-487B-82BC-B6445AD60F6F}"/>
              </a:ext>
            </a:extLst>
          </p:cNvPr>
          <p:cNvSpPr/>
          <p:nvPr/>
        </p:nvSpPr>
        <p:spPr>
          <a:xfrm>
            <a:off x="927100" y="3098800"/>
            <a:ext cx="50800" cy="81280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69065611-BEFB-423C-AD5C-E66543E8136A}"/>
              </a:ext>
            </a:extLst>
          </p:cNvPr>
          <p:cNvSpPr txBox="1"/>
          <p:nvPr/>
        </p:nvSpPr>
        <p:spPr>
          <a:xfrm>
            <a:off x="1117600" y="3251200"/>
            <a:ext cx="9271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1280" b="1">
                <a:solidFill>
                  <a:srgbClr val="2F9FB8"/>
                </a:solidFill>
                <a:latin typeface="Microsoft JhengHei" panose="020B0604030504040204" pitchFamily="34" charset="-120"/>
              </a:rPr>
              <a:t>2. </a:t>
            </a:r>
            <a:r>
              <a:rPr lang="zh-TW" altLang="en-US" sz="1280" b="1">
                <a:solidFill>
                  <a:srgbClr val="2F9FB8"/>
                </a:solidFill>
                <a:latin typeface="Microsoft JhengHei" panose="020B0604030504040204" pitchFamily="34" charset="-120"/>
              </a:rPr>
              <a:t>結果與論文同量級，三組本地 </a:t>
            </a:r>
            <a:r>
              <a:rPr lang="en-US" altLang="zh-TW" sz="1280" b="1">
                <a:solidFill>
                  <a:srgbClr val="2F9FB8"/>
                </a:solidFill>
                <a:latin typeface="Microsoft JhengHei" panose="020B0604030504040204" pitchFamily="34" charset="-120"/>
              </a:rPr>
              <a:t>subset </a:t>
            </a:r>
            <a:r>
              <a:rPr lang="zh-TW" altLang="en-US" sz="1280" b="1">
                <a:solidFill>
                  <a:srgbClr val="2F9FB8"/>
                </a:solidFill>
                <a:latin typeface="Microsoft JhengHei" panose="020B0604030504040204" pitchFamily="34" charset="-120"/>
              </a:rPr>
              <a:t>數值更高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EBFD9563-7D6A-4309-BB54-9B037F9B26D6}"/>
              </a:ext>
            </a:extLst>
          </p:cNvPr>
          <p:cNvSpPr txBox="1"/>
          <p:nvPr/>
        </p:nvSpPr>
        <p:spPr>
          <a:xfrm>
            <a:off x="1219200" y="3530600"/>
            <a:ext cx="8763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1020">
                <a:solidFill>
                  <a:srgbClr val="122033"/>
                </a:solidFill>
                <a:latin typeface="Microsoft JhengHei" panose="020B0604030504040204" pitchFamily="34" charset="-120"/>
              </a:rPr>
              <a:t>Your A-RAG Full</a:t>
            </a:r>
            <a:r>
              <a:rPr lang="zh-TW" altLang="en-US" sz="1020">
                <a:solidFill>
                  <a:srgbClr val="122033"/>
                </a:solidFill>
                <a:latin typeface="Microsoft JhengHei" panose="020B0604030504040204" pitchFamily="34" charset="-120"/>
              </a:rPr>
              <a:t>：</a:t>
            </a:r>
            <a:r>
              <a:rPr lang="en-US" altLang="zh-TW" sz="1020">
                <a:solidFill>
                  <a:srgbClr val="122033"/>
                </a:solidFill>
                <a:latin typeface="Microsoft JhengHei" panose="020B0604030504040204" pitchFamily="34" charset="-120"/>
              </a:rPr>
              <a:t>87.88 / 97.0 / 97.0 LLM Accuracy</a:t>
            </a:r>
            <a:r>
              <a:rPr lang="zh-TW" altLang="en-US" sz="1020">
                <a:solidFill>
                  <a:srgbClr val="122033"/>
                </a:solidFill>
                <a:latin typeface="Microsoft JhengHei" panose="020B0604030504040204" pitchFamily="34" charset="-120"/>
              </a:rPr>
              <a:t>；可作為報告中的實作驗證結果。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E169948B-FE40-48A9-9EE6-3D7509EF6020}"/>
              </a:ext>
            </a:extLst>
          </p:cNvPr>
          <p:cNvSpPr/>
          <p:nvPr/>
        </p:nvSpPr>
        <p:spPr>
          <a:xfrm>
            <a:off x="927100" y="4241800"/>
            <a:ext cx="9652000" cy="812800"/>
          </a:xfrm>
          <a:prstGeom prst="roundRect">
            <a:avLst/>
          </a:prstGeom>
          <a:solidFill>
            <a:srgbClr val="EAF0F7"/>
          </a:solidFill>
          <a:ln w="9525"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E9F1EB1-23EA-4374-BBFA-FFBA7CA6EDCE}"/>
              </a:ext>
            </a:extLst>
          </p:cNvPr>
          <p:cNvSpPr/>
          <p:nvPr/>
        </p:nvSpPr>
        <p:spPr>
          <a:xfrm>
            <a:off x="927100" y="4241800"/>
            <a:ext cx="50800" cy="812800"/>
          </a:xfrm>
          <a:prstGeom prst="rect">
            <a:avLst/>
          </a:prstGeom>
          <a:solidFill>
            <a:srgbClr val="D3A12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D5A10C26-AC41-4D7E-AD56-B4AF1023D0A2}"/>
              </a:ext>
            </a:extLst>
          </p:cNvPr>
          <p:cNvSpPr txBox="1"/>
          <p:nvPr/>
        </p:nvSpPr>
        <p:spPr>
          <a:xfrm>
            <a:off x="1117600" y="4394200"/>
            <a:ext cx="9271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altLang="zh-TW" sz="1280" b="1">
                <a:solidFill>
                  <a:srgbClr val="D3A126"/>
                </a:solidFill>
                <a:latin typeface="Microsoft JhengHei" panose="020B0604030504040204" pitchFamily="34" charset="-120"/>
              </a:rPr>
              <a:t>3. MuSiQue </a:t>
            </a:r>
            <a:r>
              <a:rPr lang="zh-TW" altLang="en-US" sz="1280" b="1">
                <a:solidFill>
                  <a:srgbClr val="D3A126"/>
                </a:solidFill>
                <a:latin typeface="Microsoft JhengHei" panose="020B0604030504040204" pitchFamily="34" charset="-120"/>
              </a:rPr>
              <a:t>消融顯示 </a:t>
            </a:r>
            <a:r>
              <a:rPr lang="en-US" altLang="zh-TW" sz="1280" b="1">
                <a:solidFill>
                  <a:srgbClr val="D3A126"/>
                </a:solidFill>
                <a:latin typeface="Microsoft JhengHei" panose="020B0604030504040204" pitchFamily="34" charset="-120"/>
              </a:rPr>
              <a:t>keyword_search </a:t>
            </a:r>
            <a:r>
              <a:rPr lang="zh-TW" altLang="en-US" sz="1280" b="1">
                <a:solidFill>
                  <a:srgbClr val="D3A126"/>
                </a:solidFill>
                <a:latin typeface="Microsoft JhengHei" panose="020B0604030504040204" pitchFamily="34" charset="-120"/>
              </a:rPr>
              <a:t>與 </a:t>
            </a:r>
            <a:r>
              <a:rPr lang="en-US" altLang="zh-TW" sz="1280" b="1">
                <a:solidFill>
                  <a:srgbClr val="D3A126"/>
                </a:solidFill>
                <a:latin typeface="Microsoft JhengHei" panose="020B0604030504040204" pitchFamily="34" charset="-120"/>
              </a:rPr>
              <a:t>chunk_read </a:t>
            </a:r>
            <a:r>
              <a:rPr lang="zh-TW" altLang="en-US" sz="1280" b="1">
                <a:solidFill>
                  <a:srgbClr val="D3A126"/>
                </a:solidFill>
                <a:latin typeface="Microsoft JhengHei" panose="020B0604030504040204" pitchFamily="34" charset="-120"/>
              </a:rPr>
              <a:t>很重要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A3205AE-786A-4C32-9EBC-C3185939DAFF}"/>
              </a:ext>
            </a:extLst>
          </p:cNvPr>
          <p:cNvSpPr txBox="1"/>
          <p:nvPr/>
        </p:nvSpPr>
        <p:spPr>
          <a:xfrm>
            <a:off x="1219200" y="4673600"/>
            <a:ext cx="87630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zh-TW" altLang="en-US" sz="1020">
                <a:solidFill>
                  <a:srgbClr val="122033"/>
                </a:solidFill>
                <a:latin typeface="Microsoft JhengHei" panose="020B0604030504040204" pitchFamily="34" charset="-120"/>
              </a:rPr>
              <a:t>移除 </a:t>
            </a:r>
            <a:r>
              <a:rPr lang="en-US" altLang="zh-TW" sz="1020">
                <a:solidFill>
                  <a:srgbClr val="122033"/>
                </a:solidFill>
                <a:latin typeface="Microsoft JhengHei" panose="020B0604030504040204" pitchFamily="34" charset="-120"/>
              </a:rPr>
              <a:t>keyword_search </a:t>
            </a:r>
            <a:r>
              <a:rPr lang="zh-TW" altLang="en-US" sz="1020">
                <a:solidFill>
                  <a:srgbClr val="122033"/>
                </a:solidFill>
                <a:latin typeface="Microsoft JhengHei" panose="020B0604030504040204" pitchFamily="34" charset="-120"/>
              </a:rPr>
              <a:t>降到 </a:t>
            </a:r>
            <a:r>
              <a:rPr lang="en-US" altLang="zh-TW" sz="1020">
                <a:solidFill>
                  <a:srgbClr val="122033"/>
                </a:solidFill>
                <a:latin typeface="Microsoft JhengHei" panose="020B0604030504040204" pitchFamily="34" charset="-120"/>
              </a:rPr>
              <a:t>67.68</a:t>
            </a:r>
            <a:r>
              <a:rPr lang="zh-TW" altLang="en-US" sz="1020">
                <a:solidFill>
                  <a:srgbClr val="122033"/>
                </a:solidFill>
                <a:latin typeface="Microsoft JhengHei" panose="020B0604030504040204" pitchFamily="34" charset="-120"/>
              </a:rPr>
              <a:t>；移除 </a:t>
            </a:r>
            <a:r>
              <a:rPr lang="en-US" altLang="zh-TW" sz="1020">
                <a:solidFill>
                  <a:srgbClr val="122033"/>
                </a:solidFill>
                <a:latin typeface="Microsoft JhengHei" panose="020B0604030504040204" pitchFamily="34" charset="-120"/>
              </a:rPr>
              <a:t>chunk_read </a:t>
            </a:r>
            <a:r>
              <a:rPr lang="zh-TW" altLang="en-US" sz="1020">
                <a:solidFill>
                  <a:srgbClr val="122033"/>
                </a:solidFill>
                <a:latin typeface="Microsoft JhengHei" panose="020B0604030504040204" pitchFamily="34" charset="-120"/>
              </a:rPr>
              <a:t>降到 </a:t>
            </a:r>
            <a:r>
              <a:rPr lang="en-US" altLang="zh-TW" sz="1020">
                <a:solidFill>
                  <a:srgbClr val="122033"/>
                </a:solidFill>
                <a:latin typeface="Microsoft JhengHei" panose="020B0604030504040204" pitchFamily="34" charset="-120"/>
              </a:rPr>
              <a:t>65.66</a:t>
            </a:r>
            <a:r>
              <a:rPr lang="zh-TW" altLang="en-US" sz="1020">
                <a:solidFill>
                  <a:srgbClr val="122033"/>
                </a:solidFill>
                <a:latin typeface="Microsoft JhengHei" panose="020B0604030504040204" pitchFamily="34" charset="-120"/>
              </a:rPr>
              <a:t>，表示精確搜尋與完整證據閱讀是關鍵。</a:t>
            </a:r>
          </a:p>
        </p:txBody>
      </p:sp>
    </p:spTree>
    <p:extLst>
      <p:ext uri="{BB962C8B-B14F-4D97-AF65-F5344CB8AC3E}">
        <p14:creationId xmlns:p14="http://schemas.microsoft.com/office/powerpoint/2010/main" val="2884328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A20E8EE-ADA9-4C93-AB95-22673C61FF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F7A612F-6D9B-4C97-8939-828E4E91E06E}"/>
              </a:ext>
            </a:extLst>
          </p:cNvPr>
          <p:cNvSpPr/>
          <p:nvPr/>
        </p:nvSpPr>
        <p:spPr>
          <a:xfrm>
            <a:off x="114300" y="0"/>
            <a:ext cx="12077700" cy="6858000"/>
          </a:xfrm>
          <a:prstGeom prst="rect">
            <a:avLst/>
          </a:prstGeom>
          <a:solidFill>
            <a:srgbClr val="F6F8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7206E76-AB12-4117-BC9D-1C9D116348C7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295E04D-6416-49FF-85E7-E772F7DB8447}"/>
              </a:ext>
            </a:extLst>
          </p:cNvPr>
          <p:cNvSpPr txBox="1"/>
          <p:nvPr/>
        </p:nvSpPr>
        <p:spPr>
          <a:xfrm>
            <a:off x="419100" y="228600"/>
            <a:ext cx="180975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900">
                <a:solidFill>
                  <a:srgbClr val="5F748F"/>
                </a:solidFill>
                <a:latin typeface="Microsoft JhengHei" panose="020B0604030504040204" pitchFamily="34" charset="-120"/>
              </a:rPr>
              <a:t>A-RAG Paper Report</a:t>
            </a:r>
            <a:endParaRPr lang="zh-TW" altLang="en-US" sz="900">
              <a:solidFill>
                <a:srgbClr val="5F748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D6610A4-41A3-4C13-A6B1-FF534B78AADA}"/>
              </a:ext>
            </a:extLst>
          </p:cNvPr>
          <p:cNvSpPr txBox="1"/>
          <p:nvPr/>
        </p:nvSpPr>
        <p:spPr>
          <a:xfrm>
            <a:off x="10572750" y="228600"/>
            <a:ext cx="104775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TW" sz="900">
                <a:solidFill>
                  <a:srgbClr val="5F748F"/>
                </a:solidFill>
                <a:latin typeface="Microsoft JhengHei" panose="020B0604030504040204" pitchFamily="34" charset="-120"/>
              </a:rPr>
              <a:t>14 / 14</a:t>
            </a:r>
            <a:endParaRPr lang="zh-TW" altLang="en-US" sz="900">
              <a:solidFill>
                <a:srgbClr val="5F748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02B650C-B7A9-43D4-B351-8BA236825C3A}"/>
              </a:ext>
            </a:extLst>
          </p:cNvPr>
          <p:cNvSpPr txBox="1"/>
          <p:nvPr/>
        </p:nvSpPr>
        <p:spPr>
          <a:xfrm>
            <a:off x="419100" y="552450"/>
            <a:ext cx="965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實驗驗證結論：不是否定 </a:t>
            </a:r>
            <a:r>
              <a:rPr lang="en-US" altLang="zh-TW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A-RAG</a:t>
            </a:r>
            <a:r>
              <a:rPr lang="zh-TW" altLang="en-US" sz="2100" b="1">
                <a:solidFill>
                  <a:srgbClr val="122033"/>
                </a:solidFill>
                <a:latin typeface="Microsoft JhengHei" panose="020B0604030504040204" pitchFamily="34" charset="-120"/>
              </a:rPr>
              <a:t>，而是補公平對照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3391477-0F6C-41CF-B175-2EE086BEE128}"/>
              </a:ext>
            </a:extLst>
          </p:cNvPr>
          <p:cNvSpPr/>
          <p:nvPr/>
        </p:nvSpPr>
        <p:spPr>
          <a:xfrm>
            <a:off x="419100" y="1104900"/>
            <a:ext cx="7429500" cy="19050"/>
          </a:xfrm>
          <a:prstGeom prst="rect">
            <a:avLst/>
          </a:prstGeom>
          <a:solidFill>
            <a:srgbClr val="DC7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ED4A92A-06DB-459A-A821-76A3319EEBC9}"/>
              </a:ext>
            </a:extLst>
          </p:cNvPr>
          <p:cNvSpPr txBox="1"/>
          <p:nvPr/>
        </p:nvSpPr>
        <p:spPr>
          <a:xfrm>
            <a:off x="419100" y="1238250"/>
            <a:ext cx="10287000" cy="1723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這四張表讓 </a:t>
            </a:r>
            <a:r>
              <a:rPr lang="en-US" altLang="zh-TW" sz="1120">
                <a:solidFill>
                  <a:srgbClr val="5F748F"/>
                </a:solidFill>
                <a:latin typeface="Microsoft JhengHei" panose="020B0604030504040204" pitchFamily="34" charset="-120"/>
              </a:rPr>
              <a:t>follow-up </a:t>
            </a:r>
            <a:r>
              <a:rPr lang="zh-TW" altLang="en-US" sz="1120">
                <a:solidFill>
                  <a:srgbClr val="5F748F"/>
                </a:solidFill>
                <a:latin typeface="Microsoft JhengHei" panose="020B0604030504040204" pitchFamily="34" charset="-120"/>
              </a:rPr>
              <a:t>變成可執行、可驗證、且能回應論文限制的延伸研究。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CFCF2FCC-80D8-4739-950E-0AC44BD4461B}"/>
              </a:ext>
            </a:extLst>
          </p:cNvPr>
          <p:cNvSpPr/>
          <p:nvPr/>
        </p:nvSpPr>
        <p:spPr>
          <a:xfrm>
            <a:off x="927100" y="1930400"/>
            <a:ext cx="9652000" cy="81280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D5AED81-6D0C-4AAC-A859-64C2EB8015DB}"/>
              </a:ext>
            </a:extLst>
          </p:cNvPr>
          <p:cNvSpPr/>
          <p:nvPr/>
        </p:nvSpPr>
        <p:spPr>
          <a:xfrm>
            <a:off x="927100" y="1930400"/>
            <a:ext cx="50800" cy="812800"/>
          </a:xfrm>
          <a:prstGeom prst="rect">
            <a:avLst/>
          </a:prstGeom>
          <a:solidFill>
            <a:srgbClr val="2F9D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9487E69-F190-4203-AEA4-48A647D24EFB}"/>
              </a:ext>
            </a:extLst>
          </p:cNvPr>
          <p:cNvSpPr txBox="1"/>
          <p:nvPr/>
        </p:nvSpPr>
        <p:spPr>
          <a:xfrm>
            <a:off x="1168400" y="2082800"/>
            <a:ext cx="2794000" cy="1969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1280" b="1">
                <a:solidFill>
                  <a:srgbClr val="2F9D64"/>
                </a:solidFill>
                <a:latin typeface="Microsoft JhengHei" panose="020B0604030504040204" pitchFamily="34" charset="-120"/>
              </a:rPr>
              <a:t>1. </a:t>
            </a:r>
            <a:r>
              <a:rPr lang="zh-TW" altLang="en-US" sz="1280" b="1">
                <a:solidFill>
                  <a:srgbClr val="2F9D64"/>
                </a:solidFill>
                <a:latin typeface="Microsoft JhengHei" panose="020B0604030504040204" pitchFamily="34" charset="-120"/>
              </a:rPr>
              <a:t>檢索資源不對等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9F44CFD7-D0F0-47CC-9E21-B7F7A37FB0D4}"/>
              </a:ext>
            </a:extLst>
          </p:cNvPr>
          <p:cNvSpPr txBox="1"/>
          <p:nvPr/>
        </p:nvSpPr>
        <p:spPr>
          <a:xfrm>
            <a:off x="4127500" y="2082800"/>
            <a:ext cx="5969000" cy="1785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1160" b="1">
                <a:solidFill>
                  <a:srgbClr val="122033"/>
                </a:solidFill>
                <a:latin typeface="Microsoft JhengHei" panose="020B0604030504040204" pitchFamily="34" charset="-120"/>
              </a:rPr>
              <a:t>Long-context Naive </a:t>
            </a:r>
            <a:r>
              <a:rPr lang="zh-TW" altLang="en-US" sz="1160" b="1">
                <a:solidFill>
                  <a:srgbClr val="122033"/>
                </a:solidFill>
                <a:latin typeface="Microsoft JhengHei" panose="020B0604030504040204" pitchFamily="34" charset="-120"/>
              </a:rPr>
              <a:t>沒有追上；更多 </a:t>
            </a:r>
            <a:r>
              <a:rPr lang="en-US" altLang="zh-TW" sz="1160" b="1">
                <a:solidFill>
                  <a:srgbClr val="122033"/>
                </a:solidFill>
                <a:latin typeface="Microsoft JhengHei" panose="020B0604030504040204" pitchFamily="34" charset="-120"/>
              </a:rPr>
              <a:t>context </a:t>
            </a:r>
            <a:r>
              <a:rPr lang="zh-TW" altLang="en-US" sz="1160" b="1">
                <a:solidFill>
                  <a:srgbClr val="122033"/>
                </a:solidFill>
                <a:latin typeface="Microsoft JhengHei" panose="020B0604030504040204" pitchFamily="34" charset="-120"/>
              </a:rPr>
              <a:t>不是充分條件。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4CE79841-316B-4B7A-A20B-CCC66FB02222}"/>
              </a:ext>
            </a:extLst>
          </p:cNvPr>
          <p:cNvSpPr/>
          <p:nvPr/>
        </p:nvSpPr>
        <p:spPr>
          <a:xfrm>
            <a:off x="927100" y="3073400"/>
            <a:ext cx="9652000" cy="81280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CE0D0F5-48B2-4A94-82A4-E13E074EB51A}"/>
              </a:ext>
            </a:extLst>
          </p:cNvPr>
          <p:cNvSpPr/>
          <p:nvPr/>
        </p:nvSpPr>
        <p:spPr>
          <a:xfrm>
            <a:off x="927100" y="3073400"/>
            <a:ext cx="50800" cy="812800"/>
          </a:xfrm>
          <a:prstGeom prst="rect">
            <a:avLst/>
          </a:prstGeom>
          <a:solidFill>
            <a:srgbClr val="2F9F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8396905B-088D-47FD-8C88-357F6FC7F7B1}"/>
              </a:ext>
            </a:extLst>
          </p:cNvPr>
          <p:cNvSpPr txBox="1"/>
          <p:nvPr/>
        </p:nvSpPr>
        <p:spPr>
          <a:xfrm>
            <a:off x="1168400" y="3225800"/>
            <a:ext cx="2794000" cy="1969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1280" b="1">
                <a:solidFill>
                  <a:srgbClr val="2F9FB8"/>
                </a:solidFill>
                <a:latin typeface="Microsoft JhengHei" panose="020B0604030504040204" pitchFamily="34" charset="-120"/>
              </a:rPr>
              <a:t>2. </a:t>
            </a:r>
            <a:r>
              <a:rPr lang="zh-TW" altLang="en-US" sz="1280" b="1">
                <a:solidFill>
                  <a:srgbClr val="2F9FB8"/>
                </a:solidFill>
                <a:latin typeface="Microsoft JhengHei" panose="020B0604030504040204" pitchFamily="34" charset="-120"/>
              </a:rPr>
              <a:t>成本指標需補強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C008E337-5A3C-48E4-9A53-392FA6A1CC39}"/>
              </a:ext>
            </a:extLst>
          </p:cNvPr>
          <p:cNvSpPr txBox="1"/>
          <p:nvPr/>
        </p:nvSpPr>
        <p:spPr>
          <a:xfrm>
            <a:off x="4127500" y="3225800"/>
            <a:ext cx="5969000" cy="1785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1160" b="1">
                <a:solidFill>
                  <a:srgbClr val="122033"/>
                </a:solidFill>
                <a:latin typeface="Microsoft JhengHei" panose="020B0604030504040204" pitchFamily="34" charset="-120"/>
              </a:rPr>
              <a:t>A-RAG </a:t>
            </a:r>
            <a:r>
              <a:rPr lang="zh-TW" altLang="en-US" sz="1160" b="1">
                <a:solidFill>
                  <a:srgbClr val="122033"/>
                </a:solidFill>
                <a:latin typeface="Microsoft JhengHei" panose="020B0604030504040204" pitchFamily="34" charset="-120"/>
              </a:rPr>
              <a:t>的 </a:t>
            </a:r>
            <a:r>
              <a:rPr lang="en-US" altLang="zh-TW" sz="1160" b="1">
                <a:solidFill>
                  <a:srgbClr val="122033"/>
                </a:solidFill>
                <a:latin typeface="Microsoft JhengHei" panose="020B0604030504040204" pitchFamily="34" charset="-120"/>
              </a:rPr>
              <a:t>true input tokens </a:t>
            </a:r>
            <a:r>
              <a:rPr lang="zh-TW" altLang="en-US" sz="1160" b="1">
                <a:solidFill>
                  <a:srgbClr val="122033"/>
                </a:solidFill>
                <a:latin typeface="Microsoft JhengHei" panose="020B0604030504040204" pitchFamily="34" charset="-120"/>
              </a:rPr>
              <a:t>約為 </a:t>
            </a:r>
            <a:r>
              <a:rPr lang="en-US" altLang="zh-TW" sz="1160" b="1">
                <a:solidFill>
                  <a:srgbClr val="122033"/>
                </a:solidFill>
                <a:latin typeface="Microsoft JhengHei" panose="020B0604030504040204" pitchFamily="34" charset="-120"/>
              </a:rPr>
              <a:t>retrieved tokens </a:t>
            </a:r>
            <a:r>
              <a:rPr lang="zh-TW" altLang="en-US" sz="1160" b="1">
                <a:solidFill>
                  <a:srgbClr val="122033"/>
                </a:solidFill>
                <a:latin typeface="Microsoft JhengHei" panose="020B0604030504040204" pitchFamily="34" charset="-120"/>
              </a:rPr>
              <a:t>的 </a:t>
            </a:r>
            <a:r>
              <a:rPr lang="en-US" altLang="zh-TW" sz="1160" b="1">
                <a:solidFill>
                  <a:srgbClr val="122033"/>
                </a:solidFill>
                <a:latin typeface="Microsoft JhengHei" panose="020B0604030504040204" pitchFamily="34" charset="-120"/>
              </a:rPr>
              <a:t>7-8 </a:t>
            </a:r>
            <a:r>
              <a:rPr lang="zh-TW" altLang="en-US" sz="1160" b="1">
                <a:solidFill>
                  <a:srgbClr val="122033"/>
                </a:solidFill>
                <a:latin typeface="Microsoft JhengHei" panose="020B0604030504040204" pitchFamily="34" charset="-120"/>
              </a:rPr>
              <a:t>倍。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B556F8D2-D5C3-4BFA-AF94-E4D7FFB0E87B}"/>
              </a:ext>
            </a:extLst>
          </p:cNvPr>
          <p:cNvSpPr/>
          <p:nvPr/>
        </p:nvSpPr>
        <p:spPr>
          <a:xfrm>
            <a:off x="927100" y="4216400"/>
            <a:ext cx="9652000" cy="81280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solidFill>
              <a:srgbClr val="C8D5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8D94F31-BDC0-4259-A52B-A9B2B68AEE8D}"/>
              </a:ext>
            </a:extLst>
          </p:cNvPr>
          <p:cNvSpPr/>
          <p:nvPr/>
        </p:nvSpPr>
        <p:spPr>
          <a:xfrm>
            <a:off x="927100" y="4216400"/>
            <a:ext cx="50800" cy="812800"/>
          </a:xfrm>
          <a:prstGeom prst="rect">
            <a:avLst/>
          </a:prstGeom>
          <a:solidFill>
            <a:srgbClr val="D3A12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190D19C0-C261-465D-9A45-644B4D4D390B}"/>
              </a:ext>
            </a:extLst>
          </p:cNvPr>
          <p:cNvSpPr txBox="1"/>
          <p:nvPr/>
        </p:nvSpPr>
        <p:spPr>
          <a:xfrm>
            <a:off x="1168400" y="4368800"/>
            <a:ext cx="2794000" cy="1969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1280" b="1">
                <a:solidFill>
                  <a:srgbClr val="D3A126"/>
                </a:solidFill>
                <a:latin typeface="Microsoft JhengHei" panose="020B0604030504040204" pitchFamily="34" charset="-120"/>
              </a:rPr>
              <a:t>3. baseline </a:t>
            </a:r>
            <a:r>
              <a:rPr lang="zh-TW" altLang="en-US" sz="1280" b="1">
                <a:solidFill>
                  <a:srgbClr val="D3A126"/>
                </a:solidFill>
                <a:latin typeface="Microsoft JhengHei" panose="020B0604030504040204" pitchFamily="34" charset="-120"/>
              </a:rPr>
              <a:t>要更強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9B92C4E2-E4C5-4D78-89EB-E66E53B7E5B4}"/>
              </a:ext>
            </a:extLst>
          </p:cNvPr>
          <p:cNvSpPr txBox="1"/>
          <p:nvPr/>
        </p:nvSpPr>
        <p:spPr>
          <a:xfrm>
            <a:off x="4127500" y="4368800"/>
            <a:ext cx="5969000" cy="1785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1160" b="1">
                <a:solidFill>
                  <a:srgbClr val="122033"/>
                </a:solidFill>
                <a:latin typeface="Microsoft JhengHei" panose="020B0604030504040204" pitchFamily="34" charset="-120"/>
              </a:rPr>
              <a:t>Hybrid baseline </a:t>
            </a:r>
            <a:r>
              <a:rPr lang="zh-TW" altLang="en-US" sz="1160" b="1">
                <a:solidFill>
                  <a:srgbClr val="122033"/>
                </a:solidFill>
                <a:latin typeface="Microsoft JhengHei" panose="020B0604030504040204" pitchFamily="34" charset="-120"/>
              </a:rPr>
              <a:t>大幅提升，但仍低於 </a:t>
            </a:r>
            <a:r>
              <a:rPr lang="en-US" altLang="zh-TW" sz="1160" b="1">
                <a:solidFill>
                  <a:srgbClr val="122033"/>
                </a:solidFill>
                <a:latin typeface="Microsoft JhengHei" panose="020B0604030504040204" pitchFamily="34" charset="-120"/>
              </a:rPr>
              <a:t>A-RAG Full</a:t>
            </a:r>
            <a:r>
              <a:rPr lang="zh-TW" altLang="en-US" sz="1160" b="1">
                <a:solidFill>
                  <a:srgbClr val="122033"/>
                </a:solidFill>
                <a:latin typeface="Microsoft JhengHei" panose="020B0604030504040204" pitchFamily="34" charset="-120"/>
              </a:rPr>
              <a:t>。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C261ACD9-3B45-4EDD-AAC3-FF5EF4A789BB}"/>
              </a:ext>
            </a:extLst>
          </p:cNvPr>
          <p:cNvSpPr txBox="1"/>
          <p:nvPr/>
        </p:nvSpPr>
        <p:spPr>
          <a:xfrm>
            <a:off x="927100" y="5461000"/>
            <a:ext cx="9652000" cy="3785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1230" b="1">
                <a:solidFill>
                  <a:srgbClr val="122033"/>
                </a:solidFill>
                <a:latin typeface="Microsoft JhengHei" panose="020B0604030504040204" pitchFamily="34" charset="-120"/>
              </a:rPr>
              <a:t>講法：我的 </a:t>
            </a:r>
            <a:r>
              <a:rPr lang="en-US" altLang="zh-TW" sz="1230" b="1">
                <a:solidFill>
                  <a:srgbClr val="122033"/>
                </a:solidFill>
                <a:latin typeface="Microsoft JhengHei" panose="020B0604030504040204" pitchFamily="34" charset="-120"/>
              </a:rPr>
              <a:t>critique </a:t>
            </a:r>
            <a:r>
              <a:rPr lang="zh-TW" altLang="en-US" sz="1230" b="1">
                <a:solidFill>
                  <a:srgbClr val="122033"/>
                </a:solidFill>
                <a:latin typeface="Microsoft JhengHei" panose="020B0604030504040204" pitchFamily="34" charset="-120"/>
              </a:rPr>
              <a:t>不是說 </a:t>
            </a:r>
            <a:r>
              <a:rPr lang="en-US" altLang="zh-TW" sz="1230" b="1">
                <a:solidFill>
                  <a:srgbClr val="122033"/>
                </a:solidFill>
                <a:latin typeface="Microsoft JhengHei" panose="020B0604030504040204" pitchFamily="34" charset="-120"/>
              </a:rPr>
              <a:t>A-RAG </a:t>
            </a:r>
            <a:r>
              <a:rPr lang="zh-TW" altLang="en-US" sz="1230" b="1">
                <a:solidFill>
                  <a:srgbClr val="122033"/>
                </a:solidFill>
                <a:latin typeface="Microsoft JhengHei" panose="020B0604030504040204" pitchFamily="34" charset="-120"/>
              </a:rPr>
              <a:t>沒有效，而是指出論文需要補上 </a:t>
            </a:r>
            <a:r>
              <a:rPr lang="en-US" altLang="zh-TW" sz="1230" b="1">
                <a:solidFill>
                  <a:srgbClr val="122033"/>
                </a:solidFill>
                <a:latin typeface="Microsoft JhengHei" panose="020B0604030504040204" pitchFamily="34" charset="-120"/>
              </a:rPr>
              <a:t>stronger baseline </a:t>
            </a:r>
            <a:r>
              <a:rPr lang="zh-TW" altLang="en-US" sz="1230" b="1">
                <a:solidFill>
                  <a:srgbClr val="122033"/>
                </a:solidFill>
                <a:latin typeface="Microsoft JhengHei" panose="020B0604030504040204" pitchFamily="34" charset="-120"/>
              </a:rPr>
              <a:t>與 </a:t>
            </a:r>
            <a:r>
              <a:rPr lang="en-US" altLang="zh-TW" sz="1230" b="1">
                <a:solidFill>
                  <a:srgbClr val="122033"/>
                </a:solidFill>
                <a:latin typeface="Microsoft JhengHei" panose="020B0604030504040204" pitchFamily="34" charset="-120"/>
              </a:rPr>
              <a:t>true processed-token cost</a:t>
            </a:r>
            <a:r>
              <a:rPr lang="zh-TW" altLang="en-US" sz="1230" b="1">
                <a:solidFill>
                  <a:srgbClr val="122033"/>
                </a:solidFill>
                <a:latin typeface="Microsoft JhengHei" panose="020B0604030504040204" pitchFamily="34" charset="-120"/>
              </a:rPr>
              <a:t>，這樣 </a:t>
            </a:r>
            <a:r>
              <a:rPr lang="en-US" altLang="zh-TW" sz="1230" b="1">
                <a:solidFill>
                  <a:srgbClr val="122033"/>
                </a:solidFill>
                <a:latin typeface="Microsoft JhengHei" panose="020B0604030504040204" pitchFamily="34" charset="-120"/>
              </a:rPr>
              <a:t>accuracy gain </a:t>
            </a:r>
            <a:r>
              <a:rPr lang="zh-TW" altLang="en-US" sz="1230" b="1">
                <a:solidFill>
                  <a:srgbClr val="122033"/>
                </a:solidFill>
                <a:latin typeface="Microsoft JhengHei" panose="020B0604030504040204" pitchFamily="34" charset="-120"/>
              </a:rPr>
              <a:t>才能被公平解釋。</a:t>
            </a:r>
          </a:p>
        </p:txBody>
      </p:sp>
    </p:spTree>
    <p:extLst>
      <p:ext uri="{BB962C8B-B14F-4D97-AF65-F5344CB8AC3E}">
        <p14:creationId xmlns:p14="http://schemas.microsoft.com/office/powerpoint/2010/main" val="264035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1795</Words>
  <Application>Microsoft Office PowerPoint</Application>
  <PresentationFormat>寬螢幕</PresentationFormat>
  <Paragraphs>351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0" baseType="lpstr">
      <vt:lpstr>Aptos</vt:lpstr>
      <vt:lpstr>Microsoft JhengHei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翊銘 吳</dc:creator>
  <cp:lastModifiedBy>翊銘 吳</cp:lastModifiedBy>
  <cp:revision>4</cp:revision>
  <dcterms:created xsi:type="dcterms:W3CDTF">2026-05-31T08:19:05Z</dcterms:created>
  <dcterms:modified xsi:type="dcterms:W3CDTF">2026-06-01T22:46:05Z</dcterms:modified>
</cp:coreProperties>
</file>